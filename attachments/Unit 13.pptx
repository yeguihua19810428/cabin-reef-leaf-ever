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Layouts/slideLayout15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1"/>
  </p:notesMasterIdLst>
  <p:handoutMasterIdLst>
    <p:handoutMasterId r:id="rId92"/>
  </p:handoutMasterIdLst>
  <p:sldIdLst>
    <p:sldId id="256" r:id="rId2"/>
    <p:sldId id="257" r:id="rId3"/>
    <p:sldId id="259" r:id="rId4"/>
    <p:sldId id="277" r:id="rId5"/>
    <p:sldId id="717" r:id="rId6"/>
    <p:sldId id="260" r:id="rId7"/>
    <p:sldId id="668" r:id="rId8"/>
    <p:sldId id="669" r:id="rId9"/>
    <p:sldId id="670" r:id="rId10"/>
    <p:sldId id="719" r:id="rId11"/>
    <p:sldId id="577" r:id="rId12"/>
    <p:sldId id="729" r:id="rId13"/>
    <p:sldId id="601" r:id="rId14"/>
    <p:sldId id="602" r:id="rId15"/>
    <p:sldId id="603" r:id="rId16"/>
    <p:sldId id="269" r:id="rId17"/>
    <p:sldId id="730" r:id="rId18"/>
    <p:sldId id="676" r:id="rId19"/>
    <p:sldId id="677" r:id="rId20"/>
    <p:sldId id="678" r:id="rId21"/>
    <p:sldId id="679" r:id="rId22"/>
    <p:sldId id="718" r:id="rId23"/>
    <p:sldId id="721" r:id="rId24"/>
    <p:sldId id="722" r:id="rId25"/>
    <p:sldId id="724" r:id="rId26"/>
    <p:sldId id="725" r:id="rId27"/>
    <p:sldId id="607" r:id="rId28"/>
    <p:sldId id="681" r:id="rId29"/>
    <p:sldId id="682" r:id="rId30"/>
    <p:sldId id="683" r:id="rId31"/>
    <p:sldId id="684" r:id="rId32"/>
    <p:sldId id="685" r:id="rId33"/>
    <p:sldId id="686" r:id="rId34"/>
    <p:sldId id="687" r:id="rId35"/>
    <p:sldId id="688" r:id="rId36"/>
    <p:sldId id="648" r:id="rId37"/>
    <p:sldId id="584" r:id="rId38"/>
    <p:sldId id="585" r:id="rId39"/>
    <p:sldId id="608" r:id="rId40"/>
    <p:sldId id="609" r:id="rId41"/>
    <p:sldId id="586" r:id="rId42"/>
    <p:sldId id="690" r:id="rId43"/>
    <p:sldId id="693" r:id="rId44"/>
    <p:sldId id="727" r:id="rId45"/>
    <p:sldId id="691" r:id="rId46"/>
    <p:sldId id="728" r:id="rId47"/>
    <p:sldId id="258" r:id="rId48"/>
    <p:sldId id="546" r:id="rId49"/>
    <p:sldId id="599" r:id="rId50"/>
    <p:sldId id="720" r:id="rId51"/>
    <p:sldId id="723" r:id="rId52"/>
    <p:sldId id="726" r:id="rId53"/>
    <p:sldId id="650" r:id="rId54"/>
    <p:sldId id="651" r:id="rId55"/>
    <p:sldId id="652" r:id="rId56"/>
    <p:sldId id="653" r:id="rId57"/>
    <p:sldId id="654" r:id="rId58"/>
    <p:sldId id="655" r:id="rId59"/>
    <p:sldId id="656" r:id="rId60"/>
    <p:sldId id="657" r:id="rId61"/>
    <p:sldId id="658" r:id="rId62"/>
    <p:sldId id="659" r:id="rId63"/>
    <p:sldId id="694" r:id="rId64"/>
    <p:sldId id="695" r:id="rId65"/>
    <p:sldId id="696" r:id="rId66"/>
    <p:sldId id="697" r:id="rId67"/>
    <p:sldId id="698" r:id="rId68"/>
    <p:sldId id="660" r:id="rId69"/>
    <p:sldId id="661" r:id="rId70"/>
    <p:sldId id="662" r:id="rId71"/>
    <p:sldId id="663" r:id="rId72"/>
    <p:sldId id="664" r:id="rId73"/>
    <p:sldId id="665" r:id="rId74"/>
    <p:sldId id="666" r:id="rId75"/>
    <p:sldId id="667" r:id="rId76"/>
    <p:sldId id="699" r:id="rId77"/>
    <p:sldId id="700" r:id="rId78"/>
    <p:sldId id="701" r:id="rId79"/>
    <p:sldId id="702" r:id="rId80"/>
    <p:sldId id="703" r:id="rId81"/>
    <p:sldId id="704" r:id="rId82"/>
    <p:sldId id="705" r:id="rId83"/>
    <p:sldId id="706" r:id="rId84"/>
    <p:sldId id="707" r:id="rId85"/>
    <p:sldId id="708" r:id="rId86"/>
    <p:sldId id="709" r:id="rId87"/>
    <p:sldId id="710" r:id="rId88"/>
    <p:sldId id="711" r:id="rId89"/>
    <p:sldId id="712" r:id="rId90"/>
  </p:sldIdLst>
  <p:sldSz cx="9144000" cy="6858000" type="screen4x3"/>
  <p:notesSz cx="6858000" cy="9144000"/>
  <p:embeddedFontLst>
    <p:embeddedFont>
      <p:font typeface="方正超粗黑简体" charset="-122"/>
      <p:regular r:id="rId93"/>
    </p:embeddedFont>
    <p:embeddedFont>
      <p:font typeface="方正粗黑宋简体" charset="-122"/>
      <p:regular r:id="rId94"/>
    </p:embeddedFont>
    <p:embeddedFont>
      <p:font typeface="黑体" pitchFamily="49" charset="-122"/>
      <p:regular r:id="rId95"/>
    </p:embeddedFont>
    <p:embeddedFont>
      <p:font typeface="Cambria" pitchFamily="18" charset="0"/>
      <p:regular r:id="rId96"/>
      <p:bold r:id="rId97"/>
      <p:italic r:id="rId98"/>
      <p:boldItalic r:id="rId99"/>
    </p:embeddedFont>
    <p:embeddedFont>
      <p:font typeface="Calibri" pitchFamily="34" charset="0"/>
      <p:regular r:id="rId100"/>
      <p:bold r:id="rId101"/>
      <p:italic r:id="rId102"/>
      <p:boldItalic r:id="rId10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2A48"/>
    <a:srgbClr val="C04A5A"/>
    <a:srgbClr val="632523"/>
    <a:srgbClr val="99375E"/>
    <a:srgbClr val="893743"/>
    <a:srgbClr val="662B37"/>
    <a:srgbClr val="5A4B82"/>
    <a:srgbClr val="773469"/>
    <a:srgbClr val="CE65A1"/>
    <a:srgbClr val="9866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 horzBarState="maximized">
    <p:restoredLeft sz="8534" autoAdjust="0"/>
    <p:restoredTop sz="91854" autoAdjust="0"/>
  </p:normalViewPr>
  <p:slideViewPr>
    <p:cSldViewPr>
      <p:cViewPr>
        <p:scale>
          <a:sx n="100" d="100"/>
          <a:sy n="100" d="100"/>
        </p:scale>
        <p:origin x="-1944" y="-402"/>
      </p:cViewPr>
      <p:guideLst>
        <p:guide orient="horz" pos="4156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3" d="100"/>
          <a:sy n="83" d="100"/>
        </p:scale>
        <p:origin x="-3138" y="-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font" Target="fonts/font8.fntdata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font" Target="fonts/font1.fntdata"/><Relationship Id="rId98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2.fntdata"/><Relationship Id="rId99" Type="http://schemas.openxmlformats.org/officeDocument/2006/relationships/font" Target="fonts/font7.fntdata"/><Relationship Id="rId10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5.fntdata"/><Relationship Id="rId10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D9034-D3DB-42A8-9D0F-F77DB427387A}" type="datetimeFigureOut">
              <a:rPr lang="zh-CN" altLang="en-US" smtClean="0"/>
              <a:pPr/>
              <a:t>2023/4/10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0FA78-CA1B-48FC-AA18-29FBE198F7D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714925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F51B6-2400-43E7-84C8-BA538C1C68E2}" type="datetimeFigureOut">
              <a:rPr lang="zh-CN" altLang="en-US" smtClean="0"/>
              <a:pPr/>
              <a:t>2023/4/10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523D3-C2B2-4F8C-B958-DC107439F4F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918274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3523D3-C2B2-4F8C-B958-DC107439F4F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slide" Target="../slides/slide22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1.xml"/><Relationship Id="rId5" Type="http://schemas.openxmlformats.org/officeDocument/2006/relationships/slide" Target="../slides/slide15.xml"/><Relationship Id="rId4" Type="http://schemas.openxmlformats.org/officeDocument/2006/relationships/slide" Target="../slides/slide6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slide" Target="../slides/slide22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1.xml"/><Relationship Id="rId5" Type="http://schemas.openxmlformats.org/officeDocument/2006/relationships/slide" Target="../slides/slide15.xml"/><Relationship Id="rId4" Type="http://schemas.openxmlformats.org/officeDocument/2006/relationships/slide" Target="../slides/slide6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slide" Target="../slides/slide22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1.xml"/><Relationship Id="rId5" Type="http://schemas.openxmlformats.org/officeDocument/2006/relationships/slide" Target="../slides/slide15.xml"/><Relationship Id="rId4" Type="http://schemas.openxmlformats.org/officeDocument/2006/relationships/slide" Target="../slides/slide6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slide" Target="../slides/slide22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1.xml"/><Relationship Id="rId5" Type="http://schemas.openxmlformats.org/officeDocument/2006/relationships/slide" Target="../slides/slide15.xml"/><Relationship Id="rId4" Type="http://schemas.openxmlformats.org/officeDocument/2006/relationships/slide" Target="../slides/slide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slide" Target="../slides/slide42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5.xml"/><Relationship Id="rId5" Type="http://schemas.openxmlformats.org/officeDocument/2006/relationships/slide" Target="../slides/slide37.xml"/><Relationship Id="rId4" Type="http://schemas.openxmlformats.org/officeDocument/2006/relationships/slide" Target="../slides/slide39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slide" Target="../slides/slide42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5.xml"/><Relationship Id="rId5" Type="http://schemas.openxmlformats.org/officeDocument/2006/relationships/slide" Target="../slides/slide37.xml"/><Relationship Id="rId4" Type="http://schemas.openxmlformats.org/officeDocument/2006/relationships/slide" Target="../slides/slide3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slide" Target="../slides/slide42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5.xml"/><Relationship Id="rId5" Type="http://schemas.openxmlformats.org/officeDocument/2006/relationships/slide" Target="../slides/slide37.xml"/><Relationship Id="rId4" Type="http://schemas.openxmlformats.org/officeDocument/2006/relationships/slide" Target="../slides/slide39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slide" Target="../slides/slide42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5.xml"/><Relationship Id="rId5" Type="http://schemas.openxmlformats.org/officeDocument/2006/relationships/slide" Target="../slides/slide37.xml"/><Relationship Id="rId4" Type="http://schemas.openxmlformats.org/officeDocument/2006/relationships/slide" Target="../slides/slide3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背景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背景2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37" name="矩形 36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折角形 37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39" name="泪滴形 38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40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41" name="矩形 40"/>
          <p:cNvSpPr/>
          <p:nvPr userDrawn="1"/>
        </p:nvSpPr>
        <p:spPr>
          <a:xfrm>
            <a:off x="680640" y="71414"/>
            <a:ext cx="1319592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内容导图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63" name="组合 62"/>
          <p:cNvGrpSpPr/>
          <p:nvPr userDrawn="1"/>
        </p:nvGrpSpPr>
        <p:grpSpPr>
          <a:xfrm>
            <a:off x="2071670" y="-5082"/>
            <a:ext cx="358314" cy="653082"/>
            <a:chOff x="2285984" y="-5082"/>
            <a:chExt cx="358314" cy="653082"/>
          </a:xfrm>
        </p:grpSpPr>
        <p:sp>
          <p:nvSpPr>
            <p:cNvPr id="64" name="燕尾形 63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65" name="燕尾形 64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66" name="燕尾形 65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2" name="矩形 11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折角形 12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4" name="泪滴形 13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15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16" name="矩形 15"/>
          <p:cNvSpPr/>
          <p:nvPr userDrawn="1"/>
        </p:nvSpPr>
        <p:spPr>
          <a:xfrm>
            <a:off x="680640" y="71414"/>
            <a:ext cx="1319592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学习目标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2071670" y="-5082"/>
            <a:ext cx="358314" cy="653082"/>
            <a:chOff x="2285984" y="-5082"/>
            <a:chExt cx="358314" cy="653082"/>
          </a:xfrm>
        </p:grpSpPr>
        <p:sp>
          <p:nvSpPr>
            <p:cNvPr id="24" name="燕尾形 23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5" name="燕尾形 24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6" name="燕尾形 25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8" name="矩形 17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折角形 21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0" name="泪滴形 19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21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24" name="同侧圆角矩形 23"/>
          <p:cNvSpPr/>
          <p:nvPr userDrawn="1"/>
        </p:nvSpPr>
        <p:spPr>
          <a:xfrm>
            <a:off x="2700000" y="54000"/>
            <a:ext cx="1440000" cy="612000"/>
          </a:xfrm>
          <a:prstGeom prst="round2Same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680640" y="71414"/>
            <a:ext cx="1603324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重难点解析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sp>
        <p:nvSpPr>
          <p:cNvPr id="33" name="矩形 32">
            <a:hlinkClick r:id="rId4" action="ppaction://hlinksldjump"/>
          </p:cNvPr>
          <p:cNvSpPr/>
          <p:nvPr userDrawn="1"/>
        </p:nvSpPr>
        <p:spPr>
          <a:xfrm>
            <a:off x="2643174" y="36000"/>
            <a:ext cx="1507144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13.2</a:t>
            </a:r>
            <a:r>
              <a:rPr lang="zh-CN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一般现在时</a:t>
            </a:r>
            <a:endParaRPr lang="en-US" altLang="zh-CN" sz="1600" b="1" kern="1200" spc="-100" baseline="0" dirty="0" smtClean="0">
              <a:solidFill>
                <a:schemeClr val="accent2">
                  <a:lumMod val="50000"/>
                </a:schemeClr>
              </a:solidFill>
              <a:effectLst/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的特殊用法</a:t>
            </a:r>
            <a:endParaRPr lang="zh-CN" altLang="en-US" sz="1600" b="1" kern="1200" spc="-100" baseline="0" dirty="0">
              <a:solidFill>
                <a:schemeClr val="accent2">
                  <a:lumMod val="50000"/>
                </a:schemeClr>
              </a:solidFill>
              <a:effectLst/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grpSp>
        <p:nvGrpSpPr>
          <p:cNvPr id="81" name="组合 80"/>
          <p:cNvGrpSpPr/>
          <p:nvPr userDrawn="1"/>
        </p:nvGrpSpPr>
        <p:grpSpPr>
          <a:xfrm>
            <a:off x="2285984" y="-5082"/>
            <a:ext cx="358314" cy="653082"/>
            <a:chOff x="2285984" y="-5082"/>
            <a:chExt cx="358314" cy="653082"/>
          </a:xfrm>
        </p:grpSpPr>
        <p:sp>
          <p:nvSpPr>
            <p:cNvPr id="77" name="燕尾形 76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79" name="燕尾形 78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0" name="燕尾形 79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35" name="矩形 34">
            <a:hlinkClick r:id="rId5" action="ppaction://hlinksldjump"/>
          </p:cNvPr>
          <p:cNvSpPr/>
          <p:nvPr userDrawn="1"/>
        </p:nvSpPr>
        <p:spPr>
          <a:xfrm>
            <a:off x="5935236" y="36000"/>
            <a:ext cx="1348446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13.4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现在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进行体的用法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9" name="直接连接符 38"/>
          <p:cNvCxnSpPr/>
          <p:nvPr userDrawn="1"/>
        </p:nvCxnSpPr>
        <p:spPr>
          <a:xfrm rot="16200000">
            <a:off x="5647004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 userDrawn="1"/>
        </p:nvCxnSpPr>
        <p:spPr>
          <a:xfrm rot="16200000">
            <a:off x="4012319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hlinkClick r:id="rId6" action="ppaction://hlinksldjump"/>
          </p:cNvPr>
          <p:cNvSpPr/>
          <p:nvPr userDrawn="1"/>
        </p:nvSpPr>
        <p:spPr>
          <a:xfrm>
            <a:off x="4261081" y="36000"/>
            <a:ext cx="1507144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13.3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一般过去时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的特殊用法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23" name="矩形 22">
            <a:hlinkClick r:id="rId7" action="ppaction://hlinksldjump"/>
          </p:cNvPr>
          <p:cNvSpPr/>
          <p:nvPr userDrawn="1"/>
        </p:nvSpPr>
        <p:spPr>
          <a:xfrm>
            <a:off x="7436217" y="36000"/>
            <a:ext cx="1348446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13.5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过去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进行体的用法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25" name="直接连接符 24"/>
          <p:cNvCxnSpPr/>
          <p:nvPr userDrawn="1"/>
        </p:nvCxnSpPr>
        <p:spPr>
          <a:xfrm rot="16200000">
            <a:off x="7159917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9" name="矩形 18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折角形 19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1" name="泪滴形 20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22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32" name="矩形 31"/>
          <p:cNvSpPr/>
          <p:nvPr userDrawn="1"/>
        </p:nvSpPr>
        <p:spPr>
          <a:xfrm>
            <a:off x="680640" y="71414"/>
            <a:ext cx="1603324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重难点解析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2285984" y="-5082"/>
            <a:ext cx="358314" cy="653082"/>
            <a:chOff x="2285984" y="-5082"/>
            <a:chExt cx="358314" cy="653082"/>
          </a:xfrm>
        </p:grpSpPr>
        <p:sp>
          <p:nvSpPr>
            <p:cNvPr id="55" name="燕尾形 54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56" name="燕尾形 55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57" name="燕尾形 56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3" name="同侧圆角矩形 22"/>
          <p:cNvSpPr/>
          <p:nvPr userDrawn="1"/>
        </p:nvSpPr>
        <p:spPr>
          <a:xfrm>
            <a:off x="4325342" y="54000"/>
            <a:ext cx="1440000" cy="612000"/>
          </a:xfrm>
          <a:prstGeom prst="round2Same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30" name="矩形 29">
            <a:hlinkClick r:id="rId4" action="ppaction://hlinksldjump"/>
          </p:cNvPr>
          <p:cNvSpPr/>
          <p:nvPr userDrawn="1"/>
        </p:nvSpPr>
        <p:spPr>
          <a:xfrm>
            <a:off x="2643174" y="36000"/>
            <a:ext cx="1507144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13.2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一般现在时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的特殊用法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31" name="矩形 30">
            <a:hlinkClick r:id="rId5" action="ppaction://hlinksldjump"/>
          </p:cNvPr>
          <p:cNvSpPr/>
          <p:nvPr userDrawn="1"/>
        </p:nvSpPr>
        <p:spPr>
          <a:xfrm>
            <a:off x="5935236" y="36000"/>
            <a:ext cx="1348446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13.4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现在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进行体的用法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3" name="直接连接符 32"/>
          <p:cNvCxnSpPr/>
          <p:nvPr userDrawn="1"/>
        </p:nvCxnSpPr>
        <p:spPr>
          <a:xfrm rot="16200000">
            <a:off x="5647004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6200000">
            <a:off x="4012319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hlinkClick r:id="rId6" action="ppaction://hlinksldjump"/>
          </p:cNvPr>
          <p:cNvSpPr/>
          <p:nvPr userDrawn="1"/>
        </p:nvSpPr>
        <p:spPr>
          <a:xfrm>
            <a:off x="4261081" y="36000"/>
            <a:ext cx="1507144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13.3</a:t>
            </a:r>
            <a:r>
              <a:rPr lang="zh-CN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一般过去时</a:t>
            </a:r>
            <a:endParaRPr lang="en-US" altLang="zh-CN" sz="1600" b="1" kern="1200" spc="-100" baseline="0" dirty="0" smtClean="0">
              <a:solidFill>
                <a:schemeClr val="accent2">
                  <a:lumMod val="50000"/>
                </a:schemeClr>
              </a:solidFill>
              <a:effectLst/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的特殊用法</a:t>
            </a:r>
            <a:endParaRPr lang="zh-CN" altLang="en-US" sz="1600" b="1" kern="1200" spc="-100" baseline="0" dirty="0">
              <a:solidFill>
                <a:schemeClr val="accent2">
                  <a:lumMod val="50000"/>
                </a:schemeClr>
              </a:solidFill>
              <a:effectLst/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36" name="矩形 35">
            <a:hlinkClick r:id="rId7" action="ppaction://hlinksldjump"/>
          </p:cNvPr>
          <p:cNvSpPr/>
          <p:nvPr userDrawn="1"/>
        </p:nvSpPr>
        <p:spPr>
          <a:xfrm>
            <a:off x="7436217" y="36000"/>
            <a:ext cx="1348446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13.5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过去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进行体的用法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7" name="直接连接符 36"/>
          <p:cNvCxnSpPr/>
          <p:nvPr userDrawn="1"/>
        </p:nvCxnSpPr>
        <p:spPr>
          <a:xfrm rot="16200000">
            <a:off x="7159917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9" name="矩形 18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折角形 19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1" name="泪滴形 20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22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23" name="矩形 22"/>
          <p:cNvSpPr/>
          <p:nvPr userDrawn="1"/>
        </p:nvSpPr>
        <p:spPr>
          <a:xfrm>
            <a:off x="680640" y="71414"/>
            <a:ext cx="1603324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重难点解析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61" name="组合 60"/>
          <p:cNvGrpSpPr/>
          <p:nvPr userDrawn="1"/>
        </p:nvGrpSpPr>
        <p:grpSpPr>
          <a:xfrm>
            <a:off x="2285984" y="-5082"/>
            <a:ext cx="358314" cy="653082"/>
            <a:chOff x="2285984" y="-5082"/>
            <a:chExt cx="358314" cy="653082"/>
          </a:xfrm>
        </p:grpSpPr>
        <p:sp>
          <p:nvSpPr>
            <p:cNvPr id="62" name="燕尾形 61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63" name="燕尾形 62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64" name="燕尾形 63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4" name="同侧圆角矩形 23"/>
          <p:cNvSpPr/>
          <p:nvPr userDrawn="1"/>
        </p:nvSpPr>
        <p:spPr>
          <a:xfrm>
            <a:off x="5954489" y="54000"/>
            <a:ext cx="1332000" cy="612000"/>
          </a:xfrm>
          <a:prstGeom prst="round2Same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27" name="矩形 26">
            <a:hlinkClick r:id="rId4" action="ppaction://hlinksldjump"/>
          </p:cNvPr>
          <p:cNvSpPr/>
          <p:nvPr userDrawn="1"/>
        </p:nvSpPr>
        <p:spPr>
          <a:xfrm>
            <a:off x="2643174" y="36000"/>
            <a:ext cx="1507144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13.2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一般现在时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的特殊用法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32" name="矩形 31">
            <a:hlinkClick r:id="rId5" action="ppaction://hlinksldjump"/>
          </p:cNvPr>
          <p:cNvSpPr/>
          <p:nvPr userDrawn="1"/>
        </p:nvSpPr>
        <p:spPr>
          <a:xfrm>
            <a:off x="5935236" y="36000"/>
            <a:ext cx="1348446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13.4</a:t>
            </a:r>
            <a:r>
              <a:rPr lang="zh-CN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现在</a:t>
            </a:r>
            <a:endParaRPr lang="en-US" altLang="zh-CN" sz="1600" b="1" kern="1200" spc="-100" baseline="0" dirty="0" smtClean="0">
              <a:solidFill>
                <a:schemeClr val="accent2">
                  <a:lumMod val="50000"/>
                </a:schemeClr>
              </a:solidFill>
              <a:effectLst/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进行体的用法</a:t>
            </a:r>
            <a:endParaRPr lang="zh-CN" altLang="en-US" sz="1600" b="1" kern="1200" spc="-100" baseline="0" dirty="0">
              <a:solidFill>
                <a:schemeClr val="accent2">
                  <a:lumMod val="50000"/>
                </a:schemeClr>
              </a:solidFill>
              <a:effectLst/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3" name="直接连接符 32"/>
          <p:cNvCxnSpPr/>
          <p:nvPr userDrawn="1"/>
        </p:nvCxnSpPr>
        <p:spPr>
          <a:xfrm rot="16200000">
            <a:off x="5647004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6200000">
            <a:off x="4012319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hlinkClick r:id="rId6" action="ppaction://hlinksldjump"/>
          </p:cNvPr>
          <p:cNvSpPr/>
          <p:nvPr userDrawn="1"/>
        </p:nvSpPr>
        <p:spPr>
          <a:xfrm>
            <a:off x="4261081" y="36000"/>
            <a:ext cx="1507144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13.3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一般过去时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的特殊用法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36" name="矩形 35">
            <a:hlinkClick r:id="rId7" action="ppaction://hlinksldjump"/>
          </p:cNvPr>
          <p:cNvSpPr/>
          <p:nvPr userDrawn="1"/>
        </p:nvSpPr>
        <p:spPr>
          <a:xfrm>
            <a:off x="7436217" y="36000"/>
            <a:ext cx="1348446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13.5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过去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进行体的用法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7" name="直接连接符 36"/>
          <p:cNvCxnSpPr/>
          <p:nvPr userDrawn="1"/>
        </p:nvCxnSpPr>
        <p:spPr>
          <a:xfrm rot="16200000">
            <a:off x="7159917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7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9" name="矩形 18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折角形 19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1" name="泪滴形 20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22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23" name="矩形 22"/>
          <p:cNvSpPr/>
          <p:nvPr userDrawn="1"/>
        </p:nvSpPr>
        <p:spPr>
          <a:xfrm>
            <a:off x="680640" y="71414"/>
            <a:ext cx="1603324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重难点解析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3" name="组合 60"/>
          <p:cNvGrpSpPr/>
          <p:nvPr userDrawn="1"/>
        </p:nvGrpSpPr>
        <p:grpSpPr>
          <a:xfrm>
            <a:off x="2285984" y="-5082"/>
            <a:ext cx="358314" cy="653082"/>
            <a:chOff x="2285984" y="-5082"/>
            <a:chExt cx="358314" cy="653082"/>
          </a:xfrm>
        </p:grpSpPr>
        <p:sp>
          <p:nvSpPr>
            <p:cNvPr id="62" name="燕尾形 61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63" name="燕尾形 62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64" name="燕尾形 63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4" name="同侧圆角矩形 23"/>
          <p:cNvSpPr/>
          <p:nvPr userDrawn="1"/>
        </p:nvSpPr>
        <p:spPr>
          <a:xfrm>
            <a:off x="7468614" y="54000"/>
            <a:ext cx="1296000" cy="612000"/>
          </a:xfrm>
          <a:prstGeom prst="round2Same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27" name="矩形 26">
            <a:hlinkClick r:id="rId4" action="ppaction://hlinksldjump"/>
          </p:cNvPr>
          <p:cNvSpPr/>
          <p:nvPr userDrawn="1"/>
        </p:nvSpPr>
        <p:spPr>
          <a:xfrm>
            <a:off x="2643174" y="36000"/>
            <a:ext cx="1507144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13.2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一般现在时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的特殊用法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32" name="矩形 31">
            <a:hlinkClick r:id="rId5" action="ppaction://hlinksldjump"/>
          </p:cNvPr>
          <p:cNvSpPr/>
          <p:nvPr userDrawn="1"/>
        </p:nvSpPr>
        <p:spPr>
          <a:xfrm>
            <a:off x="5935236" y="36000"/>
            <a:ext cx="1348446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13.4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现在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进行体的用法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3" name="直接连接符 32"/>
          <p:cNvCxnSpPr/>
          <p:nvPr userDrawn="1"/>
        </p:nvCxnSpPr>
        <p:spPr>
          <a:xfrm rot="16200000">
            <a:off x="5647004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6200000">
            <a:off x="4012319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hlinkClick r:id="rId6" action="ppaction://hlinksldjump"/>
          </p:cNvPr>
          <p:cNvSpPr/>
          <p:nvPr userDrawn="1"/>
        </p:nvSpPr>
        <p:spPr>
          <a:xfrm>
            <a:off x="4261081" y="36000"/>
            <a:ext cx="1507144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13.3</a:t>
            </a:r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一般过去时</a:t>
            </a:r>
            <a:endParaRPr lang="en-US" altLang="zh-CN" sz="1600" b="1" kern="1200" spc="-100" baseline="0" dirty="0" smtClean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的特殊用法</a:t>
            </a:r>
            <a:endParaRPr lang="zh-CN" altLang="en-US" sz="1600" b="1" kern="1200" spc="-100" baseline="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36" name="矩形 35">
            <a:hlinkClick r:id="rId7" action="ppaction://hlinksldjump"/>
          </p:cNvPr>
          <p:cNvSpPr/>
          <p:nvPr userDrawn="1"/>
        </p:nvSpPr>
        <p:spPr>
          <a:xfrm>
            <a:off x="7436217" y="36000"/>
            <a:ext cx="1348446" cy="584775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13.5</a:t>
            </a:r>
            <a:r>
              <a:rPr lang="zh-CN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过去</a:t>
            </a:r>
            <a:endParaRPr lang="en-US" altLang="zh-CN" sz="1600" b="1" kern="1200" spc="-100" baseline="0" dirty="0" smtClean="0">
              <a:solidFill>
                <a:schemeClr val="accent2">
                  <a:lumMod val="50000"/>
                </a:schemeClr>
              </a:solidFill>
              <a:effectLst/>
              <a:latin typeface="方正黑体简体" pitchFamily="65" charset="-122"/>
              <a:ea typeface="方正黑体简体" pitchFamily="65" charset="-122"/>
              <a:cs typeface="+mn-cs"/>
            </a:endParaRPr>
          </a:p>
          <a:p>
            <a:pPr algn="ctr"/>
            <a:r>
              <a:rPr lang="zh-CN" altLang="en-US" sz="1600" b="1" kern="1200" spc="-100" baseline="0" dirty="0" smtClean="0">
                <a:solidFill>
                  <a:schemeClr val="accent2">
                    <a:lumMod val="50000"/>
                  </a:schemeClr>
                </a:solidFill>
                <a:effectLst/>
                <a:latin typeface="方正黑体简体" pitchFamily="65" charset="-122"/>
                <a:ea typeface="方正黑体简体" pitchFamily="65" charset="-122"/>
                <a:cs typeface="+mn-cs"/>
              </a:rPr>
              <a:t>进行体的用法</a:t>
            </a:r>
            <a:endParaRPr lang="zh-CN" altLang="en-US" sz="1600" b="1" kern="1200" spc="-100" baseline="0" dirty="0">
              <a:solidFill>
                <a:schemeClr val="accent2">
                  <a:lumMod val="50000"/>
                </a:schemeClr>
              </a:solidFill>
              <a:effectLst/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7" name="直接连接符 36"/>
          <p:cNvCxnSpPr/>
          <p:nvPr userDrawn="1"/>
        </p:nvCxnSpPr>
        <p:spPr>
          <a:xfrm rot="16200000">
            <a:off x="7159917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5" name="矩形 14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折角形 15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7" name="泪滴形 16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18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20" name="矩形 19"/>
          <p:cNvSpPr/>
          <p:nvPr userDrawn="1"/>
        </p:nvSpPr>
        <p:spPr>
          <a:xfrm>
            <a:off x="680640" y="71414"/>
            <a:ext cx="1887055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2200" b="1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itchFamily="49" charset="-122"/>
                <a:cs typeface="+mn-cs"/>
              </a:rPr>
              <a:t>专四</a:t>
            </a:r>
            <a:r>
              <a:rPr lang="zh-CN" altLang="en-US" sz="2200" b="1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真题链接</a:t>
            </a:r>
            <a:endParaRPr lang="zh-CN" altLang="en-US" sz="2200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2643174" y="-5082"/>
            <a:ext cx="358314" cy="653082"/>
            <a:chOff x="2285984" y="-5082"/>
            <a:chExt cx="358314" cy="653082"/>
          </a:xfrm>
        </p:grpSpPr>
        <p:sp>
          <p:nvSpPr>
            <p:cNvPr id="51" name="燕尾形 50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52" name="燕尾形 51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53" name="燕尾形 52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4" name="矩形 13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折角形 14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6" name="泪滴形 15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17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19" name="矩形 18"/>
          <p:cNvSpPr/>
          <p:nvPr userDrawn="1"/>
        </p:nvSpPr>
        <p:spPr>
          <a:xfrm>
            <a:off x="680640" y="71414"/>
            <a:ext cx="1319592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本讲总结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2071670" y="-5082"/>
            <a:ext cx="358314" cy="653082"/>
            <a:chOff x="2285984" y="-5082"/>
            <a:chExt cx="358314" cy="653082"/>
          </a:xfrm>
        </p:grpSpPr>
        <p:sp>
          <p:nvSpPr>
            <p:cNvPr id="24" name="燕尾形 23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5" name="燕尾形 24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6" name="燕尾形 25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4" name="矩形 13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折角形 14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6" name="泪滴形 15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17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18" name="矩形 17"/>
          <p:cNvSpPr/>
          <p:nvPr userDrawn="1"/>
        </p:nvSpPr>
        <p:spPr>
          <a:xfrm>
            <a:off x="680640" y="71414"/>
            <a:ext cx="1319592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练习精讲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2071670" y="-5082"/>
            <a:ext cx="358314" cy="653082"/>
            <a:chOff x="2285984" y="-5082"/>
            <a:chExt cx="358314" cy="653082"/>
          </a:xfrm>
        </p:grpSpPr>
        <p:sp>
          <p:nvSpPr>
            <p:cNvPr id="20" name="燕尾形 19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1" name="燕尾形 20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2" name="燕尾形 21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4" name="同侧圆角矩形 23"/>
          <p:cNvSpPr/>
          <p:nvPr userDrawn="1"/>
        </p:nvSpPr>
        <p:spPr>
          <a:xfrm>
            <a:off x="4043798" y="54000"/>
            <a:ext cx="972000" cy="612000"/>
          </a:xfrm>
          <a:prstGeom prst="round2Same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25" name="矩形 24">
            <a:hlinkClick r:id="rId4" action="ppaction://hlinksldjump"/>
          </p:cNvPr>
          <p:cNvSpPr/>
          <p:nvPr userDrawn="1"/>
        </p:nvSpPr>
        <p:spPr>
          <a:xfrm>
            <a:off x="5329994" y="159110"/>
            <a:ext cx="851515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Ex.13B</a:t>
            </a:r>
            <a:endParaRPr lang="zh-CN" altLang="en-US" sz="1600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26" name="矩形 25">
            <a:hlinkClick r:id="rId5" action="ppaction://hlinksldjump"/>
          </p:cNvPr>
          <p:cNvSpPr/>
          <p:nvPr userDrawn="1"/>
        </p:nvSpPr>
        <p:spPr>
          <a:xfrm>
            <a:off x="4118743" y="159110"/>
            <a:ext cx="851515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rgbClr val="632523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Ex.13A</a:t>
            </a:r>
            <a:endParaRPr lang="zh-CN" altLang="en-US" sz="1600" kern="1200" dirty="0">
              <a:solidFill>
                <a:srgbClr val="632523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 rot="16200000">
            <a:off x="4920837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hlinkClick r:id="rId6" action="ppaction://hlinksldjump"/>
          </p:cNvPr>
          <p:cNvSpPr/>
          <p:nvPr userDrawn="1"/>
        </p:nvSpPr>
        <p:spPr>
          <a:xfrm>
            <a:off x="7728545" y="159110"/>
            <a:ext cx="862737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Ex.13D</a:t>
            </a:r>
            <a:endParaRPr lang="zh-CN" altLang="en-US" sz="1600" b="1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31" name="矩形 30">
            <a:hlinkClick r:id="rId7" action="ppaction://hlinksldjump"/>
          </p:cNvPr>
          <p:cNvSpPr/>
          <p:nvPr userDrawn="1"/>
        </p:nvSpPr>
        <p:spPr>
          <a:xfrm>
            <a:off x="6519563" y="159110"/>
            <a:ext cx="862737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Ex.13C</a:t>
            </a:r>
            <a:endParaRPr lang="zh-CN" altLang="en-US" sz="1600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2" name="直接连接符 31"/>
          <p:cNvCxnSpPr/>
          <p:nvPr userDrawn="1"/>
        </p:nvCxnSpPr>
        <p:spPr>
          <a:xfrm rot="16200000">
            <a:off x="6099442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 rot="16200000">
            <a:off x="7321039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2" name="矩形 11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折角形 12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4" name="泪滴形 13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15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17" name="矩形 16"/>
          <p:cNvSpPr/>
          <p:nvPr userDrawn="1"/>
        </p:nvSpPr>
        <p:spPr>
          <a:xfrm>
            <a:off x="680640" y="71414"/>
            <a:ext cx="1319592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练习精讲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2071670" y="-5082"/>
            <a:ext cx="358314" cy="653082"/>
            <a:chOff x="2285984" y="-5082"/>
            <a:chExt cx="358314" cy="653082"/>
          </a:xfrm>
        </p:grpSpPr>
        <p:sp>
          <p:nvSpPr>
            <p:cNvPr id="19" name="燕尾形 18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0" name="燕尾形 19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1" name="燕尾形 20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2" name="同侧圆角矩形 21"/>
          <p:cNvSpPr/>
          <p:nvPr userDrawn="1"/>
        </p:nvSpPr>
        <p:spPr>
          <a:xfrm>
            <a:off x="5243074" y="54000"/>
            <a:ext cx="972000" cy="612000"/>
          </a:xfrm>
          <a:prstGeom prst="round2Same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23" name="矩形 22">
            <a:hlinkClick r:id="rId4" action="ppaction://hlinksldjump"/>
          </p:cNvPr>
          <p:cNvSpPr/>
          <p:nvPr userDrawn="1"/>
        </p:nvSpPr>
        <p:spPr>
          <a:xfrm>
            <a:off x="5329994" y="159110"/>
            <a:ext cx="851515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algn="ctr" defTabSz="914400" rtl="0" eaLnBrk="1" latinLnBrk="0" hangingPunct="1"/>
            <a:r>
              <a:rPr lang="en-US" altLang="zh-CN" sz="1600" b="1" kern="1200" dirty="0" smtClean="0">
                <a:solidFill>
                  <a:srgbClr val="632523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Ex.13B</a:t>
            </a:r>
            <a:endParaRPr lang="zh-CN" altLang="en-US" sz="1600" b="1" kern="1200" dirty="0">
              <a:solidFill>
                <a:srgbClr val="632523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24" name="矩形 23">
            <a:hlinkClick r:id="rId5" action="ppaction://hlinksldjump"/>
          </p:cNvPr>
          <p:cNvSpPr/>
          <p:nvPr userDrawn="1"/>
        </p:nvSpPr>
        <p:spPr>
          <a:xfrm>
            <a:off x="4118743" y="159110"/>
            <a:ext cx="851515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Ex.13A</a:t>
            </a:r>
            <a:endParaRPr lang="zh-CN" altLang="en-US" sz="1600" b="1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25" name="直接连接符 24"/>
          <p:cNvCxnSpPr/>
          <p:nvPr userDrawn="1"/>
        </p:nvCxnSpPr>
        <p:spPr>
          <a:xfrm rot="16200000">
            <a:off x="4920837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hlinkClick r:id="rId6" action="ppaction://hlinksldjump"/>
          </p:cNvPr>
          <p:cNvSpPr/>
          <p:nvPr userDrawn="1"/>
        </p:nvSpPr>
        <p:spPr>
          <a:xfrm>
            <a:off x="7728545" y="159110"/>
            <a:ext cx="862737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Ex.13D</a:t>
            </a:r>
            <a:endParaRPr lang="zh-CN" altLang="en-US" sz="1600" b="1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30" name="矩形 29">
            <a:hlinkClick r:id="rId7" action="ppaction://hlinksldjump"/>
          </p:cNvPr>
          <p:cNvSpPr/>
          <p:nvPr userDrawn="1"/>
        </p:nvSpPr>
        <p:spPr>
          <a:xfrm>
            <a:off x="6519563" y="159110"/>
            <a:ext cx="862737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Ex.13C</a:t>
            </a:r>
            <a:endParaRPr lang="zh-CN" altLang="en-US" sz="1600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rot="16200000">
            <a:off x="6099442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7321039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2" name="矩形 11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折角形 12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4" name="泪滴形 13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15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17" name="矩形 16"/>
          <p:cNvSpPr/>
          <p:nvPr userDrawn="1"/>
        </p:nvSpPr>
        <p:spPr>
          <a:xfrm>
            <a:off x="680640" y="71414"/>
            <a:ext cx="1319592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练习精讲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3" name="组合 17"/>
          <p:cNvGrpSpPr/>
          <p:nvPr userDrawn="1"/>
        </p:nvGrpSpPr>
        <p:grpSpPr>
          <a:xfrm>
            <a:off x="2071670" y="-5082"/>
            <a:ext cx="358314" cy="653082"/>
            <a:chOff x="2285984" y="-5082"/>
            <a:chExt cx="358314" cy="653082"/>
          </a:xfrm>
        </p:grpSpPr>
        <p:sp>
          <p:nvSpPr>
            <p:cNvPr id="19" name="燕尾形 18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0" name="燕尾形 19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1" name="燕尾形 20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2" name="同侧圆角矩形 21"/>
          <p:cNvSpPr/>
          <p:nvPr userDrawn="1"/>
        </p:nvSpPr>
        <p:spPr>
          <a:xfrm>
            <a:off x="6457520" y="54000"/>
            <a:ext cx="972000" cy="612000"/>
          </a:xfrm>
          <a:prstGeom prst="round2Same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23" name="矩形 22">
            <a:hlinkClick r:id="rId4" action="ppaction://hlinksldjump"/>
          </p:cNvPr>
          <p:cNvSpPr/>
          <p:nvPr userDrawn="1"/>
        </p:nvSpPr>
        <p:spPr>
          <a:xfrm>
            <a:off x="5329994" y="159110"/>
            <a:ext cx="851515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algn="ctr" defTabSz="914400" rtl="0" eaLnBrk="1" latinLnBrk="0" hangingPunct="1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Ex.13B</a:t>
            </a:r>
            <a:endParaRPr lang="zh-CN" altLang="en-US" sz="1600" b="1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24" name="矩形 23">
            <a:hlinkClick r:id="rId5" action="ppaction://hlinksldjump"/>
          </p:cNvPr>
          <p:cNvSpPr/>
          <p:nvPr userDrawn="1"/>
        </p:nvSpPr>
        <p:spPr>
          <a:xfrm>
            <a:off x="4118743" y="159110"/>
            <a:ext cx="851515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Ex.13A</a:t>
            </a:r>
            <a:endParaRPr lang="zh-CN" altLang="en-US" sz="1600" b="1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25" name="直接连接符 24"/>
          <p:cNvCxnSpPr/>
          <p:nvPr userDrawn="1"/>
        </p:nvCxnSpPr>
        <p:spPr>
          <a:xfrm rot="16200000">
            <a:off x="4920837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hlinkClick r:id="rId6" action="ppaction://hlinksldjump"/>
          </p:cNvPr>
          <p:cNvSpPr/>
          <p:nvPr userDrawn="1"/>
        </p:nvSpPr>
        <p:spPr>
          <a:xfrm>
            <a:off x="7728545" y="159110"/>
            <a:ext cx="862737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Ex.13D</a:t>
            </a:r>
            <a:endParaRPr lang="zh-CN" altLang="en-US" sz="1600" b="1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30" name="矩形 29">
            <a:hlinkClick r:id="rId7" action="ppaction://hlinksldjump"/>
          </p:cNvPr>
          <p:cNvSpPr/>
          <p:nvPr userDrawn="1"/>
        </p:nvSpPr>
        <p:spPr>
          <a:xfrm>
            <a:off x="6519563" y="159110"/>
            <a:ext cx="862737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rgbClr val="632523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Ex.13C</a:t>
            </a:r>
            <a:endParaRPr lang="zh-CN" altLang="en-US" sz="1600" b="1" kern="1200" dirty="0">
              <a:solidFill>
                <a:srgbClr val="632523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rot="16200000">
            <a:off x="6099442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7321039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/>
          <p:cNvGrpSpPr/>
          <p:nvPr userDrawn="1"/>
        </p:nvGrpSpPr>
        <p:grpSpPr>
          <a:xfrm>
            <a:off x="0" y="0"/>
            <a:ext cx="9144000" cy="648000"/>
            <a:chOff x="0" y="0"/>
            <a:chExt cx="9144000" cy="648000"/>
          </a:xfrm>
          <a:effectLst>
            <a:reflection blurRad="6350" stA="50000" endA="300" endPos="38500" dist="50800" dir="5400000" sy="-100000" algn="bl" rotWithShape="0"/>
          </a:effectLst>
        </p:grpSpPr>
        <p:sp>
          <p:nvSpPr>
            <p:cNvPr id="12" name="矩形 11"/>
            <p:cNvSpPr/>
            <p:nvPr userDrawn="1"/>
          </p:nvSpPr>
          <p:spPr>
            <a:xfrm flipV="1">
              <a:off x="357158" y="0"/>
              <a:ext cx="8358246" cy="642918"/>
            </a:xfrm>
            <a:prstGeom prst="rect">
              <a:avLst/>
            </a:prstGeom>
            <a:solidFill>
              <a:srgbClr val="C04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折角形 12"/>
            <p:cNvSpPr/>
            <p:nvPr userDrawn="1"/>
          </p:nvSpPr>
          <p:spPr>
            <a:xfrm>
              <a:off x="8072430" y="0"/>
              <a:ext cx="1071570" cy="642918"/>
            </a:xfrm>
            <a:prstGeom prst="foldedCorner">
              <a:avLst>
                <a:gd name="adj" fmla="val 50000"/>
              </a:avLst>
            </a:prstGeom>
            <a:solidFill>
              <a:srgbClr val="C04A5A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4" name="泪滴形 13"/>
            <p:cNvSpPr>
              <a:spLocks noChangeAspect="1"/>
            </p:cNvSpPr>
            <p:nvPr userDrawn="1"/>
          </p:nvSpPr>
          <p:spPr>
            <a:xfrm flipH="1">
              <a:off x="0" y="0"/>
              <a:ext cx="648000" cy="648000"/>
            </a:xfrm>
            <a:prstGeom prst="teardrop">
              <a:avLst/>
            </a:prstGeom>
            <a:solidFill>
              <a:srgbClr val="89374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15" name="Picture 3" descr="C:\Users\senj\Desktop\主目录.png">
              <a:hlinkClick r:id="rId2" action="ppaction://hlinksldjump"/>
            </p:cNvPr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8000" y="71414"/>
              <a:ext cx="446897" cy="36000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</p:grpSp>
      <p:sp>
        <p:nvSpPr>
          <p:cNvPr id="17" name="矩形 16"/>
          <p:cNvSpPr/>
          <p:nvPr userDrawn="1"/>
        </p:nvSpPr>
        <p:spPr>
          <a:xfrm>
            <a:off x="680640" y="71414"/>
            <a:ext cx="1319592" cy="43088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u="none" kern="1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  <a:cs typeface="+mn-cs"/>
              </a:rPr>
              <a:t>练习精讲</a:t>
            </a:r>
            <a:endParaRPr lang="en-US" sz="2200" b="1" u="none" kern="1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49" charset="-122"/>
              <a:ea typeface="黑体" pitchFamily="49" charset="-122"/>
              <a:cs typeface="+mn-cs"/>
            </a:endParaRPr>
          </a:p>
        </p:txBody>
      </p:sp>
      <p:grpSp>
        <p:nvGrpSpPr>
          <p:cNvPr id="3" name="组合 17"/>
          <p:cNvGrpSpPr/>
          <p:nvPr userDrawn="1"/>
        </p:nvGrpSpPr>
        <p:grpSpPr>
          <a:xfrm>
            <a:off x="2071670" y="-5082"/>
            <a:ext cx="358314" cy="653082"/>
            <a:chOff x="2285984" y="-5082"/>
            <a:chExt cx="358314" cy="653082"/>
          </a:xfrm>
        </p:grpSpPr>
        <p:sp>
          <p:nvSpPr>
            <p:cNvPr id="19" name="燕尾形 18"/>
            <p:cNvSpPr>
              <a:spLocks/>
            </p:cNvSpPr>
            <p:nvPr userDrawn="1"/>
          </p:nvSpPr>
          <p:spPr>
            <a:xfrm>
              <a:off x="2285984" y="-5082"/>
              <a:ext cx="144000" cy="648000"/>
            </a:xfrm>
            <a:prstGeom prst="chevron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0" name="燕尾形 19"/>
            <p:cNvSpPr>
              <a:spLocks/>
            </p:cNvSpPr>
            <p:nvPr userDrawn="1"/>
          </p:nvSpPr>
          <p:spPr>
            <a:xfrm>
              <a:off x="2393141" y="0"/>
              <a:ext cx="144000" cy="648000"/>
            </a:xfrm>
            <a:prstGeom prst="chevron">
              <a:avLst/>
            </a:prstGeom>
            <a:solidFill>
              <a:schemeClr val="bg1">
                <a:alpha val="3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1" name="燕尾形 20"/>
            <p:cNvSpPr>
              <a:spLocks/>
            </p:cNvSpPr>
            <p:nvPr userDrawn="1"/>
          </p:nvSpPr>
          <p:spPr>
            <a:xfrm>
              <a:off x="2500298" y="0"/>
              <a:ext cx="144000" cy="648000"/>
            </a:xfrm>
            <a:prstGeom prst="chevron">
              <a:avLst/>
            </a:prstGeom>
            <a:solidFill>
              <a:schemeClr val="bg1">
                <a:alpha val="1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2" name="同侧圆角矩形 21"/>
          <p:cNvSpPr/>
          <p:nvPr userDrawn="1"/>
        </p:nvSpPr>
        <p:spPr>
          <a:xfrm>
            <a:off x="7686034" y="54000"/>
            <a:ext cx="972000" cy="612000"/>
          </a:xfrm>
          <a:prstGeom prst="round2Same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23" name="矩形 22">
            <a:hlinkClick r:id="rId4" action="ppaction://hlinksldjump"/>
          </p:cNvPr>
          <p:cNvSpPr/>
          <p:nvPr userDrawn="1"/>
        </p:nvSpPr>
        <p:spPr>
          <a:xfrm>
            <a:off x="5329994" y="159110"/>
            <a:ext cx="851515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L="0" algn="ctr" defTabSz="914400" rtl="0" eaLnBrk="1" latinLnBrk="0" hangingPunct="1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Ex.13B</a:t>
            </a:r>
            <a:endParaRPr lang="zh-CN" altLang="en-US" sz="1600" b="1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24" name="矩形 23">
            <a:hlinkClick r:id="rId5" action="ppaction://hlinksldjump"/>
          </p:cNvPr>
          <p:cNvSpPr/>
          <p:nvPr userDrawn="1"/>
        </p:nvSpPr>
        <p:spPr>
          <a:xfrm>
            <a:off x="4118743" y="159110"/>
            <a:ext cx="851515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Ex.13A</a:t>
            </a:r>
            <a:endParaRPr lang="zh-CN" altLang="en-US" sz="1600" b="1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25" name="直接连接符 24"/>
          <p:cNvCxnSpPr/>
          <p:nvPr userDrawn="1"/>
        </p:nvCxnSpPr>
        <p:spPr>
          <a:xfrm rot="16200000">
            <a:off x="4920837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hlinkClick r:id="rId6" action="ppaction://hlinksldjump"/>
          </p:cNvPr>
          <p:cNvSpPr/>
          <p:nvPr userDrawn="1"/>
        </p:nvSpPr>
        <p:spPr>
          <a:xfrm>
            <a:off x="7728545" y="159110"/>
            <a:ext cx="862737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rgbClr val="632523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Ex.13D</a:t>
            </a:r>
            <a:endParaRPr lang="zh-CN" altLang="en-US" sz="1600" b="1" kern="1200" dirty="0">
              <a:solidFill>
                <a:srgbClr val="632523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sp>
        <p:nvSpPr>
          <p:cNvPr id="30" name="矩形 29">
            <a:hlinkClick r:id="rId7" action="ppaction://hlinksldjump"/>
          </p:cNvPr>
          <p:cNvSpPr/>
          <p:nvPr userDrawn="1"/>
        </p:nvSpPr>
        <p:spPr>
          <a:xfrm>
            <a:off x="6519563" y="159110"/>
            <a:ext cx="862737" cy="338554"/>
          </a:xfrm>
          <a:prstGeom prst="rect">
            <a:avLst/>
          </a:prstGeom>
          <a:noFill/>
          <a:ln w="19050"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altLang="zh-CN" sz="1600" b="1" kern="1200" dirty="0" smtClean="0">
                <a:solidFill>
                  <a:schemeClr val="bg1"/>
                </a:solidFill>
                <a:latin typeface="方正黑体简体" pitchFamily="65" charset="-122"/>
                <a:ea typeface="方正黑体简体" pitchFamily="65" charset="-122"/>
                <a:cs typeface="+mn-cs"/>
              </a:rPr>
              <a:t>Ex.13C</a:t>
            </a:r>
            <a:endParaRPr lang="zh-CN" altLang="en-US" sz="1600" b="1" kern="1200" dirty="0">
              <a:solidFill>
                <a:schemeClr val="bg1"/>
              </a:solidFill>
              <a:latin typeface="方正黑体简体" pitchFamily="65" charset="-122"/>
              <a:ea typeface="方正黑体简体" pitchFamily="65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rot="16200000">
            <a:off x="6099442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7321039" y="323206"/>
            <a:ext cx="432000" cy="1588"/>
          </a:xfrm>
          <a:prstGeom prst="line">
            <a:avLst/>
          </a:prstGeom>
          <a:ln w="19050">
            <a:solidFill>
              <a:schemeClr val="bg1"/>
            </a:solidFill>
            <a:prstDash val="solid"/>
            <a:round/>
            <a:headEnd type="diamon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 userDrawn="1"/>
        </p:nvSpPr>
        <p:spPr>
          <a:xfrm>
            <a:off x="1715132" y="285728"/>
            <a:ext cx="1213794" cy="707886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kern="1200" dirty="0" smtClean="0">
                <a:solidFill>
                  <a:srgbClr val="99375E"/>
                </a:solidFill>
                <a:effectLst/>
                <a:latin typeface="黑体" pitchFamily="49" charset="-122"/>
                <a:ea typeface="黑体" pitchFamily="49" charset="-122"/>
                <a:cs typeface="+mn-cs"/>
              </a:rPr>
              <a:t>备注</a:t>
            </a:r>
            <a:endParaRPr lang="en-US" sz="4000" b="1" kern="1200" dirty="0" smtClean="0">
              <a:solidFill>
                <a:srgbClr val="99375E"/>
              </a:solidFill>
              <a:effectLst/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22" name="组合 21"/>
          <p:cNvGrpSpPr>
            <a:grpSpLocks noChangeAspect="1"/>
          </p:cNvGrpSpPr>
          <p:nvPr userDrawn="1"/>
        </p:nvGrpSpPr>
        <p:grpSpPr>
          <a:xfrm>
            <a:off x="214282" y="142852"/>
            <a:ext cx="1403438" cy="1149190"/>
            <a:chOff x="836106" y="1214422"/>
            <a:chExt cx="1818308" cy="1488900"/>
          </a:xfrm>
        </p:grpSpPr>
        <p:sp>
          <p:nvSpPr>
            <p:cNvPr id="20" name="菱形 19"/>
            <p:cNvSpPr>
              <a:spLocks noChangeAspect="1"/>
            </p:cNvSpPr>
            <p:nvPr userDrawn="1"/>
          </p:nvSpPr>
          <p:spPr>
            <a:xfrm>
              <a:off x="1214414" y="1214422"/>
              <a:ext cx="1440000" cy="1440000"/>
            </a:xfrm>
            <a:prstGeom prst="diamond">
              <a:avLst/>
            </a:prstGeom>
            <a:solidFill>
              <a:srgbClr val="FFC0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1" name="菱形 20"/>
            <p:cNvSpPr>
              <a:spLocks noChangeAspect="1"/>
            </p:cNvSpPr>
            <p:nvPr userDrawn="1"/>
          </p:nvSpPr>
          <p:spPr>
            <a:xfrm>
              <a:off x="836106" y="1677200"/>
              <a:ext cx="1026123" cy="1026122"/>
            </a:xfrm>
            <a:prstGeom prst="diamond">
              <a:avLst/>
            </a:prstGeom>
            <a:solidFill>
              <a:srgbClr val="80C535">
                <a:alpha val="75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9" name="菱形 18"/>
            <p:cNvSpPr>
              <a:spLocks noChangeAspect="1"/>
            </p:cNvSpPr>
            <p:nvPr userDrawn="1"/>
          </p:nvSpPr>
          <p:spPr>
            <a:xfrm>
              <a:off x="1030480" y="1428736"/>
              <a:ext cx="684000" cy="684000"/>
            </a:xfrm>
            <a:prstGeom prst="diamond">
              <a:avLst/>
            </a:prstGeom>
            <a:solidFill>
              <a:srgbClr val="99375E"/>
            </a:solidFill>
            <a:ln w="19050">
              <a:solidFill>
                <a:schemeClr val="bg1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3" name="直角三角形 22"/>
          <p:cNvSpPr>
            <a:spLocks noChangeAspect="1"/>
          </p:cNvSpPr>
          <p:nvPr userDrawn="1"/>
        </p:nvSpPr>
        <p:spPr>
          <a:xfrm flipH="1" flipV="1">
            <a:off x="8064000" y="0"/>
            <a:ext cx="1080000" cy="1080000"/>
          </a:xfrm>
          <a:prstGeom prst="rtTriangle">
            <a:avLst/>
          </a:prstGeom>
          <a:solidFill>
            <a:srgbClr val="99375E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24" name="斜纹 23"/>
          <p:cNvSpPr>
            <a:spLocks noChangeAspect="1"/>
          </p:cNvSpPr>
          <p:nvPr userDrawn="1"/>
        </p:nvSpPr>
        <p:spPr>
          <a:xfrm flipH="1">
            <a:off x="7596000" y="0"/>
            <a:ext cx="1548000" cy="1548000"/>
          </a:xfrm>
          <a:prstGeom prst="diagStripe">
            <a:avLst>
              <a:gd name="adj" fmla="val 76098"/>
            </a:avLst>
          </a:prstGeom>
          <a:solidFill>
            <a:srgbClr val="FFC000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25" name="斜纹 24"/>
          <p:cNvSpPr>
            <a:spLocks noChangeAspect="1"/>
          </p:cNvSpPr>
          <p:nvPr userDrawn="1"/>
        </p:nvSpPr>
        <p:spPr>
          <a:xfrm flipH="1">
            <a:off x="7272000" y="0"/>
            <a:ext cx="1872000" cy="1872000"/>
          </a:xfrm>
          <a:prstGeom prst="diagStripe">
            <a:avLst>
              <a:gd name="adj" fmla="val 73374"/>
            </a:avLst>
          </a:prstGeom>
          <a:solidFill>
            <a:srgbClr val="80C535">
              <a:alpha val="7500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3000364" y="569794"/>
            <a:ext cx="573874" cy="216000"/>
            <a:chOff x="3000364" y="569794"/>
            <a:chExt cx="573874" cy="216000"/>
          </a:xfrm>
        </p:grpSpPr>
        <p:sp>
          <p:nvSpPr>
            <p:cNvPr id="12" name="燕尾形 11"/>
            <p:cNvSpPr>
              <a:spLocks noChangeAspect="1"/>
            </p:cNvSpPr>
            <p:nvPr userDrawn="1"/>
          </p:nvSpPr>
          <p:spPr>
            <a:xfrm>
              <a:off x="3000364" y="569794"/>
              <a:ext cx="216000" cy="216000"/>
            </a:xfrm>
            <a:prstGeom prst="chevron">
              <a:avLst/>
            </a:prstGeom>
            <a:solidFill>
              <a:srgbClr val="99375E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4" name="燕尾形 13"/>
            <p:cNvSpPr>
              <a:spLocks noChangeAspect="1"/>
            </p:cNvSpPr>
            <p:nvPr userDrawn="1"/>
          </p:nvSpPr>
          <p:spPr>
            <a:xfrm>
              <a:off x="3227901" y="587794"/>
              <a:ext cx="180000" cy="180000"/>
            </a:xfrm>
            <a:prstGeom prst="chevron">
              <a:avLst/>
            </a:prstGeom>
            <a:solidFill>
              <a:srgbClr val="99375E">
                <a:alpha val="70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5" name="燕尾形 14"/>
            <p:cNvSpPr>
              <a:spLocks noChangeAspect="1"/>
            </p:cNvSpPr>
            <p:nvPr userDrawn="1"/>
          </p:nvSpPr>
          <p:spPr>
            <a:xfrm>
              <a:off x="3419438" y="600394"/>
              <a:ext cx="154800" cy="154800"/>
            </a:xfrm>
            <a:prstGeom prst="chevron">
              <a:avLst/>
            </a:prstGeom>
            <a:solidFill>
              <a:srgbClr val="99375E">
                <a:alpha val="40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715132" y="285728"/>
            <a:ext cx="1213794" cy="707886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kern="1200" dirty="0" smtClean="0">
                <a:solidFill>
                  <a:srgbClr val="99375E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解析</a:t>
            </a:r>
            <a:endParaRPr lang="en-US" sz="4000" b="1" kern="1200" dirty="0" smtClean="0">
              <a:solidFill>
                <a:srgbClr val="99375E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 userDrawn="1"/>
        </p:nvGrpSpPr>
        <p:grpSpPr>
          <a:xfrm>
            <a:off x="214282" y="142852"/>
            <a:ext cx="1403438" cy="1149190"/>
            <a:chOff x="836106" y="1214422"/>
            <a:chExt cx="1818308" cy="1488900"/>
          </a:xfrm>
        </p:grpSpPr>
        <p:sp>
          <p:nvSpPr>
            <p:cNvPr id="9" name="菱形 8"/>
            <p:cNvSpPr>
              <a:spLocks noChangeAspect="1"/>
            </p:cNvSpPr>
            <p:nvPr userDrawn="1"/>
          </p:nvSpPr>
          <p:spPr>
            <a:xfrm>
              <a:off x="1214414" y="1214422"/>
              <a:ext cx="1440000" cy="1440000"/>
            </a:xfrm>
            <a:prstGeom prst="diamond">
              <a:avLst/>
            </a:prstGeom>
            <a:solidFill>
              <a:srgbClr val="FFC0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0" name="菱形 9"/>
            <p:cNvSpPr>
              <a:spLocks noChangeAspect="1"/>
            </p:cNvSpPr>
            <p:nvPr userDrawn="1"/>
          </p:nvSpPr>
          <p:spPr>
            <a:xfrm>
              <a:off x="836106" y="1677200"/>
              <a:ext cx="1026123" cy="1026122"/>
            </a:xfrm>
            <a:prstGeom prst="diamond">
              <a:avLst/>
            </a:prstGeom>
            <a:solidFill>
              <a:srgbClr val="80C535">
                <a:alpha val="75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1" name="菱形 10"/>
            <p:cNvSpPr>
              <a:spLocks noChangeAspect="1"/>
            </p:cNvSpPr>
            <p:nvPr userDrawn="1"/>
          </p:nvSpPr>
          <p:spPr>
            <a:xfrm>
              <a:off x="1030480" y="1428736"/>
              <a:ext cx="684000" cy="684000"/>
            </a:xfrm>
            <a:prstGeom prst="diamond">
              <a:avLst/>
            </a:prstGeom>
            <a:solidFill>
              <a:srgbClr val="99375E"/>
            </a:solidFill>
            <a:ln w="19050">
              <a:solidFill>
                <a:schemeClr val="bg1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12" name="直角三角形 11"/>
          <p:cNvSpPr>
            <a:spLocks noChangeAspect="1"/>
          </p:cNvSpPr>
          <p:nvPr userDrawn="1"/>
        </p:nvSpPr>
        <p:spPr>
          <a:xfrm flipH="1" flipV="1">
            <a:off x="8064000" y="0"/>
            <a:ext cx="1080000" cy="1080000"/>
          </a:xfrm>
          <a:prstGeom prst="rtTriangle">
            <a:avLst/>
          </a:prstGeom>
          <a:solidFill>
            <a:srgbClr val="99375E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3" name="斜纹 12"/>
          <p:cNvSpPr>
            <a:spLocks noChangeAspect="1"/>
          </p:cNvSpPr>
          <p:nvPr userDrawn="1"/>
        </p:nvSpPr>
        <p:spPr>
          <a:xfrm flipH="1">
            <a:off x="7596000" y="0"/>
            <a:ext cx="1548000" cy="1548000"/>
          </a:xfrm>
          <a:prstGeom prst="diagStripe">
            <a:avLst>
              <a:gd name="adj" fmla="val 76098"/>
            </a:avLst>
          </a:prstGeom>
          <a:solidFill>
            <a:srgbClr val="FFC000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4" name="斜纹 13"/>
          <p:cNvSpPr>
            <a:spLocks noChangeAspect="1"/>
          </p:cNvSpPr>
          <p:nvPr userDrawn="1"/>
        </p:nvSpPr>
        <p:spPr>
          <a:xfrm flipH="1">
            <a:off x="7272000" y="0"/>
            <a:ext cx="1872000" cy="1872000"/>
          </a:xfrm>
          <a:prstGeom prst="diagStripe">
            <a:avLst>
              <a:gd name="adj" fmla="val 73374"/>
            </a:avLst>
          </a:prstGeom>
          <a:solidFill>
            <a:srgbClr val="80C535">
              <a:alpha val="7500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3000364" y="569794"/>
            <a:ext cx="573874" cy="216000"/>
            <a:chOff x="3000364" y="569794"/>
            <a:chExt cx="573874" cy="216000"/>
          </a:xfrm>
        </p:grpSpPr>
        <p:sp>
          <p:nvSpPr>
            <p:cNvPr id="23" name="燕尾形 22"/>
            <p:cNvSpPr>
              <a:spLocks noChangeAspect="1"/>
            </p:cNvSpPr>
            <p:nvPr userDrawn="1"/>
          </p:nvSpPr>
          <p:spPr>
            <a:xfrm>
              <a:off x="3000364" y="569794"/>
              <a:ext cx="216000" cy="216000"/>
            </a:xfrm>
            <a:prstGeom prst="chevron">
              <a:avLst/>
            </a:prstGeom>
            <a:solidFill>
              <a:srgbClr val="99375E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4" name="燕尾形 23"/>
            <p:cNvSpPr>
              <a:spLocks noChangeAspect="1"/>
            </p:cNvSpPr>
            <p:nvPr userDrawn="1"/>
          </p:nvSpPr>
          <p:spPr>
            <a:xfrm>
              <a:off x="3227901" y="587794"/>
              <a:ext cx="180000" cy="180000"/>
            </a:xfrm>
            <a:prstGeom prst="chevron">
              <a:avLst/>
            </a:prstGeom>
            <a:solidFill>
              <a:srgbClr val="99375E">
                <a:alpha val="70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5" name="燕尾形 24"/>
            <p:cNvSpPr>
              <a:spLocks noChangeAspect="1"/>
            </p:cNvSpPr>
            <p:nvPr userDrawn="1"/>
          </p:nvSpPr>
          <p:spPr>
            <a:xfrm>
              <a:off x="3419438" y="600394"/>
              <a:ext cx="154800" cy="154800"/>
            </a:xfrm>
            <a:prstGeom prst="chevron">
              <a:avLst/>
            </a:prstGeom>
            <a:solidFill>
              <a:srgbClr val="99375E">
                <a:alpha val="40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715132" y="285728"/>
            <a:ext cx="2242923" cy="707886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kern="1200" dirty="0" smtClean="0">
                <a:solidFill>
                  <a:srgbClr val="99375E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考点小结</a:t>
            </a:r>
            <a:endParaRPr lang="en-US" sz="4000" b="1" kern="1200" dirty="0" smtClean="0">
              <a:solidFill>
                <a:srgbClr val="99375E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 userDrawn="1"/>
        </p:nvGrpSpPr>
        <p:grpSpPr>
          <a:xfrm>
            <a:off x="214282" y="142852"/>
            <a:ext cx="1403438" cy="1149190"/>
            <a:chOff x="836106" y="1214422"/>
            <a:chExt cx="1818308" cy="1488900"/>
          </a:xfrm>
        </p:grpSpPr>
        <p:sp>
          <p:nvSpPr>
            <p:cNvPr id="9" name="菱形 8"/>
            <p:cNvSpPr>
              <a:spLocks noChangeAspect="1"/>
            </p:cNvSpPr>
            <p:nvPr userDrawn="1"/>
          </p:nvSpPr>
          <p:spPr>
            <a:xfrm>
              <a:off x="1214414" y="1214422"/>
              <a:ext cx="1440000" cy="1440000"/>
            </a:xfrm>
            <a:prstGeom prst="diamond">
              <a:avLst/>
            </a:prstGeom>
            <a:solidFill>
              <a:srgbClr val="FFC0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0" name="菱形 9"/>
            <p:cNvSpPr>
              <a:spLocks noChangeAspect="1"/>
            </p:cNvSpPr>
            <p:nvPr userDrawn="1"/>
          </p:nvSpPr>
          <p:spPr>
            <a:xfrm>
              <a:off x="836106" y="1677200"/>
              <a:ext cx="1026123" cy="1026122"/>
            </a:xfrm>
            <a:prstGeom prst="diamond">
              <a:avLst/>
            </a:prstGeom>
            <a:solidFill>
              <a:srgbClr val="80C535">
                <a:alpha val="75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1" name="菱形 10"/>
            <p:cNvSpPr>
              <a:spLocks noChangeAspect="1"/>
            </p:cNvSpPr>
            <p:nvPr userDrawn="1"/>
          </p:nvSpPr>
          <p:spPr>
            <a:xfrm>
              <a:off x="1030480" y="1428736"/>
              <a:ext cx="684000" cy="684000"/>
            </a:xfrm>
            <a:prstGeom prst="diamond">
              <a:avLst/>
            </a:prstGeom>
            <a:solidFill>
              <a:srgbClr val="99375E"/>
            </a:solidFill>
            <a:ln w="19050">
              <a:solidFill>
                <a:schemeClr val="bg1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12" name="直角三角形 11"/>
          <p:cNvSpPr>
            <a:spLocks noChangeAspect="1"/>
          </p:cNvSpPr>
          <p:nvPr userDrawn="1"/>
        </p:nvSpPr>
        <p:spPr>
          <a:xfrm flipH="1" flipV="1">
            <a:off x="8064000" y="0"/>
            <a:ext cx="1080000" cy="1080000"/>
          </a:xfrm>
          <a:prstGeom prst="rtTriangle">
            <a:avLst/>
          </a:prstGeom>
          <a:solidFill>
            <a:srgbClr val="99375E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4" name="斜纹 13"/>
          <p:cNvSpPr>
            <a:spLocks noChangeAspect="1"/>
          </p:cNvSpPr>
          <p:nvPr userDrawn="1"/>
        </p:nvSpPr>
        <p:spPr>
          <a:xfrm flipH="1">
            <a:off x="7596000" y="0"/>
            <a:ext cx="1548000" cy="1548000"/>
          </a:xfrm>
          <a:prstGeom prst="diagStripe">
            <a:avLst>
              <a:gd name="adj" fmla="val 76098"/>
            </a:avLst>
          </a:prstGeom>
          <a:solidFill>
            <a:srgbClr val="FFC000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5" name="斜纹 14"/>
          <p:cNvSpPr>
            <a:spLocks noChangeAspect="1"/>
          </p:cNvSpPr>
          <p:nvPr userDrawn="1"/>
        </p:nvSpPr>
        <p:spPr>
          <a:xfrm flipH="1">
            <a:off x="7272000" y="0"/>
            <a:ext cx="1872000" cy="1872000"/>
          </a:xfrm>
          <a:prstGeom prst="diagStripe">
            <a:avLst>
              <a:gd name="adj" fmla="val 73374"/>
            </a:avLst>
          </a:prstGeom>
          <a:solidFill>
            <a:srgbClr val="80C535">
              <a:alpha val="7500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4068000" y="569794"/>
            <a:ext cx="573874" cy="216000"/>
            <a:chOff x="3000364" y="569794"/>
            <a:chExt cx="573874" cy="216000"/>
          </a:xfrm>
        </p:grpSpPr>
        <p:sp>
          <p:nvSpPr>
            <p:cNvPr id="20" name="燕尾形 19"/>
            <p:cNvSpPr>
              <a:spLocks noChangeAspect="1"/>
            </p:cNvSpPr>
            <p:nvPr userDrawn="1"/>
          </p:nvSpPr>
          <p:spPr>
            <a:xfrm>
              <a:off x="3000364" y="569794"/>
              <a:ext cx="216000" cy="216000"/>
            </a:xfrm>
            <a:prstGeom prst="chevron">
              <a:avLst/>
            </a:prstGeom>
            <a:solidFill>
              <a:srgbClr val="99375E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1" name="燕尾形 20"/>
            <p:cNvSpPr>
              <a:spLocks noChangeAspect="1"/>
            </p:cNvSpPr>
            <p:nvPr userDrawn="1"/>
          </p:nvSpPr>
          <p:spPr>
            <a:xfrm>
              <a:off x="3227901" y="587794"/>
              <a:ext cx="180000" cy="180000"/>
            </a:xfrm>
            <a:prstGeom prst="chevron">
              <a:avLst/>
            </a:prstGeom>
            <a:solidFill>
              <a:srgbClr val="99375E">
                <a:alpha val="70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2" name="燕尾形 21"/>
            <p:cNvSpPr>
              <a:spLocks noChangeAspect="1"/>
            </p:cNvSpPr>
            <p:nvPr userDrawn="1"/>
          </p:nvSpPr>
          <p:spPr>
            <a:xfrm>
              <a:off x="3419438" y="600394"/>
              <a:ext cx="154800" cy="154800"/>
            </a:xfrm>
            <a:prstGeom prst="chevron">
              <a:avLst/>
            </a:prstGeom>
            <a:solidFill>
              <a:srgbClr val="99375E">
                <a:alpha val="40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7" r:id="rId6"/>
    <p:sldLayoutId id="2147483659" r:id="rId7"/>
    <p:sldLayoutId id="2147483690" r:id="rId8"/>
    <p:sldLayoutId id="2147483681" r:id="rId9"/>
    <p:sldLayoutId id="2147483671" r:id="rId10"/>
    <p:sldLayoutId id="2147483676" r:id="rId11"/>
    <p:sldLayoutId id="2147483677" r:id="rId12"/>
    <p:sldLayoutId id="2147483688" r:id="rId13"/>
    <p:sldLayoutId id="2147483689" r:id="rId14"/>
    <p:sldLayoutId id="2147483653" r:id="rId15"/>
    <p:sldLayoutId id="2147483660" r:id="rId16"/>
    <p:sldLayoutId id="2147483685" r:id="rId17"/>
    <p:sldLayoutId id="2147483687" r:id="rId18"/>
  </p:sldLayoutIdLst>
  <p:transition advClick="0"/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6.xml"/><Relationship Id="rId7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7.xml"/><Relationship Id="rId5" Type="http://schemas.openxmlformats.org/officeDocument/2006/relationships/slide" Target="slide36.xml"/><Relationship Id="rId4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4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slide" Target="slide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5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slide" Target="slide5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5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56.xml"/><Relationship Id="rId3" Type="http://schemas.openxmlformats.org/officeDocument/2006/relationships/image" Target="../media/image11.png"/><Relationship Id="rId7" Type="http://schemas.openxmlformats.org/officeDocument/2006/relationships/slide" Target="slide55.xml"/><Relationship Id="rId2" Type="http://schemas.openxmlformats.org/officeDocument/2006/relationships/slide" Target="slide53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54.xml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slide" Target="slide5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slide" Target="slide60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6" Type="http://schemas.openxmlformats.org/officeDocument/2006/relationships/slide" Target="slide59.xml"/><Relationship Id="rId5" Type="http://schemas.openxmlformats.org/officeDocument/2006/relationships/image" Target="../media/image11.png"/><Relationship Id="rId4" Type="http://schemas.openxmlformats.org/officeDocument/2006/relationships/slide" Target="slide5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63.xml"/><Relationship Id="rId3" Type="http://schemas.openxmlformats.org/officeDocument/2006/relationships/image" Target="../media/image7.png"/><Relationship Id="rId7" Type="http://schemas.openxmlformats.org/officeDocument/2006/relationships/slide" Target="slide62.xml"/><Relationship Id="rId12" Type="http://schemas.openxmlformats.org/officeDocument/2006/relationships/slide" Target="slide6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slide" Target="slide66.xml"/><Relationship Id="rId5" Type="http://schemas.openxmlformats.org/officeDocument/2006/relationships/image" Target="../media/image11.png"/><Relationship Id="rId10" Type="http://schemas.openxmlformats.org/officeDocument/2006/relationships/slide" Target="slide65.xml"/><Relationship Id="rId4" Type="http://schemas.openxmlformats.org/officeDocument/2006/relationships/slide" Target="slide61.xml"/><Relationship Id="rId9" Type="http://schemas.openxmlformats.org/officeDocument/2006/relationships/slide" Target="slide6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71.xml"/><Relationship Id="rId3" Type="http://schemas.openxmlformats.org/officeDocument/2006/relationships/image" Target="../media/image6.png"/><Relationship Id="rId7" Type="http://schemas.openxmlformats.org/officeDocument/2006/relationships/slide" Target="slide7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slide" Target="slide69.xml"/><Relationship Id="rId11" Type="http://schemas.openxmlformats.org/officeDocument/2006/relationships/slide" Target="slide73.xml"/><Relationship Id="rId5" Type="http://schemas.openxmlformats.org/officeDocument/2006/relationships/image" Target="../media/image11.png"/><Relationship Id="rId10" Type="http://schemas.openxmlformats.org/officeDocument/2006/relationships/image" Target="../media/image13.png"/><Relationship Id="rId4" Type="http://schemas.openxmlformats.org/officeDocument/2006/relationships/slide" Target="slide68.xml"/><Relationship Id="rId9" Type="http://schemas.openxmlformats.org/officeDocument/2006/relationships/slide" Target="slide7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slide" Target="slide7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slide" Target="slide7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slide" Target="slide80.xml"/><Relationship Id="rId2" Type="http://schemas.openxmlformats.org/officeDocument/2006/relationships/slide" Target="slide76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79.xml"/><Relationship Id="rId5" Type="http://schemas.openxmlformats.org/officeDocument/2006/relationships/slide" Target="slide78.xml"/><Relationship Id="rId10" Type="http://schemas.openxmlformats.org/officeDocument/2006/relationships/image" Target="../media/image7.png"/><Relationship Id="rId4" Type="http://schemas.openxmlformats.org/officeDocument/2006/relationships/slide" Target="slide77.xml"/><Relationship Id="rId9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slide" Target="slide8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slide" Target="slide8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slide" Target="slide8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slide" Target="slide8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6" Type="http://schemas.openxmlformats.org/officeDocument/2006/relationships/slide" Target="slide85.xml"/><Relationship Id="rId5" Type="http://schemas.openxmlformats.org/officeDocument/2006/relationships/image" Target="../media/image11.png"/><Relationship Id="rId4" Type="http://schemas.openxmlformats.org/officeDocument/2006/relationships/slide" Target="slide8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slide" Target="slide8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slide" Target="slide89.xml"/><Relationship Id="rId4" Type="http://schemas.openxmlformats.org/officeDocument/2006/relationships/slide" Target="slide8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071670" y="1996709"/>
            <a:ext cx="613501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5800" dirty="0" smtClean="0">
                <a:solidFill>
                  <a:schemeClr val="bg1"/>
                </a:solidFill>
                <a:latin typeface="方正超粗黑简体" pitchFamily="65" charset="-122"/>
                <a:ea typeface="方正超粗黑简体" pitchFamily="65" charset="-122"/>
              </a:rPr>
              <a:t>新编英语语法教程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9354" y="417930"/>
            <a:ext cx="505779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900" dirty="0" smtClean="0">
                <a:solidFill>
                  <a:srgbClr val="FFE100"/>
                </a:solidFill>
                <a:latin typeface="方正粗黑宋简体" pitchFamily="2" charset="-122"/>
                <a:ea typeface="方正粗黑宋简体" pitchFamily="2" charset="-122"/>
              </a:rPr>
              <a:t>“十二五”普通高等教育本科国家级规划材料</a:t>
            </a:r>
          </a:p>
        </p:txBody>
      </p:sp>
      <p:sp>
        <p:nvSpPr>
          <p:cNvPr id="12" name="矩形 11"/>
          <p:cNvSpPr/>
          <p:nvPr/>
        </p:nvSpPr>
        <p:spPr>
          <a:xfrm>
            <a:off x="2277329" y="1142984"/>
            <a:ext cx="59293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方正粗黑宋简体" pitchFamily="2" charset="-122"/>
                <a:ea typeface="方正粗黑宋简体" pitchFamily="2" charset="-122"/>
              </a:rPr>
              <a:t>新世纪高等院校英语专业本科生系列教材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itchFamily="2" charset="-122"/>
                <a:ea typeface="方正粗黑宋简体" pitchFamily="2" charset="-122"/>
              </a:rPr>
              <a:t>（</a:t>
            </a:r>
            <a:r>
              <a:rPr lang="zh-CN" altLang="en-US" sz="2000" dirty="0" smtClean="0">
                <a:solidFill>
                  <a:schemeClr val="bg1"/>
                </a:solidFill>
                <a:latin typeface="方正粗黑宋简体" pitchFamily="2" charset="-122"/>
                <a:ea typeface="方正粗黑宋简体" pitchFamily="2" charset="-122"/>
              </a:rPr>
              <a:t>修订版</a:t>
            </a:r>
            <a:r>
              <a:rPr lang="zh-CN" altLang="en-US" sz="2000" b="1" dirty="0" smtClean="0">
                <a:solidFill>
                  <a:schemeClr val="bg1"/>
                </a:solidFill>
                <a:latin typeface="方正粗黑宋简体" pitchFamily="2" charset="-122"/>
                <a:ea typeface="方正粗黑宋简体" pitchFamily="2" charset="-122"/>
              </a:rPr>
              <a:t>）</a:t>
            </a:r>
            <a:endParaRPr lang="zh-CN" altLang="en-US" sz="2000" b="1" dirty="0">
              <a:solidFill>
                <a:schemeClr val="bg1"/>
              </a:solidFill>
              <a:latin typeface="方正粗黑宋简体" pitchFamily="2" charset="-122"/>
              <a:ea typeface="方正粗黑宋简体" pitchFamily="2" charset="-122"/>
            </a:endParaRPr>
          </a:p>
        </p:txBody>
      </p:sp>
      <p:pic>
        <p:nvPicPr>
          <p:cNvPr id="13" name="图片 12" descr="12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91452" y="214290"/>
            <a:ext cx="792000" cy="792000"/>
          </a:xfrm>
          <a:prstGeom prst="rect">
            <a:avLst/>
          </a:prstGeom>
        </p:spPr>
      </p:pic>
      <p:pic>
        <p:nvPicPr>
          <p:cNvPr id="15" name="图片 14" descr="wj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472" y="5992387"/>
            <a:ext cx="1857388" cy="5084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076479" y="3045267"/>
            <a:ext cx="6130204" cy="116955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r"/>
            <a:r>
              <a:rPr lang="en-US" altLang="zh-CN" sz="3500" dirty="0" smtClean="0">
                <a:solidFill>
                  <a:schemeClr val="bg1">
                    <a:alpha val="80000"/>
                  </a:schemeClr>
                </a:solidFill>
                <a:latin typeface="方正超粗黑简体" pitchFamily="65" charset="-122"/>
                <a:ea typeface="方正超粗黑简体" pitchFamily="65" charset="-122"/>
              </a:rPr>
              <a:t>A New English Grammar</a:t>
            </a:r>
          </a:p>
          <a:p>
            <a:pPr algn="r"/>
            <a:r>
              <a:rPr lang="en-US" altLang="zh-CN" sz="3500" dirty="0" err="1" smtClean="0">
                <a:solidFill>
                  <a:schemeClr val="bg1">
                    <a:alpha val="80000"/>
                  </a:schemeClr>
                </a:solidFill>
                <a:latin typeface="方正超粗黑简体" pitchFamily="65" charset="-122"/>
                <a:ea typeface="方正超粗黑简体" pitchFamily="65" charset="-122"/>
              </a:rPr>
              <a:t>Coursebook</a:t>
            </a:r>
            <a:endParaRPr lang="zh-CN" altLang="en-US" sz="3500" dirty="0">
              <a:solidFill>
                <a:schemeClr val="bg1">
                  <a:alpha val="80000"/>
                </a:schemeClr>
              </a:solidFill>
              <a:latin typeface="方正超粗黑简体" pitchFamily="65" charset="-122"/>
              <a:ea typeface="方正超粗黑简体" pitchFamily="65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39853" y="1548000"/>
            <a:ext cx="1766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9F9F5"/>
                </a:solidFill>
                <a:latin typeface="方正粗黑宋简体" pitchFamily="2" charset="-122"/>
                <a:ea typeface="方正粗黑宋简体" pitchFamily="2" charset="-122"/>
              </a:rPr>
              <a:t>总主编   戴炜栋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6577072" y="4253219"/>
            <a:ext cx="1512000" cy="461665"/>
            <a:chOff x="2428860" y="4266000"/>
            <a:chExt cx="1512000" cy="461665"/>
          </a:xfrm>
        </p:grpSpPr>
        <p:sp>
          <p:nvSpPr>
            <p:cNvPr id="25" name="圆角矩形 24"/>
            <p:cNvSpPr>
              <a:spLocks noChangeAspect="1"/>
            </p:cNvSpPr>
            <p:nvPr/>
          </p:nvSpPr>
          <p:spPr>
            <a:xfrm>
              <a:off x="2428860" y="4337088"/>
              <a:ext cx="1512000" cy="360000"/>
            </a:xfrm>
            <a:prstGeom prst="roundRect">
              <a:avLst>
                <a:gd name="adj" fmla="val 32904"/>
              </a:avLst>
            </a:prstGeom>
            <a:solidFill>
              <a:srgbClr val="FFFF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707807" y="4266000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 smtClean="0">
                  <a:latin typeface="黑体" pitchFamily="49" charset="-122"/>
                  <a:ea typeface="黑体" pitchFamily="49" charset="-122"/>
                </a:rPr>
                <a:t>第</a:t>
              </a:r>
              <a:r>
                <a:rPr lang="en-US" altLang="zh-CN" sz="2400" b="1" dirty="0" smtClean="0">
                  <a:latin typeface="黑体" pitchFamily="49" charset="-122"/>
                  <a:ea typeface="黑体" pitchFamily="49" charset="-122"/>
                </a:rPr>
                <a:t>6</a:t>
              </a:r>
              <a:r>
                <a:rPr lang="zh-CN" altLang="en-US" sz="2400" b="1" dirty="0" smtClean="0">
                  <a:latin typeface="黑体" pitchFamily="49" charset="-122"/>
                  <a:ea typeface="黑体" pitchFamily="49" charset="-122"/>
                </a:rPr>
                <a:t>版</a:t>
              </a:r>
              <a:endParaRPr lang="zh-CN" altLang="en-US" sz="2400" b="1" dirty="0">
                <a:latin typeface="黑体" pitchFamily="49" charset="-122"/>
                <a:ea typeface="黑体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88"/>
          <p:cNvSpPr txBox="1"/>
          <p:nvPr/>
        </p:nvSpPr>
        <p:spPr>
          <a:xfrm>
            <a:off x="1357290" y="214290"/>
            <a:ext cx="70230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chemeClr val="accent2">
                    <a:lumMod val="50000"/>
                  </a:schemeClr>
                </a:solidFill>
                <a:latin typeface="方正超粗黑简体" pitchFamily="65" charset="-122"/>
                <a:ea typeface="方正超粗黑简体" pitchFamily="65" charset="-122"/>
              </a:rPr>
              <a:t>第十三讲 动词的时和体（一）</a:t>
            </a:r>
          </a:p>
        </p:txBody>
      </p:sp>
      <p:grpSp>
        <p:nvGrpSpPr>
          <p:cNvPr id="239" name="组合 238"/>
          <p:cNvGrpSpPr/>
          <p:nvPr/>
        </p:nvGrpSpPr>
        <p:grpSpPr>
          <a:xfrm>
            <a:off x="3007800" y="3778906"/>
            <a:ext cx="3128400" cy="553998"/>
            <a:chOff x="3006000" y="3778906"/>
            <a:chExt cx="3128400" cy="55399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8" name="矩形 127"/>
            <p:cNvSpPr/>
            <p:nvPr/>
          </p:nvSpPr>
          <p:spPr>
            <a:xfrm>
              <a:off x="3006000" y="3895047"/>
              <a:ext cx="2160000" cy="36000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93" name="折角形 192"/>
            <p:cNvSpPr/>
            <p:nvPr/>
          </p:nvSpPr>
          <p:spPr>
            <a:xfrm>
              <a:off x="3686400" y="3823047"/>
              <a:ext cx="2448000" cy="504000"/>
            </a:xfrm>
            <a:prstGeom prst="foldedCorner">
              <a:avLst>
                <a:gd name="adj" fmla="val 39463"/>
              </a:avLst>
            </a:prstGeom>
            <a:solidFill>
              <a:srgbClr val="C04A5A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29" name="圆角矩形 128"/>
            <p:cNvSpPr/>
            <p:nvPr/>
          </p:nvSpPr>
          <p:spPr>
            <a:xfrm>
              <a:off x="3096000" y="3823047"/>
              <a:ext cx="2160000" cy="504000"/>
            </a:xfrm>
            <a:prstGeom prst="roundRect">
              <a:avLst/>
            </a:prstGeom>
            <a:solidFill>
              <a:srgbClr val="C04A5A"/>
            </a:solidFill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438000" y="3778906"/>
              <a:ext cx="250260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000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专四真题链接</a:t>
              </a:r>
              <a:endParaRPr lang="en-US" sz="3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  <p:grpSp>
          <p:nvGrpSpPr>
            <p:cNvPr id="136" name="组合 24"/>
            <p:cNvGrpSpPr/>
            <p:nvPr/>
          </p:nvGrpSpPr>
          <p:grpSpPr>
            <a:xfrm>
              <a:off x="3066166" y="3949047"/>
              <a:ext cx="360005" cy="252000"/>
              <a:chOff x="6203972" y="2928934"/>
              <a:chExt cx="431281" cy="252000"/>
            </a:xfrm>
          </p:grpSpPr>
          <p:sp>
            <p:nvSpPr>
              <p:cNvPr id="137" name="燕尾形 136"/>
              <p:cNvSpPr/>
              <p:nvPr/>
            </p:nvSpPr>
            <p:spPr>
              <a:xfrm flipH="1">
                <a:off x="6203978" y="2928934"/>
                <a:ext cx="431275" cy="252000"/>
              </a:xfrm>
              <a:prstGeom prst="chevron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8" name="矩形 137"/>
              <p:cNvSpPr/>
              <p:nvPr/>
            </p:nvSpPr>
            <p:spPr>
              <a:xfrm flipH="1">
                <a:off x="6203972" y="2928934"/>
                <a:ext cx="215638" cy="2520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36" name="组合 235"/>
          <p:cNvGrpSpPr/>
          <p:nvPr/>
        </p:nvGrpSpPr>
        <p:grpSpPr>
          <a:xfrm>
            <a:off x="3007800" y="1303366"/>
            <a:ext cx="3128400" cy="553998"/>
            <a:chOff x="3006000" y="1303366"/>
            <a:chExt cx="3128400" cy="55399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9" name="矩形 138"/>
            <p:cNvSpPr/>
            <p:nvPr/>
          </p:nvSpPr>
          <p:spPr>
            <a:xfrm>
              <a:off x="3006000" y="1419507"/>
              <a:ext cx="2160000" cy="36000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40" name="圆角矩形 139"/>
            <p:cNvSpPr/>
            <p:nvPr/>
          </p:nvSpPr>
          <p:spPr>
            <a:xfrm>
              <a:off x="3096000" y="1347507"/>
              <a:ext cx="2160000" cy="504000"/>
            </a:xfrm>
            <a:prstGeom prst="roundRect">
              <a:avLst/>
            </a:prstGeom>
            <a:solidFill>
              <a:srgbClr val="C04A5A"/>
            </a:solidFill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79" name="折角形 178"/>
            <p:cNvSpPr/>
            <p:nvPr/>
          </p:nvSpPr>
          <p:spPr>
            <a:xfrm>
              <a:off x="3686400" y="1347507"/>
              <a:ext cx="2448000" cy="504000"/>
            </a:xfrm>
            <a:prstGeom prst="foldedCorner">
              <a:avLst>
                <a:gd name="adj" fmla="val 39463"/>
              </a:avLst>
            </a:prstGeom>
            <a:solidFill>
              <a:srgbClr val="C04A5A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grpSp>
          <p:nvGrpSpPr>
            <p:cNvPr id="141" name="组合 24"/>
            <p:cNvGrpSpPr/>
            <p:nvPr/>
          </p:nvGrpSpPr>
          <p:grpSpPr>
            <a:xfrm>
              <a:off x="3066166" y="1473507"/>
              <a:ext cx="360005" cy="252000"/>
              <a:chOff x="6203972" y="2928934"/>
              <a:chExt cx="431281" cy="252000"/>
            </a:xfrm>
          </p:grpSpPr>
          <p:sp>
            <p:nvSpPr>
              <p:cNvPr id="142" name="燕尾形 141"/>
              <p:cNvSpPr/>
              <p:nvPr/>
            </p:nvSpPr>
            <p:spPr>
              <a:xfrm flipH="1">
                <a:off x="6203978" y="2928934"/>
                <a:ext cx="431275" cy="252000"/>
              </a:xfrm>
              <a:prstGeom prst="chevron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矩形 142"/>
              <p:cNvSpPr/>
              <p:nvPr/>
            </p:nvSpPr>
            <p:spPr>
              <a:xfrm flipH="1">
                <a:off x="6203972" y="2928934"/>
                <a:ext cx="215638" cy="2520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7" name="TextBox 146"/>
            <p:cNvSpPr txBox="1"/>
            <p:nvPr/>
          </p:nvSpPr>
          <p:spPr>
            <a:xfrm>
              <a:off x="3824324" y="1303366"/>
              <a:ext cx="172996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内容导图</a:t>
              </a:r>
              <a:endParaRPr lang="en-US" sz="3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237" name="组合 236"/>
          <p:cNvGrpSpPr/>
          <p:nvPr/>
        </p:nvGrpSpPr>
        <p:grpSpPr>
          <a:xfrm>
            <a:off x="3007800" y="2128546"/>
            <a:ext cx="3128400" cy="553998"/>
            <a:chOff x="3006000" y="2128546"/>
            <a:chExt cx="3128400" cy="55399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3" name="矩形 102"/>
            <p:cNvSpPr/>
            <p:nvPr/>
          </p:nvSpPr>
          <p:spPr>
            <a:xfrm>
              <a:off x="3006000" y="2244687"/>
              <a:ext cx="2160000" cy="36000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04" name="圆角矩形 103"/>
            <p:cNvSpPr/>
            <p:nvPr/>
          </p:nvSpPr>
          <p:spPr>
            <a:xfrm>
              <a:off x="3096000" y="2172687"/>
              <a:ext cx="2160000" cy="504000"/>
            </a:xfrm>
            <a:prstGeom prst="roundRect">
              <a:avLst/>
            </a:prstGeom>
            <a:solidFill>
              <a:srgbClr val="C04A5A"/>
            </a:solidFill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90" name="折角形 189"/>
            <p:cNvSpPr/>
            <p:nvPr/>
          </p:nvSpPr>
          <p:spPr>
            <a:xfrm>
              <a:off x="3686400" y="2172687"/>
              <a:ext cx="2448000" cy="504000"/>
            </a:xfrm>
            <a:prstGeom prst="foldedCorner">
              <a:avLst>
                <a:gd name="adj" fmla="val 39463"/>
              </a:avLst>
            </a:prstGeom>
            <a:solidFill>
              <a:srgbClr val="C04A5A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grpSp>
          <p:nvGrpSpPr>
            <p:cNvPr id="120" name="组合 24"/>
            <p:cNvGrpSpPr/>
            <p:nvPr/>
          </p:nvGrpSpPr>
          <p:grpSpPr>
            <a:xfrm>
              <a:off x="3066166" y="2298687"/>
              <a:ext cx="360005" cy="252000"/>
              <a:chOff x="6203972" y="2928934"/>
              <a:chExt cx="431281" cy="252000"/>
            </a:xfrm>
          </p:grpSpPr>
          <p:sp>
            <p:nvSpPr>
              <p:cNvPr id="121" name="燕尾形 120"/>
              <p:cNvSpPr/>
              <p:nvPr/>
            </p:nvSpPr>
            <p:spPr>
              <a:xfrm flipH="1">
                <a:off x="6203978" y="2928934"/>
                <a:ext cx="431275" cy="252000"/>
              </a:xfrm>
              <a:prstGeom prst="chevron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矩形 121"/>
              <p:cNvSpPr/>
              <p:nvPr/>
            </p:nvSpPr>
            <p:spPr>
              <a:xfrm flipH="1">
                <a:off x="6203972" y="2928934"/>
                <a:ext cx="215638" cy="2520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9" name="TextBox 148"/>
            <p:cNvSpPr txBox="1"/>
            <p:nvPr/>
          </p:nvSpPr>
          <p:spPr>
            <a:xfrm>
              <a:off x="3824324" y="2128546"/>
              <a:ext cx="172996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学习目标</a:t>
              </a:r>
              <a:endParaRPr lang="en-US" sz="3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238" name="组合 237"/>
          <p:cNvGrpSpPr/>
          <p:nvPr/>
        </p:nvGrpSpPr>
        <p:grpSpPr>
          <a:xfrm>
            <a:off x="3007800" y="2953726"/>
            <a:ext cx="3128400" cy="553998"/>
            <a:chOff x="3006000" y="2953726"/>
            <a:chExt cx="3128400" cy="55399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7" name="矩形 96"/>
            <p:cNvSpPr/>
            <p:nvPr/>
          </p:nvSpPr>
          <p:spPr>
            <a:xfrm>
              <a:off x="3006000" y="3069867"/>
              <a:ext cx="2160000" cy="36000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95" name="圆角矩形 94"/>
            <p:cNvSpPr/>
            <p:nvPr/>
          </p:nvSpPr>
          <p:spPr>
            <a:xfrm>
              <a:off x="3096000" y="2997867"/>
              <a:ext cx="2160000" cy="504000"/>
            </a:xfrm>
            <a:prstGeom prst="roundRect">
              <a:avLst/>
            </a:prstGeom>
            <a:solidFill>
              <a:srgbClr val="C04A5A"/>
            </a:solidFill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91" name="折角形 190"/>
            <p:cNvSpPr/>
            <p:nvPr/>
          </p:nvSpPr>
          <p:spPr>
            <a:xfrm>
              <a:off x="3686400" y="2997867"/>
              <a:ext cx="2448000" cy="504000"/>
            </a:xfrm>
            <a:prstGeom prst="foldedCorner">
              <a:avLst>
                <a:gd name="adj" fmla="val 39463"/>
              </a:avLst>
            </a:prstGeom>
            <a:solidFill>
              <a:srgbClr val="C04A5A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grpSp>
          <p:nvGrpSpPr>
            <p:cNvPr id="99" name="组合 24"/>
            <p:cNvGrpSpPr/>
            <p:nvPr/>
          </p:nvGrpSpPr>
          <p:grpSpPr>
            <a:xfrm>
              <a:off x="3066166" y="3123867"/>
              <a:ext cx="360005" cy="252000"/>
              <a:chOff x="6203972" y="2928934"/>
              <a:chExt cx="431281" cy="252000"/>
            </a:xfrm>
          </p:grpSpPr>
          <p:sp>
            <p:nvSpPr>
              <p:cNvPr id="102" name="燕尾形 101"/>
              <p:cNvSpPr/>
              <p:nvPr/>
            </p:nvSpPr>
            <p:spPr>
              <a:xfrm flipH="1">
                <a:off x="6203978" y="2928934"/>
                <a:ext cx="431275" cy="252000"/>
              </a:xfrm>
              <a:prstGeom prst="chevron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矩形 100"/>
              <p:cNvSpPr/>
              <p:nvPr/>
            </p:nvSpPr>
            <p:spPr>
              <a:xfrm flipH="1">
                <a:off x="6203972" y="2928934"/>
                <a:ext cx="215638" cy="2520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7" name="TextBox 206"/>
            <p:cNvSpPr txBox="1"/>
            <p:nvPr/>
          </p:nvSpPr>
          <p:spPr>
            <a:xfrm>
              <a:off x="3631162" y="2953726"/>
              <a:ext cx="211628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重难点解析</a:t>
              </a:r>
              <a:endParaRPr lang="en-US" sz="3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240" name="组合 239"/>
          <p:cNvGrpSpPr/>
          <p:nvPr/>
        </p:nvGrpSpPr>
        <p:grpSpPr>
          <a:xfrm>
            <a:off x="3007800" y="4604086"/>
            <a:ext cx="3128400" cy="553998"/>
            <a:chOff x="3006000" y="4604086"/>
            <a:chExt cx="3128400" cy="55399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1" name="矩形 150"/>
            <p:cNvSpPr/>
            <p:nvPr/>
          </p:nvSpPr>
          <p:spPr>
            <a:xfrm>
              <a:off x="3006000" y="4720227"/>
              <a:ext cx="2160000" cy="36000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53" name="圆角矩形 152"/>
            <p:cNvSpPr/>
            <p:nvPr/>
          </p:nvSpPr>
          <p:spPr>
            <a:xfrm>
              <a:off x="3096000" y="4648227"/>
              <a:ext cx="2160000" cy="504000"/>
            </a:xfrm>
            <a:prstGeom prst="roundRect">
              <a:avLst/>
            </a:prstGeom>
            <a:solidFill>
              <a:srgbClr val="C04A5A"/>
            </a:solidFill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94" name="折角形 193"/>
            <p:cNvSpPr/>
            <p:nvPr/>
          </p:nvSpPr>
          <p:spPr>
            <a:xfrm>
              <a:off x="3686400" y="4648227"/>
              <a:ext cx="2448000" cy="504000"/>
            </a:xfrm>
            <a:prstGeom prst="foldedCorner">
              <a:avLst>
                <a:gd name="adj" fmla="val 39463"/>
              </a:avLst>
            </a:prstGeom>
            <a:solidFill>
              <a:srgbClr val="C04A5A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grpSp>
          <p:nvGrpSpPr>
            <p:cNvPr id="154" name="组合 24"/>
            <p:cNvGrpSpPr/>
            <p:nvPr/>
          </p:nvGrpSpPr>
          <p:grpSpPr>
            <a:xfrm>
              <a:off x="3066166" y="4774227"/>
              <a:ext cx="360005" cy="252000"/>
              <a:chOff x="6203972" y="2928934"/>
              <a:chExt cx="431281" cy="252000"/>
            </a:xfrm>
          </p:grpSpPr>
          <p:sp>
            <p:nvSpPr>
              <p:cNvPr id="155" name="燕尾形 154"/>
              <p:cNvSpPr/>
              <p:nvPr/>
            </p:nvSpPr>
            <p:spPr>
              <a:xfrm flipH="1">
                <a:off x="6203978" y="2928934"/>
                <a:ext cx="431275" cy="252000"/>
              </a:xfrm>
              <a:prstGeom prst="chevron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6" name="矩形 155"/>
              <p:cNvSpPr/>
              <p:nvPr/>
            </p:nvSpPr>
            <p:spPr>
              <a:xfrm flipH="1">
                <a:off x="6203972" y="2928934"/>
                <a:ext cx="215638" cy="2520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6" name="TextBox 165"/>
            <p:cNvSpPr txBox="1"/>
            <p:nvPr/>
          </p:nvSpPr>
          <p:spPr>
            <a:xfrm>
              <a:off x="3824324" y="4604086"/>
              <a:ext cx="172996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本讲总结</a:t>
              </a:r>
              <a:endParaRPr lang="en-US" sz="3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3007800" y="5429264"/>
            <a:ext cx="3128400" cy="553998"/>
            <a:chOff x="3006000" y="5429264"/>
            <a:chExt cx="3128400" cy="55399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8" name="矩形 157"/>
            <p:cNvSpPr/>
            <p:nvPr/>
          </p:nvSpPr>
          <p:spPr>
            <a:xfrm>
              <a:off x="3006000" y="5545405"/>
              <a:ext cx="2160000" cy="36000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60" name="圆角矩形 159"/>
            <p:cNvSpPr/>
            <p:nvPr/>
          </p:nvSpPr>
          <p:spPr>
            <a:xfrm>
              <a:off x="3096000" y="5473405"/>
              <a:ext cx="2160000" cy="504000"/>
            </a:xfrm>
            <a:prstGeom prst="roundRect">
              <a:avLst/>
            </a:prstGeom>
            <a:solidFill>
              <a:srgbClr val="C04A5A"/>
            </a:solidFill>
            <a:effectLst/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95" name="折角形 194"/>
            <p:cNvSpPr/>
            <p:nvPr/>
          </p:nvSpPr>
          <p:spPr>
            <a:xfrm>
              <a:off x="3686400" y="5473405"/>
              <a:ext cx="2448000" cy="504000"/>
            </a:xfrm>
            <a:prstGeom prst="foldedCorner">
              <a:avLst>
                <a:gd name="adj" fmla="val 39463"/>
              </a:avLst>
            </a:prstGeom>
            <a:solidFill>
              <a:srgbClr val="C04A5A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grpSp>
          <p:nvGrpSpPr>
            <p:cNvPr id="162" name="组合 24"/>
            <p:cNvGrpSpPr/>
            <p:nvPr/>
          </p:nvGrpSpPr>
          <p:grpSpPr>
            <a:xfrm>
              <a:off x="3066166" y="5599405"/>
              <a:ext cx="360005" cy="252000"/>
              <a:chOff x="6203972" y="2928934"/>
              <a:chExt cx="431281" cy="252000"/>
            </a:xfrm>
          </p:grpSpPr>
          <p:sp>
            <p:nvSpPr>
              <p:cNvPr id="163" name="燕尾形 162"/>
              <p:cNvSpPr/>
              <p:nvPr/>
            </p:nvSpPr>
            <p:spPr>
              <a:xfrm flipH="1">
                <a:off x="6203978" y="2928934"/>
                <a:ext cx="431275" cy="252000"/>
              </a:xfrm>
              <a:prstGeom prst="chevron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矩形 163"/>
              <p:cNvSpPr/>
              <p:nvPr/>
            </p:nvSpPr>
            <p:spPr>
              <a:xfrm flipH="1">
                <a:off x="6203972" y="2928934"/>
                <a:ext cx="215638" cy="2520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7" name="TextBox 166"/>
            <p:cNvSpPr txBox="1"/>
            <p:nvPr/>
          </p:nvSpPr>
          <p:spPr>
            <a:xfrm>
              <a:off x="3824324" y="5429264"/>
              <a:ext cx="172996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练习精讲</a:t>
              </a:r>
              <a:endParaRPr lang="en-US" sz="30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</p:grpSp>
      <p:sp>
        <p:nvSpPr>
          <p:cNvPr id="133" name="平行四边形 132">
            <a:hlinkClick r:id="rId3" action="ppaction://hlinksldjump"/>
          </p:cNvPr>
          <p:cNvSpPr/>
          <p:nvPr/>
        </p:nvSpPr>
        <p:spPr>
          <a:xfrm>
            <a:off x="3007800" y="2998800"/>
            <a:ext cx="3128400" cy="540000"/>
          </a:xfrm>
          <a:prstGeom prst="parallelogram">
            <a:avLst>
              <a:gd name="adj" fmla="val 33203"/>
            </a:avLst>
          </a:prstGeom>
          <a:solidFill>
            <a:srgbClr val="FFFFFF">
              <a:alpha val="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134" name="平行四边形 133">
            <a:hlinkClick r:id="rId4" action="ppaction://hlinksldjump"/>
          </p:cNvPr>
          <p:cNvSpPr/>
          <p:nvPr/>
        </p:nvSpPr>
        <p:spPr>
          <a:xfrm>
            <a:off x="3007800" y="3826800"/>
            <a:ext cx="3128400" cy="540000"/>
          </a:xfrm>
          <a:prstGeom prst="parallelogram">
            <a:avLst>
              <a:gd name="adj" fmla="val 33203"/>
            </a:avLst>
          </a:prstGeom>
          <a:solidFill>
            <a:srgbClr val="FFFFFF">
              <a:alpha val="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135" name="平行四边形 134">
            <a:hlinkClick r:id="rId5" action="ppaction://hlinksldjump"/>
          </p:cNvPr>
          <p:cNvSpPr/>
          <p:nvPr/>
        </p:nvSpPr>
        <p:spPr>
          <a:xfrm>
            <a:off x="3007800" y="4651200"/>
            <a:ext cx="3128400" cy="540000"/>
          </a:xfrm>
          <a:prstGeom prst="parallelogram">
            <a:avLst>
              <a:gd name="adj" fmla="val 33203"/>
            </a:avLst>
          </a:prstGeom>
          <a:solidFill>
            <a:srgbClr val="FFFFFF">
              <a:alpha val="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260" name="平行四边形 259">
            <a:hlinkClick r:id="rId6" action="ppaction://hlinksldjump"/>
          </p:cNvPr>
          <p:cNvSpPr/>
          <p:nvPr/>
        </p:nvSpPr>
        <p:spPr>
          <a:xfrm>
            <a:off x="3007800" y="5472000"/>
            <a:ext cx="3128400" cy="540000"/>
          </a:xfrm>
          <a:prstGeom prst="parallelogram">
            <a:avLst>
              <a:gd name="adj" fmla="val 33203"/>
            </a:avLst>
          </a:prstGeom>
          <a:solidFill>
            <a:srgbClr val="FFFFFF">
              <a:alpha val="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b="1" dirty="0">
              <a:solidFill>
                <a:schemeClr val="bg1"/>
              </a:solidFill>
              <a:latin typeface="Cambria" pitchFamily="18" charset="0"/>
            </a:endParaRPr>
          </a:p>
        </p:txBody>
      </p:sp>
      <p:sp>
        <p:nvSpPr>
          <p:cNvPr id="131" name="平行四边形 130">
            <a:hlinkClick r:id="rId7" action="ppaction://hlinksldjump"/>
          </p:cNvPr>
          <p:cNvSpPr/>
          <p:nvPr/>
        </p:nvSpPr>
        <p:spPr>
          <a:xfrm>
            <a:off x="3007800" y="1342800"/>
            <a:ext cx="3128400" cy="540000"/>
          </a:xfrm>
          <a:prstGeom prst="parallelogram">
            <a:avLst>
              <a:gd name="adj" fmla="val 33203"/>
            </a:avLst>
          </a:prstGeom>
          <a:solidFill>
            <a:srgbClr val="FFFFFF">
              <a:alpha val="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2" name="平行四边形 131">
            <a:hlinkClick r:id="rId8" action="ppaction://hlinksldjump"/>
          </p:cNvPr>
          <p:cNvSpPr/>
          <p:nvPr/>
        </p:nvSpPr>
        <p:spPr>
          <a:xfrm>
            <a:off x="3007800" y="2170800"/>
            <a:ext cx="3128400" cy="540000"/>
          </a:xfrm>
          <a:prstGeom prst="parallelogram">
            <a:avLst>
              <a:gd name="adj" fmla="val 33203"/>
            </a:avLst>
          </a:prstGeom>
          <a:solidFill>
            <a:srgbClr val="FFFFFF">
              <a:alpha val="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400" b="1" dirty="0">
              <a:solidFill>
                <a:schemeClr val="bg1"/>
              </a:solidFill>
              <a:latin typeface="Cambria" pitchFamily="18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组合 253"/>
          <p:cNvGrpSpPr/>
          <p:nvPr/>
        </p:nvGrpSpPr>
        <p:grpSpPr>
          <a:xfrm>
            <a:off x="7500959" y="3984672"/>
            <a:ext cx="1393706" cy="658774"/>
            <a:chOff x="7500959" y="3984672"/>
            <a:chExt cx="1393706" cy="658774"/>
          </a:xfrm>
        </p:grpSpPr>
        <p:cxnSp>
          <p:nvCxnSpPr>
            <p:cNvPr id="149" name="直接连接符 148"/>
            <p:cNvCxnSpPr/>
            <p:nvPr/>
          </p:nvCxnSpPr>
          <p:spPr>
            <a:xfrm rot="10800000" flipH="1" flipV="1">
              <a:off x="7500959" y="4324928"/>
              <a:ext cx="285752" cy="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4" name="组合 213"/>
            <p:cNvGrpSpPr/>
            <p:nvPr/>
          </p:nvGrpSpPr>
          <p:grpSpPr>
            <a:xfrm>
              <a:off x="7720038" y="3984672"/>
              <a:ext cx="1174627" cy="658774"/>
              <a:chOff x="7720038" y="3984672"/>
              <a:chExt cx="1174627" cy="658774"/>
            </a:xfrm>
          </p:grpSpPr>
          <p:grpSp>
            <p:nvGrpSpPr>
              <p:cNvPr id="337" name="组合 295"/>
              <p:cNvGrpSpPr/>
              <p:nvPr/>
            </p:nvGrpSpPr>
            <p:grpSpPr>
              <a:xfrm>
                <a:off x="7720038" y="4127548"/>
                <a:ext cx="285752" cy="396000"/>
                <a:chOff x="6786578" y="1071546"/>
                <a:chExt cx="285752" cy="428628"/>
              </a:xfrm>
            </p:grpSpPr>
            <p:sp>
              <p:nvSpPr>
                <p:cNvPr id="362" name="右中括号 361"/>
                <p:cNvSpPr/>
                <p:nvPr/>
              </p:nvSpPr>
              <p:spPr>
                <a:xfrm flipH="1">
                  <a:off x="6858016" y="1071546"/>
                  <a:ext cx="214314" cy="428628"/>
                </a:xfrm>
                <a:prstGeom prst="rightBracket">
                  <a:avLst>
                    <a:gd name="adj" fmla="val 73289"/>
                  </a:avLst>
                </a:prstGeom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363" name="组合 257"/>
                <p:cNvGrpSpPr/>
                <p:nvPr/>
              </p:nvGrpSpPr>
              <p:grpSpPr>
                <a:xfrm flipH="1">
                  <a:off x="6786578" y="1225846"/>
                  <a:ext cx="120028" cy="120028"/>
                  <a:chOff x="500034" y="5000636"/>
                  <a:chExt cx="671506" cy="671506"/>
                </a:xfrm>
              </p:grpSpPr>
              <p:sp>
                <p:nvSpPr>
                  <p:cNvPr id="364" name="流程图: 联系 363"/>
                  <p:cNvSpPr/>
                  <p:nvPr/>
                </p:nvSpPr>
                <p:spPr>
                  <a:xfrm>
                    <a:off x="500034" y="5000636"/>
                    <a:ext cx="671506" cy="671506"/>
                  </a:xfrm>
                  <a:prstGeom prst="flowChartConnector">
                    <a:avLst/>
                  </a:prstGeom>
                  <a:solidFill>
                    <a:srgbClr val="742A4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65" name="流程图: 联系 364"/>
                  <p:cNvSpPr/>
                  <p:nvPr/>
                </p:nvSpPr>
                <p:spPr>
                  <a:xfrm>
                    <a:off x="688156" y="5188758"/>
                    <a:ext cx="295262" cy="295262"/>
                  </a:xfrm>
                  <a:prstGeom prst="flowChartConnector">
                    <a:avLst/>
                  </a:prstGeom>
                  <a:solidFill>
                    <a:srgbClr val="FEFED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grpSp>
            <p:nvGrpSpPr>
              <p:cNvPr id="203" name="组合 107"/>
              <p:cNvGrpSpPr/>
              <p:nvPr/>
            </p:nvGrpSpPr>
            <p:grpSpPr>
              <a:xfrm>
                <a:off x="7845980" y="3984672"/>
                <a:ext cx="1048685" cy="326985"/>
                <a:chOff x="384158" y="986400"/>
                <a:chExt cx="1048685" cy="326985"/>
              </a:xfrm>
            </p:grpSpPr>
            <p:sp>
              <p:nvSpPr>
                <p:cNvPr id="210" name="圆角矩形 209"/>
                <p:cNvSpPr>
                  <a:spLocks/>
                </p:cNvSpPr>
                <p:nvPr/>
              </p:nvSpPr>
              <p:spPr>
                <a:xfrm>
                  <a:off x="391850" y="1025385"/>
                  <a:ext cx="1008000" cy="288000"/>
                </a:xfrm>
                <a:prstGeom prst="roundRect">
                  <a:avLst>
                    <a:gd name="adj" fmla="val 27069"/>
                  </a:avLst>
                </a:prstGeom>
                <a:solidFill>
                  <a:srgbClr val="742A48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1" name="TextBox 210"/>
                <p:cNvSpPr txBox="1"/>
                <p:nvPr/>
              </p:nvSpPr>
              <p:spPr>
                <a:xfrm>
                  <a:off x="384158" y="986400"/>
                  <a:ext cx="104868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spc="-100" dirty="0" smtClean="0">
                      <a:solidFill>
                        <a:schemeClr val="bg1"/>
                      </a:solidFill>
                    </a:rPr>
                    <a:t>婉转口气 </a:t>
                  </a:r>
                  <a:r>
                    <a:rPr lang="en-US" altLang="en-US" sz="1200" b="1" spc="-100" dirty="0" smtClean="0">
                      <a:solidFill>
                        <a:srgbClr val="FFFF00"/>
                      </a:solidFill>
                    </a:rPr>
                    <a:t>P142</a:t>
                  </a:r>
                  <a:endParaRPr lang="zh-CN" altLang="en-US" sz="1200" b="1" spc="-100" dirty="0" smtClean="0">
                    <a:solidFill>
                      <a:srgbClr val="FFFF00"/>
                    </a:solidFill>
                  </a:endParaRPr>
                </a:p>
              </p:txBody>
            </p:sp>
          </p:grpSp>
          <p:grpSp>
            <p:nvGrpSpPr>
              <p:cNvPr id="204" name="组合 110"/>
              <p:cNvGrpSpPr/>
              <p:nvPr/>
            </p:nvGrpSpPr>
            <p:grpSpPr>
              <a:xfrm>
                <a:off x="7845980" y="4316461"/>
                <a:ext cx="1048685" cy="326985"/>
                <a:chOff x="384158" y="986400"/>
                <a:chExt cx="1048685" cy="326985"/>
              </a:xfrm>
            </p:grpSpPr>
            <p:sp>
              <p:nvSpPr>
                <p:cNvPr id="208" name="圆角矩形 207"/>
                <p:cNvSpPr>
                  <a:spLocks/>
                </p:cNvSpPr>
                <p:nvPr/>
              </p:nvSpPr>
              <p:spPr>
                <a:xfrm>
                  <a:off x="391850" y="1025385"/>
                  <a:ext cx="1008000" cy="288000"/>
                </a:xfrm>
                <a:prstGeom prst="roundRect">
                  <a:avLst>
                    <a:gd name="adj" fmla="val 27069"/>
                  </a:avLst>
                </a:prstGeom>
                <a:solidFill>
                  <a:srgbClr val="742A48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09" name="TextBox 208"/>
                <p:cNvSpPr txBox="1"/>
                <p:nvPr/>
              </p:nvSpPr>
              <p:spPr>
                <a:xfrm>
                  <a:off x="384158" y="986400"/>
                  <a:ext cx="104868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spc="-100" dirty="0" smtClean="0">
                      <a:solidFill>
                        <a:schemeClr val="bg1"/>
                      </a:solidFill>
                    </a:rPr>
                    <a:t>主观臆想 </a:t>
                  </a:r>
                  <a:r>
                    <a:rPr lang="en-US" altLang="en-US" sz="1200" b="1" spc="-100" dirty="0" smtClean="0">
                      <a:solidFill>
                        <a:srgbClr val="FFFF00"/>
                      </a:solidFill>
                    </a:rPr>
                    <a:t>P142</a:t>
                  </a:r>
                  <a:endParaRPr lang="zh-CN" altLang="en-US" sz="1200" b="1" spc="-100" dirty="0" smtClean="0">
                    <a:solidFill>
                      <a:srgbClr val="FFFF00"/>
                    </a:solidFill>
                  </a:endParaRPr>
                </a:p>
              </p:txBody>
            </p:sp>
          </p:grpSp>
        </p:grpSp>
      </p:grpSp>
      <p:grpSp>
        <p:nvGrpSpPr>
          <p:cNvPr id="250" name="组合 249"/>
          <p:cNvGrpSpPr/>
          <p:nvPr/>
        </p:nvGrpSpPr>
        <p:grpSpPr>
          <a:xfrm>
            <a:off x="374092" y="1357298"/>
            <a:ext cx="1973009" cy="737824"/>
            <a:chOff x="374092" y="1357298"/>
            <a:chExt cx="1973009" cy="737824"/>
          </a:xfrm>
        </p:grpSpPr>
        <p:sp>
          <p:nvSpPr>
            <p:cNvPr id="136" name="右中括号 135"/>
            <p:cNvSpPr/>
            <p:nvPr/>
          </p:nvSpPr>
          <p:spPr>
            <a:xfrm>
              <a:off x="1906188" y="1512000"/>
              <a:ext cx="214314" cy="428628"/>
            </a:xfrm>
            <a:prstGeom prst="rightBracket">
              <a:avLst>
                <a:gd name="adj" fmla="val 73289"/>
              </a:avLst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7" name="直接连接符 136"/>
            <p:cNvCxnSpPr/>
            <p:nvPr/>
          </p:nvCxnSpPr>
          <p:spPr>
            <a:xfrm>
              <a:off x="2095101" y="1714488"/>
              <a:ext cx="252000" cy="25200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8" name="组合 178"/>
            <p:cNvGrpSpPr/>
            <p:nvPr/>
          </p:nvGrpSpPr>
          <p:grpSpPr>
            <a:xfrm>
              <a:off x="374092" y="1357298"/>
              <a:ext cx="1699692" cy="737824"/>
              <a:chOff x="500034" y="1357298"/>
              <a:chExt cx="1699692" cy="737824"/>
            </a:xfrm>
          </p:grpSpPr>
          <p:grpSp>
            <p:nvGrpSpPr>
              <p:cNvPr id="142" name="组合 84"/>
              <p:cNvGrpSpPr/>
              <p:nvPr/>
            </p:nvGrpSpPr>
            <p:grpSpPr>
              <a:xfrm>
                <a:off x="500034" y="1357298"/>
                <a:ext cx="1699692" cy="326985"/>
                <a:chOff x="384158" y="986400"/>
                <a:chExt cx="1699692" cy="326985"/>
              </a:xfrm>
            </p:grpSpPr>
            <p:sp>
              <p:nvSpPr>
                <p:cNvPr id="146" name="圆角矩形 145"/>
                <p:cNvSpPr>
                  <a:spLocks/>
                </p:cNvSpPr>
                <p:nvPr/>
              </p:nvSpPr>
              <p:spPr>
                <a:xfrm>
                  <a:off x="391850" y="1025385"/>
                  <a:ext cx="1692000" cy="288000"/>
                </a:xfrm>
                <a:prstGeom prst="roundRect">
                  <a:avLst>
                    <a:gd name="adj" fmla="val 27069"/>
                  </a:avLst>
                </a:prstGeom>
                <a:solidFill>
                  <a:srgbClr val="8B307D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7" name="TextBox 146"/>
                <p:cNvSpPr txBox="1"/>
                <p:nvPr/>
              </p:nvSpPr>
              <p:spPr>
                <a:xfrm>
                  <a:off x="384158" y="986400"/>
                  <a:ext cx="132600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</a:rPr>
                    <a:t>什么是时 </a:t>
                  </a:r>
                  <a:r>
                    <a:rPr lang="en-US" sz="1400" b="1" dirty="0" smtClean="0">
                      <a:solidFill>
                        <a:srgbClr val="FFFF00"/>
                      </a:solidFill>
                    </a:rPr>
                    <a:t>P132</a:t>
                  </a:r>
                  <a:endParaRPr lang="zh-CN" altLang="en-US" sz="1400" b="1" dirty="0">
                    <a:solidFill>
                      <a:srgbClr val="FFFF00"/>
                    </a:solidFill>
                  </a:endParaRPr>
                </a:p>
              </p:txBody>
            </p:sp>
          </p:grpSp>
          <p:grpSp>
            <p:nvGrpSpPr>
              <p:cNvPr id="143" name="组合 86"/>
              <p:cNvGrpSpPr/>
              <p:nvPr/>
            </p:nvGrpSpPr>
            <p:grpSpPr>
              <a:xfrm>
                <a:off x="500034" y="1768137"/>
                <a:ext cx="1699692" cy="326985"/>
                <a:chOff x="384158" y="986400"/>
                <a:chExt cx="1699692" cy="326985"/>
              </a:xfrm>
            </p:grpSpPr>
            <p:sp>
              <p:nvSpPr>
                <p:cNvPr id="144" name="圆角矩形 143"/>
                <p:cNvSpPr>
                  <a:spLocks/>
                </p:cNvSpPr>
                <p:nvPr/>
              </p:nvSpPr>
              <p:spPr>
                <a:xfrm>
                  <a:off x="391850" y="1025385"/>
                  <a:ext cx="1692000" cy="288000"/>
                </a:xfrm>
                <a:prstGeom prst="roundRect">
                  <a:avLst>
                    <a:gd name="adj" fmla="val 27069"/>
                  </a:avLst>
                </a:prstGeom>
                <a:solidFill>
                  <a:srgbClr val="8B307D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" name="TextBox 144"/>
                <p:cNvSpPr txBox="1"/>
                <p:nvPr/>
              </p:nvSpPr>
              <p:spPr>
                <a:xfrm>
                  <a:off x="384158" y="986400"/>
                  <a:ext cx="132600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</a:rPr>
                    <a:t>什么是体 </a:t>
                  </a:r>
                  <a:r>
                    <a:rPr lang="en-US" altLang="en-US" sz="1400" b="1" dirty="0" smtClean="0">
                      <a:solidFill>
                        <a:srgbClr val="FFFF00"/>
                      </a:solidFill>
                    </a:rPr>
                    <a:t>P132</a:t>
                  </a:r>
                  <a:endParaRPr lang="zh-CN" altLang="en-US" sz="1400" b="1" dirty="0" smtClean="0">
                    <a:solidFill>
                      <a:srgbClr val="FFFF00"/>
                    </a:solidFill>
                  </a:endParaRPr>
                </a:p>
              </p:txBody>
            </p:sp>
          </p:grpSp>
        </p:grpSp>
        <p:grpSp>
          <p:nvGrpSpPr>
            <p:cNvPr id="139" name="组合 237"/>
            <p:cNvGrpSpPr/>
            <p:nvPr/>
          </p:nvGrpSpPr>
          <p:grpSpPr>
            <a:xfrm>
              <a:off x="2071912" y="1666300"/>
              <a:ext cx="120028" cy="120028"/>
              <a:chOff x="500034" y="5000636"/>
              <a:chExt cx="671506" cy="671506"/>
            </a:xfrm>
          </p:grpSpPr>
          <p:sp>
            <p:nvSpPr>
              <p:cNvPr id="140" name="流程图: 联系 139"/>
              <p:cNvSpPr/>
              <p:nvPr/>
            </p:nvSpPr>
            <p:spPr>
              <a:xfrm>
                <a:off x="500034" y="5000636"/>
                <a:ext cx="671506" cy="671506"/>
              </a:xfrm>
              <a:prstGeom prst="flowChartConnector">
                <a:avLst/>
              </a:prstGeom>
              <a:solidFill>
                <a:srgbClr val="742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流程图: 联系 140"/>
              <p:cNvSpPr/>
              <p:nvPr/>
            </p:nvSpPr>
            <p:spPr>
              <a:xfrm>
                <a:off x="688156" y="5188758"/>
                <a:ext cx="295262" cy="295262"/>
              </a:xfrm>
              <a:prstGeom prst="flowChartConnector">
                <a:avLst/>
              </a:prstGeom>
              <a:solidFill>
                <a:srgbClr val="FEFED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2" name="组合 251"/>
          <p:cNvGrpSpPr/>
          <p:nvPr/>
        </p:nvGrpSpPr>
        <p:grpSpPr>
          <a:xfrm>
            <a:off x="357158" y="2178976"/>
            <a:ext cx="2349381" cy="2248199"/>
            <a:chOff x="357158" y="2178976"/>
            <a:chExt cx="2349381" cy="2248199"/>
          </a:xfrm>
        </p:grpSpPr>
        <p:grpSp>
          <p:nvGrpSpPr>
            <p:cNvPr id="194" name="组合 193"/>
            <p:cNvGrpSpPr/>
            <p:nvPr/>
          </p:nvGrpSpPr>
          <p:grpSpPr>
            <a:xfrm>
              <a:off x="1651509" y="2413747"/>
              <a:ext cx="1055030" cy="1872000"/>
              <a:chOff x="1842392" y="2413747"/>
              <a:chExt cx="1055030" cy="1872000"/>
            </a:xfrm>
          </p:grpSpPr>
          <p:cxnSp>
            <p:nvCxnSpPr>
              <p:cNvPr id="180" name="直接连接符 179"/>
              <p:cNvCxnSpPr/>
              <p:nvPr/>
            </p:nvCxnSpPr>
            <p:spPr>
              <a:xfrm>
                <a:off x="2357422" y="3352714"/>
                <a:ext cx="540000" cy="360000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右中括号 180"/>
              <p:cNvSpPr/>
              <p:nvPr/>
            </p:nvSpPr>
            <p:spPr>
              <a:xfrm>
                <a:off x="2128144" y="2413747"/>
                <a:ext cx="214314" cy="1872000"/>
              </a:xfrm>
              <a:prstGeom prst="rightBracket">
                <a:avLst>
                  <a:gd name="adj" fmla="val 70326"/>
                </a:avLst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2" name="直接连接符 181"/>
              <p:cNvCxnSpPr/>
              <p:nvPr/>
            </p:nvCxnSpPr>
            <p:spPr>
              <a:xfrm>
                <a:off x="1950392" y="2889776"/>
                <a:ext cx="396000" cy="1588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1842392" y="3364138"/>
                <a:ext cx="504000" cy="1588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1950392" y="3856040"/>
                <a:ext cx="396000" cy="1588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7" name="组合 249"/>
              <p:cNvGrpSpPr/>
              <p:nvPr/>
            </p:nvGrpSpPr>
            <p:grpSpPr>
              <a:xfrm>
                <a:off x="2271020" y="3292700"/>
                <a:ext cx="120028" cy="120028"/>
                <a:chOff x="500034" y="5000636"/>
                <a:chExt cx="671506" cy="671506"/>
              </a:xfrm>
            </p:grpSpPr>
            <p:sp>
              <p:nvSpPr>
                <p:cNvPr id="218" name="流程图: 联系 217"/>
                <p:cNvSpPr/>
                <p:nvPr/>
              </p:nvSpPr>
              <p:spPr>
                <a:xfrm>
                  <a:off x="500034" y="5000636"/>
                  <a:ext cx="671506" cy="671506"/>
                </a:xfrm>
                <a:prstGeom prst="flowChartConnector">
                  <a:avLst/>
                </a:prstGeom>
                <a:solidFill>
                  <a:srgbClr val="742A4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9" name="流程图: 联系 218"/>
                <p:cNvSpPr/>
                <p:nvPr/>
              </p:nvSpPr>
              <p:spPr>
                <a:xfrm>
                  <a:off x="688156" y="5188758"/>
                  <a:ext cx="295262" cy="295262"/>
                </a:xfrm>
                <a:prstGeom prst="flowChartConnector">
                  <a:avLst/>
                </a:prstGeom>
                <a:solidFill>
                  <a:srgbClr val="FEFED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51" name="组合 250"/>
            <p:cNvGrpSpPr/>
            <p:nvPr/>
          </p:nvGrpSpPr>
          <p:grpSpPr>
            <a:xfrm>
              <a:off x="357158" y="2178976"/>
              <a:ext cx="1716626" cy="2248199"/>
              <a:chOff x="357158" y="2178976"/>
              <a:chExt cx="1716626" cy="2248199"/>
            </a:xfrm>
          </p:grpSpPr>
          <p:grpSp>
            <p:nvGrpSpPr>
              <p:cNvPr id="164" name="组合 89"/>
              <p:cNvGrpSpPr/>
              <p:nvPr/>
            </p:nvGrpSpPr>
            <p:grpSpPr>
              <a:xfrm>
                <a:off x="374092" y="2178976"/>
                <a:ext cx="1699692" cy="523220"/>
                <a:chOff x="384158" y="986400"/>
                <a:chExt cx="1699692" cy="523220"/>
              </a:xfrm>
            </p:grpSpPr>
            <p:sp>
              <p:nvSpPr>
                <p:cNvPr id="177" name="圆角矩形 176"/>
                <p:cNvSpPr>
                  <a:spLocks/>
                </p:cNvSpPr>
                <p:nvPr/>
              </p:nvSpPr>
              <p:spPr>
                <a:xfrm>
                  <a:off x="391850" y="1025385"/>
                  <a:ext cx="1692000" cy="432000"/>
                </a:xfrm>
                <a:prstGeom prst="roundRect">
                  <a:avLst>
                    <a:gd name="adj" fmla="val 27069"/>
                  </a:avLst>
                </a:prstGeom>
                <a:solidFill>
                  <a:srgbClr val="8B307D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8" name="TextBox 177"/>
                <p:cNvSpPr txBox="1"/>
                <p:nvPr/>
              </p:nvSpPr>
              <p:spPr>
                <a:xfrm>
                  <a:off x="384158" y="986400"/>
                  <a:ext cx="132600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</a:rPr>
                    <a:t>表不受时限的</a:t>
                  </a:r>
                  <a:endParaRPr lang="en-US" altLang="zh-CN" sz="1400" b="1" dirty="0" smtClean="0">
                    <a:solidFill>
                      <a:schemeClr val="bg1"/>
                    </a:solidFill>
                  </a:endParaRPr>
                </a:p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</a:rPr>
                    <a:t>客观存在 </a:t>
                  </a:r>
                  <a:r>
                    <a:rPr lang="en-US" altLang="en-US" sz="1400" b="1" dirty="0" smtClean="0">
                      <a:solidFill>
                        <a:srgbClr val="FFFF00"/>
                      </a:solidFill>
                    </a:rPr>
                    <a:t>P133</a:t>
                  </a:r>
                  <a:endParaRPr lang="zh-CN" altLang="en-US" sz="1400" b="1" dirty="0" smtClean="0">
                    <a:solidFill>
                      <a:srgbClr val="FFFF00"/>
                    </a:solidFill>
                  </a:endParaRPr>
                </a:p>
              </p:txBody>
            </p:sp>
          </p:grpSp>
          <p:grpSp>
            <p:nvGrpSpPr>
              <p:cNvPr id="165" name="组合 92"/>
              <p:cNvGrpSpPr/>
              <p:nvPr/>
            </p:nvGrpSpPr>
            <p:grpSpPr>
              <a:xfrm>
                <a:off x="357158" y="2723087"/>
                <a:ext cx="1716626" cy="326985"/>
                <a:chOff x="367224" y="986400"/>
                <a:chExt cx="1716626" cy="326985"/>
              </a:xfrm>
            </p:grpSpPr>
            <p:sp>
              <p:nvSpPr>
                <p:cNvPr id="175" name="圆角矩形 174"/>
                <p:cNvSpPr>
                  <a:spLocks/>
                </p:cNvSpPr>
                <p:nvPr/>
              </p:nvSpPr>
              <p:spPr>
                <a:xfrm>
                  <a:off x="391850" y="1025385"/>
                  <a:ext cx="1692000" cy="288000"/>
                </a:xfrm>
                <a:prstGeom prst="roundRect">
                  <a:avLst>
                    <a:gd name="adj" fmla="val 27069"/>
                  </a:avLst>
                </a:prstGeom>
                <a:solidFill>
                  <a:srgbClr val="8B307D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6" name="TextBox 175"/>
                <p:cNvSpPr txBox="1"/>
                <p:nvPr/>
              </p:nvSpPr>
              <p:spPr>
                <a:xfrm>
                  <a:off x="367224" y="986400"/>
                  <a:ext cx="171072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spc="-100" dirty="0" smtClean="0">
                      <a:solidFill>
                        <a:schemeClr val="bg1"/>
                      </a:solidFill>
                    </a:rPr>
                    <a:t>表现在习惯动作 </a:t>
                  </a:r>
                  <a:r>
                    <a:rPr lang="en-US" altLang="en-US" sz="1400" b="1" spc="-100" dirty="0" smtClean="0">
                      <a:solidFill>
                        <a:srgbClr val="FFFF00"/>
                      </a:solidFill>
                    </a:rPr>
                    <a:t>P133</a:t>
                  </a:r>
                  <a:endParaRPr lang="zh-CN" altLang="en-US" sz="1400" b="1" spc="-100" dirty="0" smtClean="0">
                    <a:solidFill>
                      <a:srgbClr val="FFFF00"/>
                    </a:solidFill>
                  </a:endParaRPr>
                </a:p>
              </p:txBody>
            </p:sp>
          </p:grpSp>
          <p:grpSp>
            <p:nvGrpSpPr>
              <p:cNvPr id="166" name="组合 95"/>
              <p:cNvGrpSpPr/>
              <p:nvPr/>
            </p:nvGrpSpPr>
            <p:grpSpPr>
              <a:xfrm>
                <a:off x="374092" y="3116992"/>
                <a:ext cx="1699692" cy="523220"/>
                <a:chOff x="384158" y="969466"/>
                <a:chExt cx="1699692" cy="523220"/>
              </a:xfrm>
            </p:grpSpPr>
            <p:sp>
              <p:nvSpPr>
                <p:cNvPr id="173" name="圆角矩形 172"/>
                <p:cNvSpPr>
                  <a:spLocks/>
                </p:cNvSpPr>
                <p:nvPr/>
              </p:nvSpPr>
              <p:spPr>
                <a:xfrm>
                  <a:off x="391850" y="1025385"/>
                  <a:ext cx="1692000" cy="432000"/>
                </a:xfrm>
                <a:prstGeom prst="roundRect">
                  <a:avLst>
                    <a:gd name="adj" fmla="val 27069"/>
                  </a:avLst>
                </a:prstGeom>
                <a:solidFill>
                  <a:srgbClr val="8B307D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384158" y="969466"/>
                  <a:ext cx="168507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</a:rPr>
                    <a:t>表现时状态和</a:t>
                  </a:r>
                  <a:endParaRPr lang="en-US" altLang="zh-CN" sz="1400" b="1" dirty="0" smtClean="0">
                    <a:solidFill>
                      <a:schemeClr val="bg1"/>
                    </a:solidFill>
                  </a:endParaRPr>
                </a:p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</a:rPr>
                    <a:t>现在瞬间动作 </a:t>
                  </a:r>
                  <a:r>
                    <a:rPr lang="en-US" altLang="en-US" sz="1400" b="1" dirty="0" smtClean="0">
                      <a:solidFill>
                        <a:srgbClr val="FFFF00"/>
                      </a:solidFill>
                    </a:rPr>
                    <a:t>P134</a:t>
                  </a:r>
                  <a:endParaRPr lang="zh-CN" altLang="en-US" sz="1400" b="1" dirty="0" smtClean="0">
                    <a:solidFill>
                      <a:srgbClr val="FFFF00"/>
                    </a:solidFill>
                  </a:endParaRPr>
                </a:p>
              </p:txBody>
            </p:sp>
          </p:grpSp>
          <p:grpSp>
            <p:nvGrpSpPr>
              <p:cNvPr id="167" name="组合 98"/>
              <p:cNvGrpSpPr/>
              <p:nvPr/>
            </p:nvGrpSpPr>
            <p:grpSpPr>
              <a:xfrm>
                <a:off x="374092" y="3689351"/>
                <a:ext cx="1699692" cy="326985"/>
                <a:chOff x="384158" y="986400"/>
                <a:chExt cx="1699692" cy="326985"/>
              </a:xfrm>
            </p:grpSpPr>
            <p:sp>
              <p:nvSpPr>
                <p:cNvPr id="171" name="圆角矩形 170"/>
                <p:cNvSpPr>
                  <a:spLocks/>
                </p:cNvSpPr>
                <p:nvPr/>
              </p:nvSpPr>
              <p:spPr>
                <a:xfrm>
                  <a:off x="391850" y="1025385"/>
                  <a:ext cx="1692000" cy="288000"/>
                </a:xfrm>
                <a:prstGeom prst="roundRect">
                  <a:avLst>
                    <a:gd name="adj" fmla="val 27069"/>
                  </a:avLst>
                </a:prstGeom>
                <a:solidFill>
                  <a:srgbClr val="8B307D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2" name="TextBox 171"/>
                <p:cNvSpPr txBox="1"/>
                <p:nvPr/>
              </p:nvSpPr>
              <p:spPr>
                <a:xfrm>
                  <a:off x="384158" y="986400"/>
                  <a:ext cx="15055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</a:rPr>
                    <a:t>表将来时间 </a:t>
                  </a:r>
                  <a:r>
                    <a:rPr lang="en-US" altLang="en-US" sz="1400" b="1" dirty="0" smtClean="0">
                      <a:solidFill>
                        <a:srgbClr val="FFFF00"/>
                      </a:solidFill>
                    </a:rPr>
                    <a:t>P134</a:t>
                  </a:r>
                  <a:endParaRPr lang="zh-CN" altLang="en-US" sz="1400" b="1" dirty="0" smtClean="0">
                    <a:solidFill>
                      <a:srgbClr val="FFFF00"/>
                    </a:solidFill>
                  </a:endParaRPr>
                </a:p>
              </p:txBody>
            </p:sp>
          </p:grpSp>
          <p:grpSp>
            <p:nvGrpSpPr>
              <p:cNvPr id="168" name="组合 101"/>
              <p:cNvGrpSpPr/>
              <p:nvPr/>
            </p:nvGrpSpPr>
            <p:grpSpPr>
              <a:xfrm>
                <a:off x="374092" y="4100190"/>
                <a:ext cx="1699692" cy="326985"/>
                <a:chOff x="384158" y="986400"/>
                <a:chExt cx="1699692" cy="326985"/>
              </a:xfrm>
            </p:grpSpPr>
            <p:sp>
              <p:nvSpPr>
                <p:cNvPr id="169" name="圆角矩形 168"/>
                <p:cNvSpPr>
                  <a:spLocks/>
                </p:cNvSpPr>
                <p:nvPr/>
              </p:nvSpPr>
              <p:spPr>
                <a:xfrm>
                  <a:off x="391850" y="1025385"/>
                  <a:ext cx="1692000" cy="288000"/>
                </a:xfrm>
                <a:prstGeom prst="roundRect">
                  <a:avLst>
                    <a:gd name="adj" fmla="val 27069"/>
                  </a:avLst>
                </a:prstGeom>
                <a:solidFill>
                  <a:srgbClr val="8B307D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0" name="TextBox 169"/>
                <p:cNvSpPr txBox="1"/>
                <p:nvPr/>
              </p:nvSpPr>
              <p:spPr>
                <a:xfrm>
                  <a:off x="384158" y="986400"/>
                  <a:ext cx="15055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 smtClean="0">
                      <a:solidFill>
                        <a:schemeClr val="bg1"/>
                      </a:solidFill>
                    </a:rPr>
                    <a:t>表过去时间 </a:t>
                  </a:r>
                  <a:r>
                    <a:rPr lang="en-US" altLang="en-US" sz="1400" b="1" dirty="0" smtClean="0">
                      <a:solidFill>
                        <a:srgbClr val="FFFF00"/>
                      </a:solidFill>
                    </a:rPr>
                    <a:t>P135</a:t>
                  </a:r>
                  <a:endParaRPr lang="zh-CN" altLang="en-US" sz="1400" b="1" dirty="0" smtClean="0">
                    <a:solidFill>
                      <a:srgbClr val="FFFF00"/>
                    </a:solidFill>
                  </a:endParaRPr>
                </a:p>
              </p:txBody>
            </p:sp>
          </p:grpSp>
        </p:grpSp>
      </p:grpSp>
      <p:grpSp>
        <p:nvGrpSpPr>
          <p:cNvPr id="253" name="组合 252"/>
          <p:cNvGrpSpPr/>
          <p:nvPr/>
        </p:nvGrpSpPr>
        <p:grpSpPr>
          <a:xfrm>
            <a:off x="374092" y="4511029"/>
            <a:ext cx="2196914" cy="1495959"/>
            <a:chOff x="374092" y="4511029"/>
            <a:chExt cx="2196914" cy="1495959"/>
          </a:xfrm>
        </p:grpSpPr>
        <p:grpSp>
          <p:nvGrpSpPr>
            <p:cNvPr id="195" name="组合 194"/>
            <p:cNvGrpSpPr/>
            <p:nvPr/>
          </p:nvGrpSpPr>
          <p:grpSpPr>
            <a:xfrm>
              <a:off x="1782940" y="4685781"/>
              <a:ext cx="788066" cy="1080000"/>
              <a:chOff x="1973823" y="4685781"/>
              <a:chExt cx="788066" cy="1080000"/>
            </a:xfrm>
          </p:grpSpPr>
          <p:cxnSp>
            <p:nvCxnSpPr>
              <p:cNvPr id="193" name="直接连接符 192"/>
              <p:cNvCxnSpPr/>
              <p:nvPr/>
            </p:nvCxnSpPr>
            <p:spPr>
              <a:xfrm>
                <a:off x="2365889" y="5194314"/>
                <a:ext cx="396000" cy="180000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右中括号 150"/>
              <p:cNvSpPr/>
              <p:nvPr/>
            </p:nvSpPr>
            <p:spPr>
              <a:xfrm>
                <a:off x="2143108" y="4685781"/>
                <a:ext cx="214314" cy="1080000"/>
              </a:xfrm>
              <a:prstGeom prst="rightBracket">
                <a:avLst>
                  <a:gd name="adj" fmla="val 61438"/>
                </a:avLst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2" name="直接连接符 151"/>
              <p:cNvCxnSpPr/>
              <p:nvPr/>
            </p:nvCxnSpPr>
            <p:spPr>
              <a:xfrm>
                <a:off x="1973823" y="5184806"/>
                <a:ext cx="396000" cy="1588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组合 243"/>
              <p:cNvGrpSpPr/>
              <p:nvPr/>
            </p:nvGrpSpPr>
            <p:grpSpPr>
              <a:xfrm>
                <a:off x="2294451" y="5128790"/>
                <a:ext cx="120028" cy="120028"/>
                <a:chOff x="500034" y="5000636"/>
                <a:chExt cx="671506" cy="671506"/>
              </a:xfrm>
            </p:grpSpPr>
            <p:sp>
              <p:nvSpPr>
                <p:cNvPr id="160" name="流程图: 联系 159"/>
                <p:cNvSpPr/>
                <p:nvPr/>
              </p:nvSpPr>
              <p:spPr>
                <a:xfrm>
                  <a:off x="500034" y="5000636"/>
                  <a:ext cx="671506" cy="671506"/>
                </a:xfrm>
                <a:prstGeom prst="flowChartConnector">
                  <a:avLst/>
                </a:prstGeom>
                <a:solidFill>
                  <a:srgbClr val="742A4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1" name="流程图: 联系 160"/>
                <p:cNvSpPr/>
                <p:nvPr/>
              </p:nvSpPr>
              <p:spPr>
                <a:xfrm>
                  <a:off x="688156" y="5188758"/>
                  <a:ext cx="295262" cy="295262"/>
                </a:xfrm>
                <a:prstGeom prst="flowChartConnector">
                  <a:avLst/>
                </a:prstGeom>
                <a:solidFill>
                  <a:srgbClr val="FEFED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86" name="组合 104"/>
            <p:cNvGrpSpPr/>
            <p:nvPr/>
          </p:nvGrpSpPr>
          <p:grpSpPr>
            <a:xfrm>
              <a:off x="374092" y="4511029"/>
              <a:ext cx="1699692" cy="326985"/>
              <a:chOff x="384158" y="986400"/>
              <a:chExt cx="1699692" cy="326985"/>
            </a:xfrm>
          </p:grpSpPr>
          <p:sp>
            <p:nvSpPr>
              <p:cNvPr id="249" name="圆角矩形 248"/>
              <p:cNvSpPr>
                <a:spLocks/>
              </p:cNvSpPr>
              <p:nvPr/>
            </p:nvSpPr>
            <p:spPr>
              <a:xfrm>
                <a:off x="391850" y="1025385"/>
                <a:ext cx="1692000" cy="288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7" name="TextBox 256"/>
              <p:cNvSpPr txBox="1"/>
              <p:nvPr/>
            </p:nvSpPr>
            <p:spPr>
              <a:xfrm>
                <a:off x="384158" y="986400"/>
                <a:ext cx="15055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dirty="0" smtClean="0">
                    <a:solidFill>
                      <a:schemeClr val="bg1"/>
                    </a:solidFill>
                  </a:rPr>
                  <a:t>表过去时间 </a:t>
                </a:r>
                <a:r>
                  <a:rPr lang="en-US" altLang="en-US" sz="1400" b="1" dirty="0" smtClean="0">
                    <a:solidFill>
                      <a:srgbClr val="FFFF00"/>
                    </a:solidFill>
                  </a:rPr>
                  <a:t>P136</a:t>
                </a:r>
                <a:endParaRPr lang="zh-CN" altLang="en-US" sz="1400" b="1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187" name="组合 107"/>
            <p:cNvGrpSpPr/>
            <p:nvPr/>
          </p:nvGrpSpPr>
          <p:grpSpPr>
            <a:xfrm>
              <a:off x="374092" y="4901240"/>
              <a:ext cx="1710725" cy="523220"/>
              <a:chOff x="384158" y="964662"/>
              <a:chExt cx="1710725" cy="523220"/>
            </a:xfrm>
          </p:grpSpPr>
          <p:sp>
            <p:nvSpPr>
              <p:cNvPr id="247" name="圆角矩形 246"/>
              <p:cNvSpPr>
                <a:spLocks/>
              </p:cNvSpPr>
              <p:nvPr/>
            </p:nvSpPr>
            <p:spPr>
              <a:xfrm>
                <a:off x="391850" y="1025385"/>
                <a:ext cx="1692000" cy="432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8" name="TextBox 247"/>
              <p:cNvSpPr txBox="1"/>
              <p:nvPr/>
            </p:nvSpPr>
            <p:spPr>
              <a:xfrm>
                <a:off x="384158" y="964662"/>
                <a:ext cx="17107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spc="-100" dirty="0" smtClean="0">
                    <a:solidFill>
                      <a:schemeClr val="bg1"/>
                    </a:solidFill>
                  </a:rPr>
                  <a:t>表过去习惯动作和</a:t>
                </a:r>
                <a:endParaRPr lang="en-US" altLang="zh-CN" sz="1400" b="1" spc="-100" dirty="0" smtClean="0">
                  <a:solidFill>
                    <a:schemeClr val="bg1"/>
                  </a:solidFill>
                </a:endParaRPr>
              </a:p>
              <a:p>
                <a:r>
                  <a:rPr lang="zh-CN" altLang="en-US" sz="1400" b="1" spc="-100" dirty="0" smtClean="0">
                    <a:solidFill>
                      <a:schemeClr val="bg1"/>
                    </a:solidFill>
                  </a:rPr>
                  <a:t>一度存在的状态 </a:t>
                </a:r>
                <a:r>
                  <a:rPr lang="en-US" altLang="en-US" sz="1400" b="1" spc="-100" dirty="0" smtClean="0">
                    <a:solidFill>
                      <a:srgbClr val="FFFF00"/>
                    </a:solidFill>
                  </a:rPr>
                  <a:t>P136</a:t>
                </a:r>
                <a:endParaRPr lang="zh-CN" altLang="en-US" sz="1400" b="1" spc="-100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188" name="组合 110"/>
            <p:cNvGrpSpPr/>
            <p:nvPr/>
          </p:nvGrpSpPr>
          <p:grpSpPr>
            <a:xfrm>
              <a:off x="374092" y="5483768"/>
              <a:ext cx="1699692" cy="523220"/>
              <a:chOff x="384158" y="977933"/>
              <a:chExt cx="1699692" cy="523220"/>
            </a:xfrm>
          </p:grpSpPr>
          <p:sp>
            <p:nvSpPr>
              <p:cNvPr id="242" name="圆角矩形 241"/>
              <p:cNvSpPr>
                <a:spLocks/>
              </p:cNvSpPr>
              <p:nvPr/>
            </p:nvSpPr>
            <p:spPr>
              <a:xfrm>
                <a:off x="391850" y="1025385"/>
                <a:ext cx="1692000" cy="432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3" name="TextBox 242"/>
              <p:cNvSpPr txBox="1"/>
              <p:nvPr/>
            </p:nvSpPr>
            <p:spPr>
              <a:xfrm>
                <a:off x="384158" y="977933"/>
                <a:ext cx="13260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dirty="0" smtClean="0">
                    <a:solidFill>
                      <a:schemeClr val="bg1"/>
                    </a:solidFill>
                  </a:rPr>
                  <a:t>表现在时间和</a:t>
                </a:r>
                <a:endParaRPr lang="en-US" altLang="zh-CN" sz="1400" b="1" dirty="0" smtClean="0">
                  <a:solidFill>
                    <a:schemeClr val="bg1"/>
                  </a:solidFill>
                </a:endParaRPr>
              </a:p>
              <a:p>
                <a:r>
                  <a:rPr lang="zh-CN" altLang="en-US" sz="1400" b="1" dirty="0" smtClean="0">
                    <a:solidFill>
                      <a:schemeClr val="bg1"/>
                    </a:solidFill>
                  </a:rPr>
                  <a:t>将来时间 </a:t>
                </a:r>
                <a:r>
                  <a:rPr lang="en-US" altLang="en-US" sz="1400" b="1" dirty="0" smtClean="0">
                    <a:solidFill>
                      <a:srgbClr val="FFFF00"/>
                    </a:solidFill>
                  </a:rPr>
                  <a:t>P136</a:t>
                </a:r>
                <a:endParaRPr lang="zh-CN" altLang="en-US" sz="1400" b="1" dirty="0" smtClean="0">
                  <a:solidFill>
                    <a:srgbClr val="FFFF00"/>
                  </a:solidFill>
                </a:endParaRPr>
              </a:p>
            </p:txBody>
          </p:sp>
        </p:grpSp>
      </p:grpSp>
      <p:grpSp>
        <p:nvGrpSpPr>
          <p:cNvPr id="279" name="组合 278"/>
          <p:cNvGrpSpPr/>
          <p:nvPr/>
        </p:nvGrpSpPr>
        <p:grpSpPr>
          <a:xfrm>
            <a:off x="5609176" y="1076311"/>
            <a:ext cx="2530748" cy="1827222"/>
            <a:chOff x="5609176" y="1076311"/>
            <a:chExt cx="2530748" cy="1827222"/>
          </a:xfrm>
        </p:grpSpPr>
        <p:cxnSp>
          <p:nvCxnSpPr>
            <p:cNvPr id="197" name="直接连接符 196"/>
            <p:cNvCxnSpPr/>
            <p:nvPr/>
          </p:nvCxnSpPr>
          <p:spPr>
            <a:xfrm rot="5400000" flipH="1" flipV="1">
              <a:off x="5627457" y="1992381"/>
              <a:ext cx="360000" cy="396562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右中括号 337"/>
            <p:cNvSpPr/>
            <p:nvPr/>
          </p:nvSpPr>
          <p:spPr>
            <a:xfrm flipH="1">
              <a:off x="6017168" y="1214422"/>
              <a:ext cx="214314" cy="1548000"/>
            </a:xfrm>
            <a:prstGeom prst="rightBracket">
              <a:avLst>
                <a:gd name="adj" fmla="val 108104"/>
              </a:avLst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9" name="直接连接符 338"/>
            <p:cNvCxnSpPr/>
            <p:nvPr/>
          </p:nvCxnSpPr>
          <p:spPr>
            <a:xfrm flipH="1">
              <a:off x="6017168" y="1570024"/>
              <a:ext cx="39600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连接符 339"/>
            <p:cNvCxnSpPr/>
            <p:nvPr/>
          </p:nvCxnSpPr>
          <p:spPr>
            <a:xfrm flipH="1">
              <a:off x="6017168" y="2017914"/>
              <a:ext cx="39600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7" name="组合 306"/>
            <p:cNvGrpSpPr/>
            <p:nvPr/>
          </p:nvGrpSpPr>
          <p:grpSpPr>
            <a:xfrm>
              <a:off x="5945730" y="1951650"/>
              <a:ext cx="120028" cy="120028"/>
              <a:chOff x="500034" y="5000636"/>
              <a:chExt cx="671506" cy="671506"/>
            </a:xfrm>
          </p:grpSpPr>
          <p:sp>
            <p:nvSpPr>
              <p:cNvPr id="348" name="流程图: 联系 347"/>
              <p:cNvSpPr/>
              <p:nvPr/>
            </p:nvSpPr>
            <p:spPr>
              <a:xfrm>
                <a:off x="500034" y="5000636"/>
                <a:ext cx="671506" cy="671506"/>
              </a:xfrm>
              <a:prstGeom prst="flowChartConnector">
                <a:avLst/>
              </a:prstGeom>
              <a:solidFill>
                <a:srgbClr val="742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9" name="流程图: 联系 348"/>
              <p:cNvSpPr/>
              <p:nvPr/>
            </p:nvSpPr>
            <p:spPr>
              <a:xfrm>
                <a:off x="688156" y="5188758"/>
                <a:ext cx="295262" cy="295262"/>
              </a:xfrm>
              <a:prstGeom prst="flowChartConnector">
                <a:avLst/>
              </a:prstGeom>
              <a:solidFill>
                <a:srgbClr val="FEFED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96" name="直接连接符 195"/>
            <p:cNvCxnSpPr/>
            <p:nvPr/>
          </p:nvCxnSpPr>
          <p:spPr>
            <a:xfrm flipH="1">
              <a:off x="6017168" y="2410346"/>
              <a:ext cx="39600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8" name="组合 128"/>
            <p:cNvGrpSpPr/>
            <p:nvPr/>
          </p:nvGrpSpPr>
          <p:grpSpPr>
            <a:xfrm>
              <a:off x="6072198" y="1076311"/>
              <a:ext cx="2067726" cy="296613"/>
              <a:chOff x="340124" y="1016772"/>
              <a:chExt cx="2067726" cy="296613"/>
            </a:xfrm>
          </p:grpSpPr>
          <p:sp>
            <p:nvSpPr>
              <p:cNvPr id="308" name="圆角矩形 307"/>
              <p:cNvSpPr>
                <a:spLocks/>
              </p:cNvSpPr>
              <p:nvPr/>
            </p:nvSpPr>
            <p:spPr>
              <a:xfrm>
                <a:off x="391850" y="1025385"/>
                <a:ext cx="2016000" cy="288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9" name="TextBox 308"/>
              <p:cNvSpPr txBox="1"/>
              <p:nvPr/>
            </p:nvSpPr>
            <p:spPr>
              <a:xfrm>
                <a:off x="340124" y="1016772"/>
                <a:ext cx="20361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spc="-100" dirty="0" smtClean="0">
                    <a:solidFill>
                      <a:schemeClr val="bg1"/>
                    </a:solidFill>
                  </a:rPr>
                  <a:t>表说话时正在进行的动作 </a:t>
                </a:r>
                <a:r>
                  <a:rPr lang="en-US" altLang="en-US" sz="1200" b="1" spc="-100" dirty="0" smtClean="0">
                    <a:solidFill>
                      <a:srgbClr val="FFFF00"/>
                    </a:solidFill>
                  </a:rPr>
                  <a:t>P138</a:t>
                </a:r>
                <a:endParaRPr lang="zh-CN" altLang="en-US" sz="1200" b="1" spc="-100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269" name="组合 131"/>
            <p:cNvGrpSpPr/>
            <p:nvPr/>
          </p:nvGrpSpPr>
          <p:grpSpPr>
            <a:xfrm>
              <a:off x="6082890" y="1421237"/>
              <a:ext cx="2057034" cy="301584"/>
              <a:chOff x="350816" y="1011801"/>
              <a:chExt cx="2057034" cy="301584"/>
            </a:xfrm>
          </p:grpSpPr>
          <p:sp>
            <p:nvSpPr>
              <p:cNvPr id="306" name="圆角矩形 305"/>
              <p:cNvSpPr>
                <a:spLocks/>
              </p:cNvSpPr>
              <p:nvPr/>
            </p:nvSpPr>
            <p:spPr>
              <a:xfrm>
                <a:off x="391850" y="1025385"/>
                <a:ext cx="2016000" cy="288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7" name="TextBox 306"/>
              <p:cNvSpPr txBox="1"/>
              <p:nvPr/>
            </p:nvSpPr>
            <p:spPr>
              <a:xfrm>
                <a:off x="350816" y="1011801"/>
                <a:ext cx="202459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spc="-170" dirty="0" smtClean="0">
                    <a:solidFill>
                      <a:schemeClr val="bg1"/>
                    </a:solidFill>
                  </a:rPr>
                  <a:t>表现阶段一直在进行的动作 </a:t>
                </a:r>
                <a:r>
                  <a:rPr lang="en-US" altLang="en-US" sz="1200" b="1" spc="-170" dirty="0" smtClean="0">
                    <a:solidFill>
                      <a:srgbClr val="FFFF00"/>
                    </a:solidFill>
                  </a:rPr>
                  <a:t>P138</a:t>
                </a:r>
                <a:endParaRPr lang="zh-CN" altLang="en-US" sz="1200" b="1" spc="-170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270" name="组合 134"/>
            <p:cNvGrpSpPr/>
            <p:nvPr/>
          </p:nvGrpSpPr>
          <p:grpSpPr>
            <a:xfrm>
              <a:off x="6116758" y="1743569"/>
              <a:ext cx="2023166" cy="470985"/>
              <a:chOff x="384684" y="986400"/>
              <a:chExt cx="2023166" cy="470985"/>
            </a:xfrm>
          </p:grpSpPr>
          <p:sp>
            <p:nvSpPr>
              <p:cNvPr id="304" name="圆角矩形 303"/>
              <p:cNvSpPr>
                <a:spLocks/>
              </p:cNvSpPr>
              <p:nvPr/>
            </p:nvSpPr>
            <p:spPr>
              <a:xfrm>
                <a:off x="391850" y="1025385"/>
                <a:ext cx="2016000" cy="432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TextBox 304"/>
              <p:cNvSpPr txBox="1"/>
              <p:nvPr/>
            </p:nvSpPr>
            <p:spPr>
              <a:xfrm>
                <a:off x="384684" y="986400"/>
                <a:ext cx="16257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表按计划安排近期内</a:t>
                </a:r>
                <a:endParaRPr lang="en-US" altLang="zh-CN" sz="1200" b="1" dirty="0" smtClean="0">
                  <a:solidFill>
                    <a:schemeClr val="bg1"/>
                  </a:solidFill>
                </a:endParaRPr>
              </a:p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即将发生的动作 </a:t>
                </a:r>
                <a:r>
                  <a:rPr lang="en-US" altLang="en-US" sz="1200" b="1" dirty="0" smtClean="0">
                    <a:solidFill>
                      <a:srgbClr val="FFFF00"/>
                    </a:solidFill>
                  </a:rPr>
                  <a:t>P139</a:t>
                </a:r>
                <a:endParaRPr lang="zh-CN" altLang="en-US" sz="1200" b="1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271" name="组合 137"/>
            <p:cNvGrpSpPr/>
            <p:nvPr/>
          </p:nvGrpSpPr>
          <p:grpSpPr>
            <a:xfrm>
              <a:off x="6116758" y="2253226"/>
              <a:ext cx="2023166" cy="301584"/>
              <a:chOff x="384684" y="1011801"/>
              <a:chExt cx="2023166" cy="301584"/>
            </a:xfrm>
          </p:grpSpPr>
          <p:sp>
            <p:nvSpPr>
              <p:cNvPr id="302" name="圆角矩形 301"/>
              <p:cNvSpPr>
                <a:spLocks/>
              </p:cNvSpPr>
              <p:nvPr/>
            </p:nvSpPr>
            <p:spPr>
              <a:xfrm>
                <a:off x="391850" y="1025385"/>
                <a:ext cx="2016000" cy="288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3" name="TextBox 302"/>
              <p:cNvSpPr txBox="1"/>
              <p:nvPr/>
            </p:nvSpPr>
            <p:spPr>
              <a:xfrm>
                <a:off x="384684" y="1011801"/>
                <a:ext cx="17796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表刚刚过去的动作 </a:t>
                </a:r>
                <a:r>
                  <a:rPr lang="en-US" altLang="en-US" sz="1200" b="1" dirty="0" smtClean="0">
                    <a:solidFill>
                      <a:srgbClr val="FFFF00"/>
                    </a:solidFill>
                  </a:rPr>
                  <a:t>P139</a:t>
                </a:r>
                <a:endParaRPr lang="zh-CN" altLang="en-US" sz="1200" b="1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272" name="组合 140"/>
            <p:cNvGrpSpPr/>
            <p:nvPr/>
          </p:nvGrpSpPr>
          <p:grpSpPr>
            <a:xfrm>
              <a:off x="6116758" y="2601949"/>
              <a:ext cx="2023166" cy="301584"/>
              <a:chOff x="384684" y="1011801"/>
              <a:chExt cx="2023166" cy="301584"/>
            </a:xfrm>
          </p:grpSpPr>
          <p:sp>
            <p:nvSpPr>
              <p:cNvPr id="300" name="圆角矩形 299"/>
              <p:cNvSpPr>
                <a:spLocks/>
              </p:cNvSpPr>
              <p:nvPr/>
            </p:nvSpPr>
            <p:spPr>
              <a:xfrm>
                <a:off x="391850" y="1025385"/>
                <a:ext cx="2016000" cy="288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384684" y="1011801"/>
                <a:ext cx="13179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表婉转口气 </a:t>
                </a:r>
                <a:r>
                  <a:rPr lang="en-US" altLang="en-US" sz="1200" b="1" dirty="0" smtClean="0">
                    <a:solidFill>
                      <a:srgbClr val="FFFF00"/>
                    </a:solidFill>
                  </a:rPr>
                  <a:t>P139</a:t>
                </a:r>
                <a:endParaRPr lang="zh-CN" altLang="en-US" sz="1200" b="1" dirty="0" smtClean="0">
                  <a:solidFill>
                    <a:srgbClr val="FFFF00"/>
                  </a:solidFill>
                </a:endParaRPr>
              </a:p>
            </p:txBody>
          </p:sp>
        </p:grpSp>
      </p:grpSp>
      <p:grpSp>
        <p:nvGrpSpPr>
          <p:cNvPr id="256" name="组合 255"/>
          <p:cNvGrpSpPr/>
          <p:nvPr/>
        </p:nvGrpSpPr>
        <p:grpSpPr>
          <a:xfrm>
            <a:off x="5626110" y="5198016"/>
            <a:ext cx="2513814" cy="1163605"/>
            <a:chOff x="5626110" y="5198016"/>
            <a:chExt cx="2513814" cy="1163605"/>
          </a:xfrm>
        </p:grpSpPr>
        <p:cxnSp>
          <p:nvCxnSpPr>
            <p:cNvPr id="260" name="直接连接符 259"/>
            <p:cNvCxnSpPr/>
            <p:nvPr/>
          </p:nvCxnSpPr>
          <p:spPr>
            <a:xfrm>
              <a:off x="5626110" y="5483768"/>
              <a:ext cx="410856" cy="293463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7" name="组合 276"/>
            <p:cNvGrpSpPr/>
            <p:nvPr/>
          </p:nvGrpSpPr>
          <p:grpSpPr>
            <a:xfrm flipH="1">
              <a:off x="5979739" y="5369995"/>
              <a:ext cx="440656" cy="828000"/>
              <a:chOff x="5894446" y="3071810"/>
              <a:chExt cx="440656" cy="828000"/>
            </a:xfrm>
          </p:grpSpPr>
          <p:sp>
            <p:nvSpPr>
              <p:cNvPr id="310" name="右中括号 309"/>
              <p:cNvSpPr/>
              <p:nvPr/>
            </p:nvSpPr>
            <p:spPr>
              <a:xfrm>
                <a:off x="6072198" y="3071810"/>
                <a:ext cx="214314" cy="828000"/>
              </a:xfrm>
              <a:prstGeom prst="rightBracket">
                <a:avLst>
                  <a:gd name="adj" fmla="val 61438"/>
                </a:avLst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1" name="直接连接符 310"/>
              <p:cNvCxnSpPr/>
              <p:nvPr/>
            </p:nvCxnSpPr>
            <p:spPr>
              <a:xfrm>
                <a:off x="5894446" y="3485016"/>
                <a:ext cx="396000" cy="1588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2" name="组合 273"/>
              <p:cNvGrpSpPr/>
              <p:nvPr/>
            </p:nvGrpSpPr>
            <p:grpSpPr>
              <a:xfrm>
                <a:off x="6215074" y="3425796"/>
                <a:ext cx="120028" cy="120028"/>
                <a:chOff x="500034" y="5000636"/>
                <a:chExt cx="671506" cy="671506"/>
              </a:xfrm>
            </p:grpSpPr>
            <p:sp>
              <p:nvSpPr>
                <p:cNvPr id="313" name="流程图: 联系 312"/>
                <p:cNvSpPr/>
                <p:nvPr/>
              </p:nvSpPr>
              <p:spPr>
                <a:xfrm>
                  <a:off x="500034" y="5000636"/>
                  <a:ext cx="671506" cy="671506"/>
                </a:xfrm>
                <a:prstGeom prst="flowChartConnector">
                  <a:avLst/>
                </a:prstGeom>
                <a:solidFill>
                  <a:srgbClr val="742A4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4" name="流程图: 联系 313"/>
                <p:cNvSpPr/>
                <p:nvPr/>
              </p:nvSpPr>
              <p:spPr>
                <a:xfrm>
                  <a:off x="688156" y="5188758"/>
                  <a:ext cx="295262" cy="295262"/>
                </a:xfrm>
                <a:prstGeom prst="flowChartConnector">
                  <a:avLst/>
                </a:prstGeom>
                <a:solidFill>
                  <a:srgbClr val="FEFED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343" name="组合 161"/>
            <p:cNvGrpSpPr/>
            <p:nvPr/>
          </p:nvGrpSpPr>
          <p:grpSpPr>
            <a:xfrm>
              <a:off x="6072198" y="5198016"/>
              <a:ext cx="2067726" cy="301584"/>
              <a:chOff x="340124" y="1011801"/>
              <a:chExt cx="2067726" cy="301584"/>
            </a:xfrm>
          </p:grpSpPr>
          <p:sp>
            <p:nvSpPr>
              <p:cNvPr id="356" name="圆角矩形 355"/>
              <p:cNvSpPr>
                <a:spLocks/>
              </p:cNvSpPr>
              <p:nvPr/>
            </p:nvSpPr>
            <p:spPr>
              <a:xfrm>
                <a:off x="391850" y="1025385"/>
                <a:ext cx="2016000" cy="288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340124" y="1011801"/>
                <a:ext cx="19335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用于说明文作主题句 </a:t>
                </a:r>
                <a:r>
                  <a:rPr lang="en-US" altLang="en-US" sz="1200" b="1" dirty="0" smtClean="0">
                    <a:solidFill>
                      <a:srgbClr val="FFFF00"/>
                    </a:solidFill>
                  </a:rPr>
                  <a:t>P143</a:t>
                </a:r>
                <a:endParaRPr lang="zh-CN" altLang="en-US" sz="1200" b="1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344" name="组合 164"/>
            <p:cNvGrpSpPr/>
            <p:nvPr/>
          </p:nvGrpSpPr>
          <p:grpSpPr>
            <a:xfrm>
              <a:off x="6072198" y="6034636"/>
              <a:ext cx="2067726" cy="326985"/>
              <a:chOff x="340124" y="986400"/>
              <a:chExt cx="2067726" cy="326985"/>
            </a:xfrm>
          </p:grpSpPr>
          <p:sp>
            <p:nvSpPr>
              <p:cNvPr id="354" name="圆角矩形 353"/>
              <p:cNvSpPr>
                <a:spLocks/>
              </p:cNvSpPr>
              <p:nvPr/>
            </p:nvSpPr>
            <p:spPr>
              <a:xfrm>
                <a:off x="391850" y="1025385"/>
                <a:ext cx="2016000" cy="288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5" name="TextBox 354"/>
              <p:cNvSpPr txBox="1"/>
              <p:nvPr/>
            </p:nvSpPr>
            <p:spPr>
              <a:xfrm>
                <a:off x="340124" y="986400"/>
                <a:ext cx="19335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用于某些应用文信函 </a:t>
                </a:r>
                <a:r>
                  <a:rPr lang="en-US" altLang="en-US" sz="1200" b="1" dirty="0" smtClean="0">
                    <a:solidFill>
                      <a:srgbClr val="FFFF00"/>
                    </a:solidFill>
                  </a:rPr>
                  <a:t>P144</a:t>
                </a:r>
                <a:endParaRPr lang="zh-CN" altLang="en-US" sz="1200" b="1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345" name="组合 167"/>
            <p:cNvGrpSpPr/>
            <p:nvPr/>
          </p:nvGrpSpPr>
          <p:grpSpPr>
            <a:xfrm>
              <a:off x="6080665" y="5555206"/>
              <a:ext cx="2059259" cy="461665"/>
              <a:chOff x="348591" y="1015232"/>
              <a:chExt cx="2059259" cy="461665"/>
            </a:xfrm>
          </p:grpSpPr>
          <p:sp>
            <p:nvSpPr>
              <p:cNvPr id="352" name="圆角矩形 351"/>
              <p:cNvSpPr>
                <a:spLocks/>
              </p:cNvSpPr>
              <p:nvPr/>
            </p:nvSpPr>
            <p:spPr>
              <a:xfrm>
                <a:off x="391850" y="1025385"/>
                <a:ext cx="2016000" cy="432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3" name="TextBox 352"/>
              <p:cNvSpPr txBox="1"/>
              <p:nvPr/>
            </p:nvSpPr>
            <p:spPr>
              <a:xfrm>
                <a:off x="348591" y="1015232"/>
                <a:ext cx="15696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用于记叙文描写现场</a:t>
                </a:r>
                <a:endParaRPr lang="en-US" altLang="zh-CN" sz="1200" b="1" dirty="0" smtClean="0">
                  <a:solidFill>
                    <a:schemeClr val="bg1"/>
                  </a:solidFill>
                </a:endParaRPr>
              </a:p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或引出故事 </a:t>
                </a:r>
                <a:r>
                  <a:rPr lang="en-US" altLang="en-US" sz="1200" b="1" dirty="0" smtClean="0">
                    <a:solidFill>
                      <a:srgbClr val="FFFF00"/>
                    </a:solidFill>
                  </a:rPr>
                  <a:t>P144</a:t>
                </a:r>
                <a:endParaRPr lang="zh-CN" altLang="en-US" sz="1200" b="1" dirty="0" smtClean="0">
                  <a:solidFill>
                    <a:srgbClr val="FFFF00"/>
                  </a:solidFill>
                </a:endParaRPr>
              </a:p>
            </p:txBody>
          </p:sp>
        </p:grpSp>
      </p:grpSp>
      <p:grpSp>
        <p:nvGrpSpPr>
          <p:cNvPr id="246" name="组合 245"/>
          <p:cNvGrpSpPr/>
          <p:nvPr/>
        </p:nvGrpSpPr>
        <p:grpSpPr>
          <a:xfrm>
            <a:off x="2214546" y="1673430"/>
            <a:ext cx="3832330" cy="4064849"/>
            <a:chOff x="2214546" y="1673430"/>
            <a:chExt cx="3832330" cy="4064849"/>
          </a:xfrm>
        </p:grpSpPr>
        <p:cxnSp>
          <p:nvCxnSpPr>
            <p:cNvPr id="229" name="直接连接符 228"/>
            <p:cNvCxnSpPr/>
            <p:nvPr/>
          </p:nvCxnSpPr>
          <p:spPr>
            <a:xfrm>
              <a:off x="4786314" y="3857628"/>
              <a:ext cx="253686" cy="142876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0" name="组合 239"/>
            <p:cNvGrpSpPr/>
            <p:nvPr/>
          </p:nvGrpSpPr>
          <p:grpSpPr>
            <a:xfrm>
              <a:off x="2214546" y="1673430"/>
              <a:ext cx="3832330" cy="4064849"/>
              <a:chOff x="2214546" y="1673430"/>
              <a:chExt cx="3832330" cy="4064849"/>
            </a:xfrm>
          </p:grpSpPr>
          <p:sp>
            <p:nvSpPr>
              <p:cNvPr id="369" name="左大括号 368"/>
              <p:cNvSpPr/>
              <p:nvPr/>
            </p:nvSpPr>
            <p:spPr>
              <a:xfrm flipH="1">
                <a:off x="3071802" y="2042575"/>
                <a:ext cx="504000" cy="3420000"/>
              </a:xfrm>
              <a:prstGeom prst="leftBrace">
                <a:avLst>
                  <a:gd name="adj1" fmla="val 43184"/>
                  <a:gd name="adj2" fmla="val 50000"/>
                </a:avLst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" name="左大括号 369"/>
              <p:cNvSpPr/>
              <p:nvPr/>
            </p:nvSpPr>
            <p:spPr>
              <a:xfrm>
                <a:off x="4281734" y="2145007"/>
                <a:ext cx="857256" cy="3143272"/>
              </a:xfrm>
              <a:prstGeom prst="leftBrace">
                <a:avLst>
                  <a:gd name="adj1" fmla="val 43184"/>
                  <a:gd name="adj2" fmla="val 50000"/>
                </a:avLst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1" name="直接连接符 370"/>
              <p:cNvCxnSpPr/>
              <p:nvPr/>
            </p:nvCxnSpPr>
            <p:spPr>
              <a:xfrm>
                <a:off x="2995868" y="3759201"/>
                <a:ext cx="576000" cy="1588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2" name="组合 39"/>
              <p:cNvGrpSpPr/>
              <p:nvPr/>
            </p:nvGrpSpPr>
            <p:grpSpPr>
              <a:xfrm>
                <a:off x="2214546" y="3387942"/>
                <a:ext cx="1044000" cy="684000"/>
                <a:chOff x="2099240" y="3119985"/>
                <a:chExt cx="1044000" cy="684000"/>
              </a:xfrm>
            </p:grpSpPr>
            <p:sp>
              <p:nvSpPr>
                <p:cNvPr id="385" name="圆角矩形 384"/>
                <p:cNvSpPr>
                  <a:spLocks/>
                </p:cNvSpPr>
                <p:nvPr/>
              </p:nvSpPr>
              <p:spPr>
                <a:xfrm>
                  <a:off x="2099240" y="3119985"/>
                  <a:ext cx="1044000" cy="68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966CC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86" name="TextBox 385"/>
                <p:cNvSpPr txBox="1"/>
                <p:nvPr/>
              </p:nvSpPr>
              <p:spPr>
                <a:xfrm>
                  <a:off x="2099240" y="3147772"/>
                  <a:ext cx="101181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b="1" dirty="0" smtClean="0">
                      <a:solidFill>
                        <a:schemeClr val="bg1"/>
                      </a:solidFill>
                      <a:latin typeface="+mn-ea"/>
                    </a:rPr>
                    <a:t>一般现在</a:t>
                  </a:r>
                  <a:endParaRPr lang="en-US" altLang="zh-CN" sz="1600" b="1" dirty="0" smtClean="0">
                    <a:solidFill>
                      <a:schemeClr val="bg1"/>
                    </a:solidFill>
                    <a:latin typeface="+mn-ea"/>
                  </a:endParaRPr>
                </a:p>
                <a:p>
                  <a:pPr algn="ctr"/>
                  <a:r>
                    <a:rPr lang="zh-CN" altLang="en-US" sz="1600" b="1" dirty="0" smtClean="0">
                      <a:solidFill>
                        <a:schemeClr val="bg1"/>
                      </a:solidFill>
                      <a:latin typeface="+mn-ea"/>
                    </a:rPr>
                    <a:t>时的用法</a:t>
                  </a:r>
                  <a:endParaRPr lang="zh-CN" altLang="en-US" sz="16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373" name="组合 28"/>
              <p:cNvGrpSpPr/>
              <p:nvPr/>
            </p:nvGrpSpPr>
            <p:grpSpPr>
              <a:xfrm>
                <a:off x="2242116" y="5054279"/>
                <a:ext cx="1044000" cy="684000"/>
                <a:chOff x="1343783" y="2268554"/>
                <a:chExt cx="1044000" cy="684000"/>
              </a:xfrm>
            </p:grpSpPr>
            <p:sp>
              <p:nvSpPr>
                <p:cNvPr id="383" name="圆角矩形 382"/>
                <p:cNvSpPr>
                  <a:spLocks/>
                </p:cNvSpPr>
                <p:nvPr/>
              </p:nvSpPr>
              <p:spPr>
                <a:xfrm>
                  <a:off x="1343783" y="2268554"/>
                  <a:ext cx="1044000" cy="68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966CC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84" name="TextBox 30"/>
                <p:cNvSpPr txBox="1"/>
                <p:nvPr/>
              </p:nvSpPr>
              <p:spPr>
                <a:xfrm>
                  <a:off x="1343783" y="2302499"/>
                  <a:ext cx="101181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b="1" dirty="0" smtClean="0">
                      <a:solidFill>
                        <a:schemeClr val="bg1"/>
                      </a:solidFill>
                      <a:latin typeface="+mn-ea"/>
                    </a:rPr>
                    <a:t>一般过去</a:t>
                  </a:r>
                  <a:endParaRPr lang="en-US" altLang="zh-CN" sz="1600" b="1" dirty="0" smtClean="0">
                    <a:solidFill>
                      <a:schemeClr val="bg1"/>
                    </a:solidFill>
                    <a:latin typeface="+mn-ea"/>
                  </a:endParaRPr>
                </a:p>
                <a:p>
                  <a:pPr algn="ctr"/>
                  <a:r>
                    <a:rPr lang="zh-CN" altLang="en-US" sz="1600" b="1" dirty="0" smtClean="0">
                      <a:solidFill>
                        <a:schemeClr val="bg1"/>
                      </a:solidFill>
                      <a:latin typeface="+mn-ea"/>
                    </a:rPr>
                    <a:t>时的用法</a:t>
                  </a:r>
                  <a:endParaRPr lang="zh-CN" altLang="en-US" sz="16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374" name="组合 24"/>
              <p:cNvGrpSpPr/>
              <p:nvPr/>
            </p:nvGrpSpPr>
            <p:grpSpPr>
              <a:xfrm>
                <a:off x="2242116" y="1673430"/>
                <a:ext cx="1044000" cy="684000"/>
                <a:chOff x="1343783" y="2030977"/>
                <a:chExt cx="1044000" cy="684000"/>
              </a:xfrm>
            </p:grpSpPr>
            <p:sp>
              <p:nvSpPr>
                <p:cNvPr id="381" name="圆角矩形 22"/>
                <p:cNvSpPr>
                  <a:spLocks/>
                </p:cNvSpPr>
                <p:nvPr/>
              </p:nvSpPr>
              <p:spPr>
                <a:xfrm>
                  <a:off x="1343783" y="2030977"/>
                  <a:ext cx="1044000" cy="68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966CC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82" name="TextBox 23"/>
                <p:cNvSpPr txBox="1"/>
                <p:nvPr/>
              </p:nvSpPr>
              <p:spPr>
                <a:xfrm>
                  <a:off x="1448345" y="2072035"/>
                  <a:ext cx="80502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b="1" dirty="0" smtClean="0">
                      <a:solidFill>
                        <a:schemeClr val="bg1"/>
                      </a:solidFill>
                    </a:rPr>
                    <a:t>时、体</a:t>
                  </a:r>
                  <a:endParaRPr lang="en-US" altLang="zh-CN" sz="1600" b="1" dirty="0" smtClean="0">
                    <a:solidFill>
                      <a:schemeClr val="bg1"/>
                    </a:solidFill>
                  </a:endParaRPr>
                </a:p>
                <a:p>
                  <a:r>
                    <a:rPr lang="zh-CN" altLang="en-US" sz="1600" b="1" dirty="0" smtClean="0">
                      <a:solidFill>
                        <a:schemeClr val="bg1"/>
                      </a:solidFill>
                    </a:rPr>
                    <a:t>概说</a:t>
                  </a:r>
                  <a:endParaRPr lang="zh-CN" altLang="en-US" sz="16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75" name="组合 31"/>
              <p:cNvGrpSpPr/>
              <p:nvPr/>
            </p:nvGrpSpPr>
            <p:grpSpPr>
              <a:xfrm>
                <a:off x="4857752" y="1911007"/>
                <a:ext cx="1132372" cy="2487745"/>
                <a:chOff x="1452907" y="2268554"/>
                <a:chExt cx="1132372" cy="2487745"/>
              </a:xfrm>
            </p:grpSpPr>
            <p:sp>
              <p:nvSpPr>
                <p:cNvPr id="379" name="圆角矩形 32"/>
                <p:cNvSpPr>
                  <a:spLocks/>
                </p:cNvSpPr>
                <p:nvPr/>
              </p:nvSpPr>
              <p:spPr>
                <a:xfrm>
                  <a:off x="1452907" y="2268554"/>
                  <a:ext cx="1044000" cy="68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966CC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80" name="TextBox 33"/>
                <p:cNvSpPr txBox="1"/>
                <p:nvPr/>
              </p:nvSpPr>
              <p:spPr>
                <a:xfrm>
                  <a:off x="1474693" y="2285565"/>
                  <a:ext cx="101181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b="1" dirty="0" smtClean="0">
                      <a:solidFill>
                        <a:schemeClr val="bg1"/>
                      </a:solidFill>
                      <a:latin typeface="+mn-ea"/>
                    </a:rPr>
                    <a:t>现在进行</a:t>
                  </a:r>
                  <a:endParaRPr lang="en-US" altLang="zh-CN" sz="1600" b="1" dirty="0" smtClean="0">
                    <a:solidFill>
                      <a:schemeClr val="bg1"/>
                    </a:solidFill>
                    <a:latin typeface="+mn-ea"/>
                  </a:endParaRPr>
                </a:p>
                <a:p>
                  <a:pPr algn="ctr"/>
                  <a:r>
                    <a:rPr lang="zh-CN" altLang="en-US" sz="1600" b="1" dirty="0" smtClean="0">
                      <a:solidFill>
                        <a:schemeClr val="bg1"/>
                      </a:solidFill>
                      <a:latin typeface="+mn-ea"/>
                    </a:rPr>
                    <a:t>体的用法</a:t>
                  </a:r>
                  <a:endParaRPr lang="zh-CN" altLang="en-US" sz="16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190" name="圆角矩形 32"/>
                <p:cNvSpPr>
                  <a:spLocks/>
                </p:cNvSpPr>
                <p:nvPr/>
              </p:nvSpPr>
              <p:spPr>
                <a:xfrm>
                  <a:off x="1541279" y="4072299"/>
                  <a:ext cx="1044000" cy="68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966CC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76" name="组合 34"/>
              <p:cNvGrpSpPr/>
              <p:nvPr/>
            </p:nvGrpSpPr>
            <p:grpSpPr>
              <a:xfrm>
                <a:off x="4714876" y="5054279"/>
                <a:ext cx="1332000" cy="684000"/>
                <a:chOff x="1310031" y="2268554"/>
                <a:chExt cx="1332000" cy="684000"/>
              </a:xfrm>
            </p:grpSpPr>
            <p:sp>
              <p:nvSpPr>
                <p:cNvPr id="377" name="圆角矩形 376"/>
                <p:cNvSpPr>
                  <a:spLocks/>
                </p:cNvSpPr>
                <p:nvPr/>
              </p:nvSpPr>
              <p:spPr>
                <a:xfrm>
                  <a:off x="1310031" y="2268554"/>
                  <a:ext cx="1332000" cy="6840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966CC"/>
                </a:solidFill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endParaRPr lang="zh-CN" altLang="en-US" sz="5400" b="1" dirty="0" smtClean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8" name="TextBox 377"/>
                <p:cNvSpPr txBox="1"/>
                <p:nvPr/>
              </p:nvSpPr>
              <p:spPr>
                <a:xfrm>
                  <a:off x="1340284" y="2302499"/>
                  <a:ext cx="127150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600" b="1" spc="-200" dirty="0" smtClean="0">
                      <a:solidFill>
                        <a:schemeClr val="bg1"/>
                      </a:solidFill>
                      <a:latin typeface="+mn-ea"/>
                    </a:rPr>
                    <a:t>进行体句式在</a:t>
                  </a:r>
                  <a:endParaRPr lang="en-US" altLang="zh-CN" sz="1600" b="1" spc="-200" dirty="0" smtClean="0">
                    <a:solidFill>
                      <a:schemeClr val="bg1"/>
                    </a:solidFill>
                    <a:latin typeface="+mn-ea"/>
                  </a:endParaRPr>
                </a:p>
                <a:p>
                  <a:pPr algn="ctr"/>
                  <a:r>
                    <a:rPr lang="zh-CN" altLang="en-US" sz="1600" b="1" spc="-200" dirty="0" smtClean="0">
                      <a:solidFill>
                        <a:schemeClr val="bg1"/>
                      </a:solidFill>
                      <a:latin typeface="+mn-ea"/>
                    </a:rPr>
                    <a:t>语篇中的应用</a:t>
                  </a:r>
                  <a:endParaRPr lang="zh-CN" altLang="en-US" sz="1600" b="1" spc="-2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p:grpSp>
        </p:grpSp>
      </p:grpSp>
      <p:grpSp>
        <p:nvGrpSpPr>
          <p:cNvPr id="387" name="组合 386"/>
          <p:cNvGrpSpPr/>
          <p:nvPr/>
        </p:nvGrpSpPr>
        <p:grpSpPr>
          <a:xfrm>
            <a:off x="3315219" y="3286125"/>
            <a:ext cx="1584000" cy="956503"/>
            <a:chOff x="3287104" y="2713897"/>
            <a:chExt cx="1584000" cy="648000"/>
          </a:xfrm>
        </p:grpSpPr>
        <p:sp>
          <p:nvSpPr>
            <p:cNvPr id="388" name="圆角矩形 387"/>
            <p:cNvSpPr>
              <a:spLocks/>
            </p:cNvSpPr>
            <p:nvPr/>
          </p:nvSpPr>
          <p:spPr>
            <a:xfrm>
              <a:off x="3287104" y="2713897"/>
              <a:ext cx="1584000" cy="648000"/>
            </a:xfrm>
            <a:prstGeom prst="roundRect">
              <a:avLst>
                <a:gd name="adj" fmla="val 50000"/>
              </a:avLst>
            </a:prstGeom>
            <a:noFill/>
            <a:ln w="31750">
              <a:solidFill>
                <a:srgbClr val="3399FF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389" name="圆角矩形 8"/>
            <p:cNvSpPr>
              <a:spLocks/>
            </p:cNvSpPr>
            <p:nvPr/>
          </p:nvSpPr>
          <p:spPr>
            <a:xfrm>
              <a:off x="3342488" y="2762293"/>
              <a:ext cx="1473232" cy="540000"/>
            </a:xfrm>
            <a:prstGeom prst="roundRect">
              <a:avLst>
                <a:gd name="adj" fmla="val 50000"/>
              </a:avLst>
            </a:prstGeom>
            <a:solidFill>
              <a:srgbClr val="3399FF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390" name="TextBox 9"/>
            <p:cNvSpPr txBox="1"/>
            <p:nvPr/>
          </p:nvSpPr>
          <p:spPr>
            <a:xfrm>
              <a:off x="3374296" y="2786925"/>
              <a:ext cx="1475084" cy="4795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动词的时</a:t>
              </a:r>
              <a:endParaRPr lang="en-US" altLang="zh-CN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ctr"/>
              <a:r>
                <a:rPr lang="zh-CN" altLang="en-US" sz="2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和体（一）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  <p:sp>
        <p:nvSpPr>
          <p:cNvPr id="191" name="TextBox 33"/>
          <p:cNvSpPr txBox="1"/>
          <p:nvPr/>
        </p:nvSpPr>
        <p:spPr>
          <a:xfrm>
            <a:off x="4946124" y="3714752"/>
            <a:ext cx="10118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  <a:latin typeface="+mn-ea"/>
              </a:rPr>
              <a:t>过去进行</a:t>
            </a:r>
            <a:endParaRPr lang="en-US" altLang="zh-CN" sz="1600" b="1" dirty="0" smtClean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1600" b="1" dirty="0" smtClean="0">
                <a:solidFill>
                  <a:schemeClr val="bg1"/>
                </a:solidFill>
                <a:latin typeface="+mn-ea"/>
              </a:rPr>
              <a:t>体的用法</a:t>
            </a:r>
            <a:endParaRPr lang="zh-CN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91" name="圆角矩形 390"/>
          <p:cNvSpPr>
            <a:spLocks/>
          </p:cNvSpPr>
          <p:nvPr/>
        </p:nvSpPr>
        <p:spPr>
          <a:xfrm>
            <a:off x="3299153" y="3264132"/>
            <a:ext cx="1620000" cy="1008000"/>
          </a:xfrm>
          <a:prstGeom prst="roundRect">
            <a:avLst>
              <a:gd name="adj" fmla="val 50000"/>
            </a:avLst>
          </a:prstGeom>
          <a:solidFill>
            <a:srgbClr val="8B307D">
              <a:alpha val="0"/>
            </a:srgbClr>
          </a:solidFill>
          <a:ln w="31750">
            <a:noFill/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393" name="圆角矩形 392"/>
          <p:cNvSpPr>
            <a:spLocks/>
          </p:cNvSpPr>
          <p:nvPr/>
        </p:nvSpPr>
        <p:spPr>
          <a:xfrm>
            <a:off x="2208364" y="3364227"/>
            <a:ext cx="1044000" cy="720000"/>
          </a:xfrm>
          <a:prstGeom prst="roundRect">
            <a:avLst>
              <a:gd name="adj" fmla="val 50000"/>
            </a:avLst>
          </a:prstGeom>
          <a:solidFill>
            <a:srgbClr val="9966CC">
              <a:alpha val="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394" name="圆角矩形 393"/>
          <p:cNvSpPr>
            <a:spLocks/>
          </p:cNvSpPr>
          <p:nvPr/>
        </p:nvSpPr>
        <p:spPr>
          <a:xfrm>
            <a:off x="2214546" y="5000636"/>
            <a:ext cx="1116000" cy="792000"/>
          </a:xfrm>
          <a:prstGeom prst="roundRect">
            <a:avLst>
              <a:gd name="adj" fmla="val 50000"/>
            </a:avLst>
          </a:prstGeom>
          <a:solidFill>
            <a:srgbClr val="9966CC">
              <a:alpha val="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grpSp>
        <p:nvGrpSpPr>
          <p:cNvPr id="263" name="组合 262"/>
          <p:cNvGrpSpPr/>
          <p:nvPr/>
        </p:nvGrpSpPr>
        <p:grpSpPr>
          <a:xfrm>
            <a:off x="5929322" y="2943351"/>
            <a:ext cx="2265365" cy="2216264"/>
            <a:chOff x="5929322" y="2943351"/>
            <a:chExt cx="2265365" cy="2216264"/>
          </a:xfrm>
        </p:grpSpPr>
        <p:cxnSp>
          <p:nvCxnSpPr>
            <p:cNvPr id="215" name="直接连接符 214"/>
            <p:cNvCxnSpPr/>
            <p:nvPr/>
          </p:nvCxnSpPr>
          <p:spPr>
            <a:xfrm rot="5400000" flipH="1" flipV="1">
              <a:off x="5913289" y="3802223"/>
              <a:ext cx="142876" cy="110810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右中括号 219"/>
            <p:cNvSpPr/>
            <p:nvPr/>
          </p:nvSpPr>
          <p:spPr>
            <a:xfrm flipH="1">
              <a:off x="6051562" y="3071810"/>
              <a:ext cx="214314" cy="1908000"/>
            </a:xfrm>
            <a:prstGeom prst="rightBracket">
              <a:avLst>
                <a:gd name="adj" fmla="val 108104"/>
              </a:avLst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1" name="直接连接符 220"/>
            <p:cNvCxnSpPr/>
            <p:nvPr/>
          </p:nvCxnSpPr>
          <p:spPr>
            <a:xfrm flipH="1">
              <a:off x="6051562" y="3427412"/>
              <a:ext cx="39600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 flipH="1">
              <a:off x="6051562" y="3797950"/>
              <a:ext cx="39600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3" name="组合 306"/>
            <p:cNvGrpSpPr/>
            <p:nvPr/>
          </p:nvGrpSpPr>
          <p:grpSpPr>
            <a:xfrm>
              <a:off x="5980124" y="3731686"/>
              <a:ext cx="120028" cy="120028"/>
              <a:chOff x="500034" y="5000636"/>
              <a:chExt cx="671506" cy="671506"/>
            </a:xfrm>
          </p:grpSpPr>
          <p:sp>
            <p:nvSpPr>
              <p:cNvPr id="224" name="流程图: 联系 223"/>
              <p:cNvSpPr/>
              <p:nvPr/>
            </p:nvSpPr>
            <p:spPr>
              <a:xfrm>
                <a:off x="500034" y="5000636"/>
                <a:ext cx="671506" cy="671506"/>
              </a:xfrm>
              <a:prstGeom prst="flowChartConnector">
                <a:avLst/>
              </a:prstGeom>
              <a:solidFill>
                <a:srgbClr val="742A4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流程图: 联系 224"/>
              <p:cNvSpPr/>
              <p:nvPr/>
            </p:nvSpPr>
            <p:spPr>
              <a:xfrm>
                <a:off x="688156" y="5188758"/>
                <a:ext cx="295262" cy="295262"/>
              </a:xfrm>
              <a:prstGeom prst="flowChartConnector">
                <a:avLst/>
              </a:prstGeom>
              <a:solidFill>
                <a:srgbClr val="FEFED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26" name="直接连接符 225"/>
            <p:cNvCxnSpPr/>
            <p:nvPr/>
          </p:nvCxnSpPr>
          <p:spPr>
            <a:xfrm flipH="1">
              <a:off x="6063731" y="4315359"/>
              <a:ext cx="396000" cy="1588"/>
            </a:xfrm>
            <a:prstGeom prst="line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3" name="组合 143"/>
            <p:cNvGrpSpPr/>
            <p:nvPr/>
          </p:nvGrpSpPr>
          <p:grpSpPr>
            <a:xfrm>
              <a:off x="6082890" y="2943351"/>
              <a:ext cx="2111797" cy="310051"/>
              <a:chOff x="350816" y="1003334"/>
              <a:chExt cx="2111797" cy="310051"/>
            </a:xfrm>
          </p:grpSpPr>
          <p:sp>
            <p:nvSpPr>
              <p:cNvPr id="298" name="圆角矩形 297"/>
              <p:cNvSpPr>
                <a:spLocks/>
              </p:cNvSpPr>
              <p:nvPr/>
            </p:nvSpPr>
            <p:spPr>
              <a:xfrm>
                <a:off x="391850" y="1025385"/>
                <a:ext cx="2016000" cy="288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TextBox 298"/>
              <p:cNvSpPr txBox="1"/>
              <p:nvPr/>
            </p:nvSpPr>
            <p:spPr>
              <a:xfrm>
                <a:off x="350816" y="1003334"/>
                <a:ext cx="21117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spc="-130" dirty="0" smtClean="0">
                    <a:solidFill>
                      <a:schemeClr val="bg1"/>
                    </a:solidFill>
                  </a:rPr>
                  <a:t>表过去某时正在进行的动作 </a:t>
                </a:r>
                <a:r>
                  <a:rPr lang="en-US" altLang="en-US" sz="1200" b="1" spc="-130" dirty="0" smtClean="0">
                    <a:solidFill>
                      <a:srgbClr val="FFFF00"/>
                    </a:solidFill>
                  </a:rPr>
                  <a:t>P141</a:t>
                </a:r>
                <a:endParaRPr lang="zh-CN" altLang="en-US" sz="1200" b="1" spc="-130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274" name="组合 146"/>
            <p:cNvGrpSpPr/>
            <p:nvPr/>
          </p:nvGrpSpPr>
          <p:grpSpPr>
            <a:xfrm>
              <a:off x="6116758" y="3286124"/>
              <a:ext cx="2023166" cy="301584"/>
              <a:chOff x="384684" y="1011801"/>
              <a:chExt cx="2023166" cy="301584"/>
            </a:xfrm>
          </p:grpSpPr>
          <p:sp>
            <p:nvSpPr>
              <p:cNvPr id="296" name="圆角矩形 295"/>
              <p:cNvSpPr>
                <a:spLocks/>
              </p:cNvSpPr>
              <p:nvPr/>
            </p:nvSpPr>
            <p:spPr>
              <a:xfrm>
                <a:off x="391850" y="1025385"/>
                <a:ext cx="2016000" cy="288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7" name="TextBox 296"/>
              <p:cNvSpPr txBox="1"/>
              <p:nvPr/>
            </p:nvSpPr>
            <p:spPr>
              <a:xfrm>
                <a:off x="384684" y="1011801"/>
                <a:ext cx="193354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表过去某种习惯动作 </a:t>
                </a:r>
                <a:r>
                  <a:rPr lang="en-US" altLang="en-US" sz="1200" b="1" dirty="0" smtClean="0">
                    <a:solidFill>
                      <a:srgbClr val="FFFF00"/>
                    </a:solidFill>
                  </a:rPr>
                  <a:t>P141</a:t>
                </a:r>
                <a:endParaRPr lang="zh-CN" altLang="en-US" sz="1200" b="1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275" name="组合 149"/>
            <p:cNvGrpSpPr/>
            <p:nvPr/>
          </p:nvGrpSpPr>
          <p:grpSpPr>
            <a:xfrm>
              <a:off x="6072198" y="3643314"/>
              <a:ext cx="2067726" cy="301584"/>
              <a:chOff x="340124" y="1011801"/>
              <a:chExt cx="2067726" cy="301584"/>
            </a:xfrm>
          </p:grpSpPr>
          <p:sp>
            <p:nvSpPr>
              <p:cNvPr id="294" name="圆角矩形 293"/>
              <p:cNvSpPr>
                <a:spLocks/>
              </p:cNvSpPr>
              <p:nvPr/>
            </p:nvSpPr>
            <p:spPr>
              <a:xfrm>
                <a:off x="391850" y="1025385"/>
                <a:ext cx="2016000" cy="288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5" name="TextBox 294"/>
              <p:cNvSpPr txBox="1"/>
              <p:nvPr/>
            </p:nvSpPr>
            <p:spPr>
              <a:xfrm>
                <a:off x="340124" y="1011801"/>
                <a:ext cx="20361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spc="-100" dirty="0" smtClean="0">
                    <a:solidFill>
                      <a:schemeClr val="bg1"/>
                    </a:solidFill>
                  </a:rPr>
                  <a:t>表过去将来时间里的动作 </a:t>
                </a:r>
                <a:r>
                  <a:rPr lang="en-US" altLang="en-US" sz="1200" b="1" spc="-100" dirty="0" smtClean="0">
                    <a:solidFill>
                      <a:srgbClr val="FFFF00"/>
                    </a:solidFill>
                  </a:rPr>
                  <a:t>P142</a:t>
                </a:r>
                <a:endParaRPr lang="zh-CN" altLang="en-US" sz="1200" b="1" spc="-100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276" name="组合 152"/>
            <p:cNvGrpSpPr/>
            <p:nvPr/>
          </p:nvGrpSpPr>
          <p:grpSpPr>
            <a:xfrm>
              <a:off x="6071672" y="4110343"/>
              <a:ext cx="1636252" cy="461665"/>
              <a:chOff x="339598" y="1022188"/>
              <a:chExt cx="1636252" cy="461665"/>
            </a:xfrm>
          </p:grpSpPr>
          <p:sp>
            <p:nvSpPr>
              <p:cNvPr id="292" name="圆角矩形 291"/>
              <p:cNvSpPr>
                <a:spLocks/>
              </p:cNvSpPr>
              <p:nvPr/>
            </p:nvSpPr>
            <p:spPr>
              <a:xfrm>
                <a:off x="391850" y="1025385"/>
                <a:ext cx="1584000" cy="432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339598" y="1022188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表现在时间和</a:t>
                </a:r>
                <a:endParaRPr lang="en-US" altLang="zh-CN" sz="1200" b="1" dirty="0" smtClean="0">
                  <a:solidFill>
                    <a:schemeClr val="bg1"/>
                  </a:solidFill>
                </a:endParaRPr>
              </a:p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将来时间里的动作</a:t>
                </a:r>
                <a:endParaRPr lang="zh-CN" altLang="en-US" sz="1200" b="1" dirty="0" smtClean="0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342" name="组合 158"/>
            <p:cNvGrpSpPr/>
            <p:nvPr/>
          </p:nvGrpSpPr>
          <p:grpSpPr>
            <a:xfrm>
              <a:off x="6123924" y="4697950"/>
              <a:ext cx="2016000" cy="461665"/>
              <a:chOff x="391850" y="1003334"/>
              <a:chExt cx="2016000" cy="461665"/>
            </a:xfrm>
          </p:grpSpPr>
          <p:sp>
            <p:nvSpPr>
              <p:cNvPr id="358" name="圆角矩形 357"/>
              <p:cNvSpPr>
                <a:spLocks/>
              </p:cNvSpPr>
              <p:nvPr/>
            </p:nvSpPr>
            <p:spPr>
              <a:xfrm>
                <a:off x="391850" y="1025385"/>
                <a:ext cx="2016000" cy="432000"/>
              </a:xfrm>
              <a:prstGeom prst="roundRect">
                <a:avLst>
                  <a:gd name="adj" fmla="val 27069"/>
                </a:avLst>
              </a:prstGeom>
              <a:solidFill>
                <a:srgbClr val="8B307D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9" name="TextBox 358"/>
              <p:cNvSpPr txBox="1"/>
              <p:nvPr/>
            </p:nvSpPr>
            <p:spPr>
              <a:xfrm>
                <a:off x="411562" y="1003334"/>
                <a:ext cx="16642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过去进行体与一般</a:t>
                </a:r>
                <a:endParaRPr lang="en-US" altLang="zh-CN" sz="1200" b="1" dirty="0" smtClean="0">
                  <a:solidFill>
                    <a:schemeClr val="bg1"/>
                  </a:solidFill>
                </a:endParaRPr>
              </a:p>
              <a:p>
                <a:r>
                  <a:rPr lang="zh-CN" altLang="en-US" sz="1200" b="1" dirty="0" smtClean="0">
                    <a:solidFill>
                      <a:schemeClr val="bg1"/>
                    </a:solidFill>
                  </a:rPr>
                  <a:t>过去时用法比较 </a:t>
                </a:r>
                <a:r>
                  <a:rPr lang="en-US" altLang="en-US" sz="1200" b="1" dirty="0" smtClean="0">
                    <a:solidFill>
                      <a:srgbClr val="FFFF00"/>
                    </a:solidFill>
                  </a:rPr>
                  <a:t>P142</a:t>
                </a:r>
                <a:endParaRPr lang="zh-CN" altLang="en-US" sz="1200" b="1" dirty="0" smtClean="0">
                  <a:solidFill>
                    <a:srgbClr val="FFFF00"/>
                  </a:solidFill>
                </a:endParaRPr>
              </a:p>
            </p:txBody>
          </p:sp>
        </p:grpSp>
      </p:grpSp>
      <p:sp>
        <p:nvSpPr>
          <p:cNvPr id="396" name="圆角矩形 395"/>
          <p:cNvSpPr>
            <a:spLocks/>
          </p:cNvSpPr>
          <p:nvPr/>
        </p:nvSpPr>
        <p:spPr>
          <a:xfrm>
            <a:off x="4714876" y="5072074"/>
            <a:ext cx="1368000" cy="684000"/>
          </a:xfrm>
          <a:prstGeom prst="roundRect">
            <a:avLst>
              <a:gd name="adj" fmla="val 50000"/>
            </a:avLst>
          </a:prstGeom>
          <a:solidFill>
            <a:srgbClr val="9966CC">
              <a:alpha val="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278" name="圆角矩形 277"/>
          <p:cNvSpPr>
            <a:spLocks/>
          </p:cNvSpPr>
          <p:nvPr/>
        </p:nvSpPr>
        <p:spPr>
          <a:xfrm>
            <a:off x="4901578" y="3697818"/>
            <a:ext cx="1116000" cy="684000"/>
          </a:xfrm>
          <a:prstGeom prst="roundRect">
            <a:avLst>
              <a:gd name="adj" fmla="val 50000"/>
            </a:avLst>
          </a:prstGeom>
          <a:solidFill>
            <a:srgbClr val="9966CC">
              <a:alpha val="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392" name="圆角矩形 391"/>
          <p:cNvSpPr>
            <a:spLocks/>
          </p:cNvSpPr>
          <p:nvPr/>
        </p:nvSpPr>
        <p:spPr>
          <a:xfrm>
            <a:off x="2214546" y="1675116"/>
            <a:ext cx="1080000" cy="720000"/>
          </a:xfrm>
          <a:prstGeom prst="roundRect">
            <a:avLst>
              <a:gd name="adj" fmla="val 50000"/>
            </a:avLst>
          </a:prstGeom>
          <a:solidFill>
            <a:srgbClr val="9966CC">
              <a:alpha val="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395" name="圆角矩形 394"/>
          <p:cNvSpPr>
            <a:spLocks/>
          </p:cNvSpPr>
          <p:nvPr/>
        </p:nvSpPr>
        <p:spPr>
          <a:xfrm>
            <a:off x="4840818" y="1889430"/>
            <a:ext cx="1080000" cy="720000"/>
          </a:xfrm>
          <a:prstGeom prst="roundRect">
            <a:avLst>
              <a:gd name="adj" fmla="val 50000"/>
            </a:avLst>
          </a:prstGeom>
          <a:solidFill>
            <a:srgbClr val="9966CC">
              <a:alpha val="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280" name="圆角矩形 279"/>
          <p:cNvSpPr>
            <a:spLocks/>
          </p:cNvSpPr>
          <p:nvPr/>
        </p:nvSpPr>
        <p:spPr>
          <a:xfrm>
            <a:off x="6101301" y="4080409"/>
            <a:ext cx="1620000" cy="468000"/>
          </a:xfrm>
          <a:prstGeom prst="roundRect">
            <a:avLst>
              <a:gd name="adj" fmla="val 50000"/>
            </a:avLst>
          </a:prstGeom>
          <a:solidFill>
            <a:srgbClr val="9966CC">
              <a:alpha val="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4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142976" y="1785926"/>
            <a:ext cx="7500990" cy="2012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400" dirty="0" smtClean="0"/>
              <a:t>掌握一般现在时的三种基本用法及两种特殊用法；</a:t>
            </a:r>
          </a:p>
          <a:p>
            <a:pPr lvl="0">
              <a:lnSpc>
                <a:spcPct val="130000"/>
              </a:lnSpc>
            </a:pPr>
            <a:r>
              <a:rPr lang="zh-CN" altLang="en-US" sz="2400" dirty="0" smtClean="0"/>
              <a:t>掌握一般过去时的三种基本用法及两种特殊用法；</a:t>
            </a:r>
          </a:p>
          <a:p>
            <a:pPr lvl="0">
              <a:lnSpc>
                <a:spcPct val="130000"/>
              </a:lnSpc>
            </a:pPr>
            <a:r>
              <a:rPr lang="zh-CN" altLang="en-US" sz="2400" dirty="0" smtClean="0"/>
              <a:t>掌握现在进行体的两种基本用法及三种特殊用法；</a:t>
            </a:r>
          </a:p>
          <a:p>
            <a:pPr lvl="0">
              <a:lnSpc>
                <a:spcPct val="130000"/>
              </a:lnSpc>
            </a:pPr>
            <a:r>
              <a:rPr lang="zh-CN" altLang="en-US" sz="2400" dirty="0" smtClean="0"/>
              <a:t>掌握过去进行体的两种基本用法及三种特殊用法。</a:t>
            </a:r>
            <a:endParaRPr lang="zh-CN" alt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785786" y="1142984"/>
            <a:ext cx="23423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742A48"/>
                </a:solidFill>
              </a:rPr>
              <a:t>本讲的</a:t>
            </a:r>
            <a:r>
              <a:rPr lang="zh-CN" altLang="en-US" sz="2800" b="1" dirty="0" smtClean="0">
                <a:solidFill>
                  <a:srgbClr val="742A48"/>
                </a:solidFill>
              </a:rPr>
              <a:t>重点</a:t>
            </a:r>
            <a:r>
              <a:rPr lang="zh-CN" altLang="en-US" sz="2800" dirty="0" smtClean="0">
                <a:solidFill>
                  <a:srgbClr val="742A48"/>
                </a:solidFill>
              </a:rPr>
              <a:t>：</a:t>
            </a:r>
            <a:endParaRPr lang="zh-CN" altLang="en-US" sz="2800" dirty="0">
              <a:solidFill>
                <a:srgbClr val="742A48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14282" y="1142984"/>
            <a:ext cx="556086" cy="525796"/>
            <a:chOff x="785786" y="3886398"/>
            <a:chExt cx="920954" cy="870789"/>
          </a:xfrm>
        </p:grpSpPr>
        <p:sp>
          <p:nvSpPr>
            <p:cNvPr id="9" name="菱形 8"/>
            <p:cNvSpPr/>
            <p:nvPr/>
          </p:nvSpPr>
          <p:spPr>
            <a:xfrm>
              <a:off x="785786" y="4000504"/>
              <a:ext cx="571504" cy="571504"/>
            </a:xfrm>
            <a:prstGeom prst="diamond">
              <a:avLst/>
            </a:prstGeom>
            <a:solidFill>
              <a:srgbClr val="99375E">
                <a:alpha val="57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0" name="菱形 9"/>
            <p:cNvSpPr>
              <a:spLocks noChangeAspect="1"/>
            </p:cNvSpPr>
            <p:nvPr/>
          </p:nvSpPr>
          <p:spPr>
            <a:xfrm>
              <a:off x="1188575" y="3886398"/>
              <a:ext cx="360000" cy="360000"/>
            </a:xfrm>
            <a:prstGeom prst="diamond">
              <a:avLst/>
            </a:prstGeom>
            <a:solidFill>
              <a:srgbClr val="99375E">
                <a:alpha val="72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1" name="菱形 10"/>
            <p:cNvSpPr>
              <a:spLocks noChangeAspect="1"/>
            </p:cNvSpPr>
            <p:nvPr/>
          </p:nvSpPr>
          <p:spPr>
            <a:xfrm>
              <a:off x="1159804" y="4289187"/>
              <a:ext cx="468000" cy="468000"/>
            </a:xfrm>
            <a:prstGeom prst="diamond">
              <a:avLst/>
            </a:prstGeom>
            <a:solidFill>
              <a:srgbClr val="99375E">
                <a:alpha val="89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5" name="菱形 14"/>
            <p:cNvSpPr>
              <a:spLocks noChangeAspect="1"/>
            </p:cNvSpPr>
            <p:nvPr/>
          </p:nvSpPr>
          <p:spPr>
            <a:xfrm>
              <a:off x="1418740" y="4116563"/>
              <a:ext cx="288000" cy="288000"/>
            </a:xfrm>
            <a:prstGeom prst="diamond">
              <a:avLst/>
            </a:prstGeom>
            <a:solidFill>
              <a:srgbClr val="99375E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857224" y="1667192"/>
            <a:ext cx="2196000" cy="1588"/>
          </a:xfrm>
          <a:prstGeom prst="line">
            <a:avLst/>
          </a:prstGeom>
          <a:ln w="19050">
            <a:solidFill>
              <a:srgbClr val="9937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785786" y="1785926"/>
            <a:ext cx="500066" cy="193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300" dirty="0" smtClean="0">
                <a:solidFill>
                  <a:srgbClr val="521E33"/>
                </a:solidFill>
                <a:latin typeface="+mn-ea"/>
              </a:rPr>
              <a:t>◆</a:t>
            </a:r>
            <a:endParaRPr lang="en-US" altLang="zh-CN" sz="2300" dirty="0" smtClean="0">
              <a:solidFill>
                <a:srgbClr val="521E33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300" dirty="0" smtClean="0">
                <a:solidFill>
                  <a:srgbClr val="521E33"/>
                </a:solidFill>
                <a:latin typeface="+mn-ea"/>
              </a:rPr>
              <a:t>◆</a:t>
            </a:r>
          </a:p>
          <a:p>
            <a:pPr>
              <a:lnSpc>
                <a:spcPct val="130000"/>
              </a:lnSpc>
            </a:pPr>
            <a:r>
              <a:rPr lang="zh-CN" altLang="en-US" sz="2300" dirty="0" smtClean="0">
                <a:solidFill>
                  <a:srgbClr val="521E33"/>
                </a:solidFill>
                <a:latin typeface="+mn-ea"/>
              </a:rPr>
              <a:t>◆</a:t>
            </a:r>
            <a:endParaRPr lang="en-US" altLang="zh-CN" sz="2300" dirty="0" smtClean="0">
              <a:solidFill>
                <a:srgbClr val="521E33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300" dirty="0" smtClean="0">
                <a:solidFill>
                  <a:srgbClr val="521E33"/>
                </a:solidFill>
                <a:latin typeface="+mn-ea"/>
              </a:rPr>
              <a:t>◆</a:t>
            </a:r>
          </a:p>
        </p:txBody>
      </p:sp>
      <p:sp>
        <p:nvSpPr>
          <p:cNvPr id="31" name="单圆角矩形 30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33" name="图片 32" descr="下一页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352000" y="6534000"/>
            <a:ext cx="323292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142976" y="1785926"/>
            <a:ext cx="7500990" cy="2419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400" dirty="0" smtClean="0"/>
              <a:t>一般现在时表将来时间和表过去时间的特殊用法；</a:t>
            </a:r>
          </a:p>
          <a:p>
            <a:pPr lvl="0">
              <a:lnSpc>
                <a:spcPct val="130000"/>
              </a:lnSpc>
            </a:pPr>
            <a:r>
              <a:rPr lang="zh-CN" altLang="en-US" sz="2400" dirty="0" smtClean="0"/>
              <a:t>一般过去时表现在时间和将来时间的特殊用法；</a:t>
            </a:r>
          </a:p>
          <a:p>
            <a:pPr lvl="0">
              <a:lnSpc>
                <a:spcPct val="130000"/>
              </a:lnSpc>
            </a:pPr>
            <a:r>
              <a:rPr lang="zh-CN" altLang="en-US" sz="2400" dirty="0" smtClean="0"/>
              <a:t>现</a:t>
            </a:r>
            <a:r>
              <a:rPr lang="zh-CN" altLang="en-US" sz="2400" spc="-200" dirty="0" smtClean="0"/>
              <a:t>在进行体表现阶段进行的动作的用法、表感情色彩的用法；</a:t>
            </a:r>
          </a:p>
          <a:p>
            <a:pPr lvl="0">
              <a:lnSpc>
                <a:spcPct val="120000"/>
              </a:lnSpc>
            </a:pPr>
            <a:r>
              <a:rPr lang="zh-CN" altLang="en-US" sz="2400" spc="-100" dirty="0" smtClean="0"/>
              <a:t>现在进行体表将来时间的用法、表刚刚过去的动作的用法；</a:t>
            </a:r>
          </a:p>
          <a:p>
            <a:pPr lvl="0">
              <a:lnSpc>
                <a:spcPct val="120000"/>
              </a:lnSpc>
            </a:pPr>
            <a:r>
              <a:rPr lang="zh-CN" altLang="en-US" sz="2400" dirty="0" smtClean="0"/>
              <a:t>过去进行体表婉转口气的用法和想象性用法。</a:t>
            </a:r>
            <a:endParaRPr lang="zh-CN" alt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785786" y="1142984"/>
            <a:ext cx="23423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742A48"/>
                </a:solidFill>
              </a:rPr>
              <a:t>本讲的</a:t>
            </a:r>
            <a:r>
              <a:rPr lang="zh-CN" altLang="en-US" sz="2800" b="1" dirty="0" smtClean="0">
                <a:solidFill>
                  <a:srgbClr val="742A48"/>
                </a:solidFill>
              </a:rPr>
              <a:t>难点</a:t>
            </a:r>
            <a:r>
              <a:rPr lang="zh-CN" altLang="en-US" sz="2800" dirty="0" smtClean="0">
                <a:solidFill>
                  <a:srgbClr val="742A48"/>
                </a:solidFill>
              </a:rPr>
              <a:t>：</a:t>
            </a:r>
            <a:endParaRPr lang="zh-CN" altLang="en-US" sz="2800" dirty="0">
              <a:solidFill>
                <a:srgbClr val="742A48"/>
              </a:solidFill>
            </a:endParaRPr>
          </a:p>
        </p:txBody>
      </p:sp>
      <p:grpSp>
        <p:nvGrpSpPr>
          <p:cNvPr id="2" name="组合 15"/>
          <p:cNvGrpSpPr/>
          <p:nvPr/>
        </p:nvGrpSpPr>
        <p:grpSpPr>
          <a:xfrm>
            <a:off x="214282" y="1142984"/>
            <a:ext cx="556086" cy="525796"/>
            <a:chOff x="785786" y="3886398"/>
            <a:chExt cx="920954" cy="870789"/>
          </a:xfrm>
        </p:grpSpPr>
        <p:sp>
          <p:nvSpPr>
            <p:cNvPr id="9" name="菱形 8"/>
            <p:cNvSpPr/>
            <p:nvPr/>
          </p:nvSpPr>
          <p:spPr>
            <a:xfrm>
              <a:off x="785786" y="4000504"/>
              <a:ext cx="571504" cy="571504"/>
            </a:xfrm>
            <a:prstGeom prst="diamond">
              <a:avLst/>
            </a:prstGeom>
            <a:solidFill>
              <a:srgbClr val="99375E">
                <a:alpha val="57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0" name="菱形 9"/>
            <p:cNvSpPr>
              <a:spLocks noChangeAspect="1"/>
            </p:cNvSpPr>
            <p:nvPr/>
          </p:nvSpPr>
          <p:spPr>
            <a:xfrm>
              <a:off x="1188575" y="3886398"/>
              <a:ext cx="360000" cy="360000"/>
            </a:xfrm>
            <a:prstGeom prst="diamond">
              <a:avLst/>
            </a:prstGeom>
            <a:solidFill>
              <a:srgbClr val="99375E">
                <a:alpha val="72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1" name="菱形 10"/>
            <p:cNvSpPr>
              <a:spLocks noChangeAspect="1"/>
            </p:cNvSpPr>
            <p:nvPr/>
          </p:nvSpPr>
          <p:spPr>
            <a:xfrm>
              <a:off x="1159804" y="4289187"/>
              <a:ext cx="468000" cy="468000"/>
            </a:xfrm>
            <a:prstGeom prst="diamond">
              <a:avLst/>
            </a:prstGeom>
            <a:solidFill>
              <a:srgbClr val="99375E">
                <a:alpha val="89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5" name="菱形 14"/>
            <p:cNvSpPr>
              <a:spLocks noChangeAspect="1"/>
            </p:cNvSpPr>
            <p:nvPr/>
          </p:nvSpPr>
          <p:spPr>
            <a:xfrm>
              <a:off x="1418740" y="4116563"/>
              <a:ext cx="288000" cy="288000"/>
            </a:xfrm>
            <a:prstGeom prst="diamond">
              <a:avLst/>
            </a:prstGeom>
            <a:solidFill>
              <a:srgbClr val="99375E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857224" y="1667192"/>
            <a:ext cx="2196000" cy="1588"/>
          </a:xfrm>
          <a:prstGeom prst="line">
            <a:avLst/>
          </a:prstGeom>
          <a:ln w="19050">
            <a:solidFill>
              <a:srgbClr val="9937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785786" y="1785926"/>
            <a:ext cx="500066" cy="239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300" dirty="0" smtClean="0">
                <a:solidFill>
                  <a:srgbClr val="521E33"/>
                </a:solidFill>
                <a:latin typeface="+mn-ea"/>
              </a:rPr>
              <a:t>◆</a:t>
            </a:r>
            <a:endParaRPr lang="en-US" altLang="zh-CN" sz="2300" dirty="0" smtClean="0">
              <a:solidFill>
                <a:srgbClr val="521E33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300" dirty="0" smtClean="0">
                <a:solidFill>
                  <a:srgbClr val="521E33"/>
                </a:solidFill>
                <a:latin typeface="+mn-ea"/>
              </a:rPr>
              <a:t>◆</a:t>
            </a:r>
          </a:p>
          <a:p>
            <a:pPr>
              <a:lnSpc>
                <a:spcPct val="130000"/>
              </a:lnSpc>
            </a:pPr>
            <a:r>
              <a:rPr lang="zh-CN" altLang="en-US" sz="2300" dirty="0" smtClean="0">
                <a:solidFill>
                  <a:srgbClr val="521E33"/>
                </a:solidFill>
                <a:latin typeface="+mn-ea"/>
              </a:rPr>
              <a:t>◆</a:t>
            </a:r>
            <a:endParaRPr lang="en-US" altLang="zh-CN" sz="2300" dirty="0" smtClean="0">
              <a:solidFill>
                <a:srgbClr val="521E33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300" dirty="0" smtClean="0">
                <a:solidFill>
                  <a:srgbClr val="521E33"/>
                </a:solidFill>
                <a:latin typeface="+mn-ea"/>
              </a:rPr>
              <a:t>◆</a:t>
            </a:r>
            <a:endParaRPr lang="en-US" altLang="zh-CN" sz="2300" dirty="0" smtClean="0">
              <a:solidFill>
                <a:srgbClr val="521E33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2300" dirty="0" smtClean="0">
                <a:solidFill>
                  <a:srgbClr val="521E33"/>
                </a:solidFill>
                <a:latin typeface="+mn-ea"/>
              </a:rPr>
              <a:t>◆</a:t>
            </a:r>
          </a:p>
        </p:txBody>
      </p:sp>
      <p:sp>
        <p:nvSpPr>
          <p:cNvPr id="23" name="单圆角矩形 22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 descr="下一页.png"/>
          <p:cNvPicPr>
            <a:picLocks noChangeAspect="1"/>
          </p:cNvPicPr>
          <p:nvPr/>
        </p:nvPicPr>
        <p:blipFill>
          <a:blip r:embed="rId2" cstate="print">
            <a:grayscl/>
          </a:blip>
          <a:stretch>
            <a:fillRect/>
          </a:stretch>
        </p:blipFill>
        <p:spPr>
          <a:xfrm>
            <a:off x="8748000" y="6534000"/>
            <a:ext cx="323293" cy="288000"/>
          </a:xfrm>
          <a:prstGeom prst="rect">
            <a:avLst/>
          </a:prstGeom>
        </p:spPr>
      </p:pic>
      <p:pic>
        <p:nvPicPr>
          <p:cNvPr id="31" name="图片 30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714348" y="1086786"/>
            <a:ext cx="8072494" cy="4787230"/>
            <a:chOff x="785786" y="1548000"/>
            <a:chExt cx="8072494" cy="4787230"/>
          </a:xfrm>
        </p:grpSpPr>
        <p:sp>
          <p:nvSpPr>
            <p:cNvPr id="92" name="Rectangle 17"/>
            <p:cNvSpPr>
              <a:spLocks noChangeArrowheads="1"/>
            </p:cNvSpPr>
            <p:nvPr/>
          </p:nvSpPr>
          <p:spPr bwMode="auto">
            <a:xfrm>
              <a:off x="785786" y="1995580"/>
              <a:ext cx="8072494" cy="4339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indent="576000"/>
              <a:r>
                <a:rPr lang="zh-CN" altLang="en-US" sz="2300" dirty="0" smtClean="0"/>
                <a:t>一般现在时表将来属“非现在”用法，既可出现在主句中也可出现在从句中。</a:t>
              </a:r>
            </a:p>
            <a:p>
              <a:pPr indent="576000"/>
              <a:r>
                <a:rPr lang="en-US" sz="2300" dirty="0" smtClean="0"/>
                <a:t>1. </a:t>
              </a:r>
              <a:r>
                <a:rPr lang="zh-CN" altLang="en-US" sz="2300" dirty="0" smtClean="0"/>
                <a:t>在</a:t>
              </a:r>
              <a:r>
                <a:rPr lang="zh-CN" altLang="en-US" sz="2300" b="1" dirty="0" smtClean="0"/>
                <a:t>独立分句</a:t>
              </a:r>
              <a:r>
                <a:rPr lang="zh-CN" altLang="en-US" sz="2300" dirty="0" smtClean="0"/>
                <a:t>中表示按计划、规定、时间表等预计要发生的动作或事态</a:t>
              </a:r>
            </a:p>
            <a:p>
              <a:pPr indent="576000"/>
              <a:r>
                <a:rPr lang="en-US" sz="2300" dirty="0" smtClean="0"/>
                <a:t>e.g. The train </a:t>
              </a:r>
              <a:r>
                <a:rPr lang="en-US" sz="2300" b="1" dirty="0" smtClean="0"/>
                <a:t>arrives</a:t>
              </a:r>
              <a:r>
                <a:rPr lang="en-US" sz="2300" dirty="0" smtClean="0"/>
                <a:t> at 6 o’clock this evening.</a:t>
              </a:r>
              <a:endParaRPr lang="zh-CN" altLang="en-US" sz="2300" dirty="0" smtClean="0"/>
            </a:p>
            <a:p>
              <a:pPr indent="576000"/>
              <a:r>
                <a:rPr lang="en-US" sz="2300" dirty="0" smtClean="0"/>
                <a:t>       Professor Smith </a:t>
              </a:r>
              <a:r>
                <a:rPr lang="en-US" sz="2300" b="1" dirty="0" smtClean="0"/>
                <a:t>retires</a:t>
              </a:r>
              <a:r>
                <a:rPr lang="en-US" sz="2300" dirty="0" smtClean="0"/>
                <a:t> next month.</a:t>
              </a:r>
            </a:p>
            <a:p>
              <a:pPr indent="576000"/>
              <a:endParaRPr lang="en-US" altLang="zh-CN" sz="2300" dirty="0" smtClean="0"/>
            </a:p>
            <a:p>
              <a:pPr indent="576000"/>
              <a:endParaRPr lang="en-US" altLang="zh-CN" sz="2300" dirty="0" smtClean="0"/>
            </a:p>
            <a:p>
              <a:pPr indent="576000"/>
              <a:endParaRPr lang="en-US" altLang="zh-CN" sz="2300" dirty="0" smtClean="0"/>
            </a:p>
            <a:p>
              <a:pPr indent="576000"/>
              <a:endParaRPr lang="en-US" altLang="zh-CN" sz="2300" dirty="0" smtClean="0"/>
            </a:p>
            <a:p>
              <a:pPr indent="576000"/>
              <a:endParaRPr lang="en-US" altLang="zh-CN" sz="2300" dirty="0" smtClean="0"/>
            </a:p>
            <a:p>
              <a:pPr indent="576000"/>
              <a:endParaRPr lang="en-US" altLang="zh-CN" sz="2300" dirty="0" smtClean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384008" y="1548000"/>
              <a:ext cx="2117887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500" b="1" dirty="0" smtClean="0">
                  <a:solidFill>
                    <a:srgbClr val="521E33"/>
                  </a:solidFill>
                </a:rPr>
                <a:t>表示将来时间</a:t>
              </a:r>
            </a:p>
          </p:txBody>
        </p:sp>
        <p:sp>
          <p:nvSpPr>
            <p:cNvPr id="99" name="菱形 98"/>
            <p:cNvSpPr>
              <a:spLocks noChangeAspect="1"/>
            </p:cNvSpPr>
            <p:nvPr/>
          </p:nvSpPr>
          <p:spPr>
            <a:xfrm>
              <a:off x="857224" y="1571612"/>
              <a:ext cx="468000" cy="468000"/>
            </a:xfrm>
            <a:prstGeom prst="diamond">
              <a:avLst/>
            </a:prstGeom>
            <a:solidFill>
              <a:srgbClr val="521E33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00" name="菱形 99"/>
            <p:cNvSpPr>
              <a:spLocks noChangeAspect="1"/>
            </p:cNvSpPr>
            <p:nvPr/>
          </p:nvSpPr>
          <p:spPr>
            <a:xfrm>
              <a:off x="972000" y="1589612"/>
              <a:ext cx="432000" cy="432000"/>
            </a:xfrm>
            <a:prstGeom prst="diamond">
              <a:avLst/>
            </a:prstGeom>
            <a:solidFill>
              <a:srgbClr val="521E33">
                <a:alpha val="85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01" name="菱形 100"/>
            <p:cNvSpPr>
              <a:spLocks noChangeAspect="1"/>
            </p:cNvSpPr>
            <p:nvPr/>
          </p:nvSpPr>
          <p:spPr>
            <a:xfrm>
              <a:off x="928662" y="1625612"/>
              <a:ext cx="360000" cy="360000"/>
            </a:xfrm>
            <a:prstGeom prst="diamond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936000" y="15480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atin typeface="黑体" pitchFamily="49" charset="-122"/>
                  <a:ea typeface="黑体" pitchFamily="49" charset="-122"/>
                </a:rPr>
                <a:t>1</a:t>
              </a:r>
            </a:p>
          </p:txBody>
        </p:sp>
      </p:grpSp>
      <p:sp>
        <p:nvSpPr>
          <p:cNvPr id="115" name="单圆角矩形 114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6" name="图片 115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117" name="图片 116" descr="下一页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352000" y="6534000"/>
            <a:ext cx="323292" cy="287998"/>
          </a:xfrm>
          <a:prstGeom prst="rect">
            <a:avLst/>
          </a:prstGeom>
        </p:spPr>
      </p:pic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1251681" y="3786190"/>
            <a:ext cx="7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因其不可改变性，宛如发生在“当前”。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251681" y="4357694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动词往往只限于“</a:t>
            </a:r>
            <a:r>
              <a:rPr lang="en-US" sz="2000" dirty="0" smtClean="0"/>
              <a:t>arrive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leave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retire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begin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end</a:t>
            </a:r>
            <a:r>
              <a:rPr lang="zh-CN" altLang="en-US" sz="2000" dirty="0" smtClean="0"/>
              <a:t>”等表“到达、动身、开始、停止”等意义的词。</a:t>
            </a:r>
            <a:endParaRPr lang="zh-CN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420129" y="3814708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1</a:t>
            </a:r>
            <a:endParaRPr lang="zh-CN" alt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420129" y="4429132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2</a:t>
            </a:r>
            <a:endParaRPr lang="zh-CN" altLang="en-US" sz="2000" dirty="0"/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1251681" y="5100592"/>
            <a:ext cx="7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该用法中通常须含有表将来时间的状语。</a:t>
            </a:r>
            <a:endParaRPr lang="zh-CN" alt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420129" y="5100592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altLang="zh-CN" sz="2000" b="1" dirty="0" smtClean="0"/>
              <a:t>3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7"/>
          <p:cNvSpPr>
            <a:spLocks noChangeArrowheads="1"/>
          </p:cNvSpPr>
          <p:nvPr/>
        </p:nvSpPr>
        <p:spPr bwMode="auto">
          <a:xfrm>
            <a:off x="714348" y="1000108"/>
            <a:ext cx="8072494" cy="5124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en-US" sz="2300" dirty="0" smtClean="0"/>
              <a:t>2. </a:t>
            </a:r>
            <a:r>
              <a:rPr lang="zh-CN" altLang="en-US" sz="2300" b="1" dirty="0" smtClean="0"/>
              <a:t>从句</a:t>
            </a:r>
            <a:r>
              <a:rPr lang="zh-CN" altLang="en-US" sz="2300" dirty="0" smtClean="0"/>
              <a:t>中表示将来时间的几种句型</a:t>
            </a:r>
          </a:p>
          <a:p>
            <a:pPr indent="576000"/>
            <a:r>
              <a:rPr lang="zh-CN" altLang="en-US" sz="2300" dirty="0" smtClean="0"/>
              <a:t>（</a:t>
            </a:r>
            <a:r>
              <a:rPr lang="en-US" sz="2300" dirty="0" smtClean="0"/>
              <a:t>1</a:t>
            </a:r>
            <a:r>
              <a:rPr lang="zh-CN" altLang="en-US" sz="2300" dirty="0" smtClean="0"/>
              <a:t>）</a:t>
            </a:r>
            <a:r>
              <a:rPr lang="en-US" sz="2300" b="1" dirty="0" smtClean="0"/>
              <a:t>I hope</a:t>
            </a:r>
            <a:r>
              <a:rPr lang="zh-CN" altLang="en-US" sz="2300" b="1" dirty="0" smtClean="0"/>
              <a:t>，</a:t>
            </a:r>
            <a:r>
              <a:rPr lang="en-US" sz="2300" b="1" dirty="0" smtClean="0"/>
              <a:t>I bet</a:t>
            </a:r>
            <a:r>
              <a:rPr lang="zh-CN" altLang="en-US" sz="2300" b="1" dirty="0" smtClean="0"/>
              <a:t>等后面的</a:t>
            </a:r>
            <a:r>
              <a:rPr lang="en-US" sz="2300" b="1" dirty="0" smtClean="0"/>
              <a:t>that-</a:t>
            </a:r>
            <a:r>
              <a:rPr lang="zh-CN" altLang="en-US" sz="2300" b="1" dirty="0" smtClean="0"/>
              <a:t>引导的名词性从句中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e.g. Well, I hope (that) you </a:t>
            </a:r>
            <a:r>
              <a:rPr lang="en-US" sz="2300" b="1" dirty="0" smtClean="0"/>
              <a:t>enjoy</a:t>
            </a:r>
            <a:r>
              <a:rPr lang="en-US" sz="2300" dirty="0" smtClean="0"/>
              <a:t> it.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  I bet (that) we</a:t>
            </a:r>
            <a:r>
              <a:rPr lang="en-US" sz="2300" b="1" dirty="0" smtClean="0"/>
              <a:t>’re</a:t>
            </a:r>
            <a:r>
              <a:rPr lang="en-US" sz="2300" dirty="0" smtClean="0"/>
              <a:t> too late. </a:t>
            </a:r>
          </a:p>
          <a:p>
            <a:pPr indent="576000"/>
            <a:endParaRPr lang="en-US" altLang="zh-CN" sz="2300" dirty="0" smtClean="0"/>
          </a:p>
          <a:p>
            <a:pPr indent="576000"/>
            <a:endParaRPr lang="en-US" altLang="zh-CN" sz="2300" dirty="0" smtClean="0"/>
          </a:p>
          <a:p>
            <a:pPr indent="576000"/>
            <a:endParaRPr lang="en-US" altLang="zh-CN" sz="2300" dirty="0" smtClean="0"/>
          </a:p>
          <a:p>
            <a:pPr indent="576000"/>
            <a:endParaRPr lang="en-US" altLang="zh-CN" sz="2300" dirty="0" smtClean="0"/>
          </a:p>
          <a:p>
            <a:pPr indent="576000"/>
            <a:endParaRPr lang="en-US" altLang="zh-CN" sz="2300" dirty="0" smtClean="0"/>
          </a:p>
          <a:p>
            <a:pPr indent="576000" algn="just"/>
            <a:r>
              <a:rPr lang="zh-CN" altLang="en-US" sz="2300" dirty="0" smtClean="0"/>
              <a:t>（</a:t>
            </a:r>
            <a:r>
              <a:rPr lang="en-US" sz="2300" dirty="0" smtClean="0"/>
              <a:t>2</a:t>
            </a:r>
            <a:r>
              <a:rPr lang="zh-CN" altLang="en-US" sz="2300" dirty="0" smtClean="0"/>
              <a:t>）</a:t>
            </a:r>
            <a:r>
              <a:rPr lang="en-US" sz="2300" b="1" dirty="0" smtClean="0"/>
              <a:t>see (to it) / make sure / make certain + that-</a:t>
            </a:r>
            <a:r>
              <a:rPr lang="zh-CN" altLang="en-US" sz="2300" b="1" dirty="0" smtClean="0"/>
              <a:t>引导的名词性从句中</a:t>
            </a:r>
            <a:endParaRPr lang="zh-CN" altLang="en-US" sz="2300" dirty="0" smtClean="0"/>
          </a:p>
          <a:p>
            <a:pPr indent="576000" algn="just"/>
            <a:r>
              <a:rPr lang="en-US" sz="2300" dirty="0" smtClean="0"/>
              <a:t>e.g. </a:t>
            </a:r>
            <a:r>
              <a:rPr lang="en-US" sz="2300" spc="100" dirty="0" smtClean="0"/>
              <a:t>I’ll see (to it) / make sure / make certain (that) you  </a:t>
            </a:r>
          </a:p>
          <a:p>
            <a:pPr indent="576000" algn="just"/>
            <a:r>
              <a:rPr lang="en-US" sz="2300" b="1" spc="100" dirty="0" smtClean="0"/>
              <a:t>      </a:t>
            </a:r>
            <a:r>
              <a:rPr lang="en-US" sz="2300" b="1" dirty="0" smtClean="0"/>
              <a:t>don’t get</a:t>
            </a:r>
            <a:r>
              <a:rPr lang="en-US" sz="2300" dirty="0" smtClean="0"/>
              <a:t> lost.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 Make sure that you </a:t>
            </a:r>
            <a:r>
              <a:rPr lang="en-US" sz="2300" b="1" dirty="0" smtClean="0"/>
              <a:t>drink</a:t>
            </a:r>
            <a:r>
              <a:rPr lang="en-US" sz="2300" dirty="0" smtClean="0"/>
              <a:t> plenty of fluids.</a:t>
            </a:r>
            <a:endParaRPr lang="zh-CN" altLang="en-US" sz="2300" dirty="0" smtClean="0"/>
          </a:p>
        </p:txBody>
      </p:sp>
      <p:sp>
        <p:nvSpPr>
          <p:cNvPr id="16" name="单圆角矩形 15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18" name="图片 17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1251681" y="2649676"/>
            <a:ext cx="7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主句谓语动词</a:t>
            </a:r>
            <a:r>
              <a:rPr lang="en-US" sz="2000" dirty="0" smtClean="0"/>
              <a:t>hope</a:t>
            </a:r>
            <a:r>
              <a:rPr lang="zh-CN" altLang="en-US" sz="2000" dirty="0" smtClean="0"/>
              <a:t>属于表示瞬间动作的施为动词。</a:t>
            </a: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1251681" y="3221180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可理解为把将来的情况变成现在的心理活动了，比起用</a:t>
            </a:r>
            <a:r>
              <a:rPr lang="en-US" sz="2000" dirty="0" smtClean="0"/>
              <a:t>will +</a:t>
            </a:r>
            <a:r>
              <a:rPr lang="zh-CN" altLang="en-US" sz="2000" dirty="0" smtClean="0"/>
              <a:t>不定式更显亲切自然。</a:t>
            </a:r>
            <a:endParaRPr lang="zh-CN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420129" y="2649676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1</a:t>
            </a:r>
            <a:endParaRPr lang="zh-CN" alt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420129" y="3221180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2</a:t>
            </a:r>
            <a:endParaRPr lang="zh-CN" altLang="en-US" sz="2000" dirty="0"/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251681" y="6128113"/>
            <a:ext cx="7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表达“务必做到”、“保证”等含义。</a:t>
            </a:r>
            <a:endParaRPr lang="zh-CN" alt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20129" y="6128113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7"/>
          <p:cNvSpPr>
            <a:spLocks noChangeArrowheads="1"/>
          </p:cNvSpPr>
          <p:nvPr/>
        </p:nvSpPr>
        <p:spPr bwMode="auto">
          <a:xfrm>
            <a:off x="714348" y="1000108"/>
            <a:ext cx="8072494" cy="4693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zh-CN" altLang="en-US" sz="2300" dirty="0" smtClean="0"/>
              <a:t>（</a:t>
            </a:r>
            <a:r>
              <a:rPr lang="en-US" sz="2300" dirty="0" smtClean="0"/>
              <a:t>3</a:t>
            </a:r>
            <a:r>
              <a:rPr lang="zh-CN" altLang="en-US" sz="2300" dirty="0" smtClean="0"/>
              <a:t>）</a:t>
            </a:r>
            <a:r>
              <a:rPr lang="zh-CN" altLang="en-US" sz="2300" b="1" dirty="0" smtClean="0"/>
              <a:t>由</a:t>
            </a:r>
            <a:r>
              <a:rPr lang="en-US" sz="2300" b="1" dirty="0" smtClean="0"/>
              <a:t>if / when</a:t>
            </a:r>
            <a:r>
              <a:rPr lang="zh-CN" altLang="en-US" sz="2300" b="1" dirty="0" smtClean="0"/>
              <a:t>等引导的条件分句和时间分句中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e.g. The disk will corrupt if it </a:t>
            </a:r>
            <a:r>
              <a:rPr lang="en-US" sz="2300" b="1" dirty="0" smtClean="0"/>
              <a:t>is overloaded</a:t>
            </a:r>
            <a:r>
              <a:rPr lang="en-US" sz="2300" dirty="0" smtClean="0"/>
              <a:t>.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 He will stand in for Mr. </a:t>
            </a:r>
            <a:r>
              <a:rPr lang="en-US" sz="2300" dirty="0" err="1" smtClean="0"/>
              <a:t>Goh</a:t>
            </a:r>
            <a:r>
              <a:rPr lang="en-US" sz="2300" dirty="0" smtClean="0"/>
              <a:t> when he </a:t>
            </a:r>
            <a:r>
              <a:rPr lang="en-US" sz="2300" b="1" dirty="0" smtClean="0"/>
              <a:t>is</a:t>
            </a:r>
            <a:r>
              <a:rPr lang="en-US" sz="2300" dirty="0" smtClean="0"/>
              <a:t> abroad.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 </a:t>
            </a:r>
            <a:r>
              <a:rPr lang="en-US" sz="2300" spc="-40" dirty="0" smtClean="0"/>
              <a:t>As soon as I </a:t>
            </a:r>
            <a:r>
              <a:rPr lang="en-US" sz="2300" b="1" spc="-40" dirty="0" smtClean="0"/>
              <a:t>receive</a:t>
            </a:r>
            <a:r>
              <a:rPr lang="en-US" sz="2300" spc="-40" dirty="0" smtClean="0"/>
              <a:t> payment I will express the book to you.</a:t>
            </a:r>
          </a:p>
          <a:p>
            <a:pPr indent="576000"/>
            <a:endParaRPr lang="en-US" sz="2300" dirty="0" smtClean="0"/>
          </a:p>
          <a:p>
            <a:pPr indent="576000"/>
            <a:endParaRPr lang="en-US" sz="2300" dirty="0" smtClean="0"/>
          </a:p>
          <a:p>
            <a:pPr indent="576000"/>
            <a:endParaRPr lang="en-US" sz="2300" dirty="0" smtClean="0"/>
          </a:p>
          <a:p>
            <a:pPr indent="576000"/>
            <a:r>
              <a:rPr lang="zh-CN" altLang="en-US" sz="2300" dirty="0" smtClean="0"/>
              <a:t>（</a:t>
            </a:r>
            <a:r>
              <a:rPr lang="en-US" sz="2300" dirty="0" smtClean="0"/>
              <a:t>4</a:t>
            </a:r>
            <a:r>
              <a:rPr lang="zh-CN" altLang="en-US" sz="2300" dirty="0" smtClean="0"/>
              <a:t>）</a:t>
            </a:r>
            <a:r>
              <a:rPr lang="en-US" sz="2300" b="1" dirty="0" smtClean="0"/>
              <a:t>whatever</a:t>
            </a:r>
            <a:r>
              <a:rPr lang="zh-CN" altLang="en-US" sz="2300" b="1" dirty="0" smtClean="0"/>
              <a:t>，</a:t>
            </a:r>
            <a:r>
              <a:rPr lang="en-US" sz="2300" b="1" dirty="0" smtClean="0"/>
              <a:t>wherever</a:t>
            </a:r>
            <a:r>
              <a:rPr lang="zh-CN" altLang="en-US" sz="2300" b="1" dirty="0" smtClean="0"/>
              <a:t>等引导的让步状语分句中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e.g. Whatever they </a:t>
            </a:r>
            <a:r>
              <a:rPr lang="en-US" sz="2300" b="1" dirty="0" smtClean="0"/>
              <a:t>say</a:t>
            </a:r>
            <a:r>
              <a:rPr lang="en-US" sz="2300" dirty="0" smtClean="0"/>
              <a:t>, I won’t pay.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 Wherever she </a:t>
            </a:r>
            <a:r>
              <a:rPr lang="en-US" sz="2300" b="1" dirty="0" smtClean="0"/>
              <a:t>goes</a:t>
            </a:r>
            <a:r>
              <a:rPr lang="en-US" sz="2300" dirty="0" smtClean="0"/>
              <a:t>, I’ll go.</a:t>
            </a:r>
            <a:endParaRPr lang="zh-CN" altLang="en-US" sz="2300" dirty="0" smtClean="0"/>
          </a:p>
          <a:p>
            <a:pPr indent="576000"/>
            <a:endParaRPr lang="en-US" altLang="zh-CN" sz="2300" dirty="0" smtClean="0"/>
          </a:p>
          <a:p>
            <a:pPr indent="576000"/>
            <a:r>
              <a:rPr lang="zh-CN" altLang="en-US" sz="2300" dirty="0" smtClean="0"/>
              <a:t>（</a:t>
            </a:r>
            <a:r>
              <a:rPr lang="en-US" sz="2300" dirty="0" smtClean="0"/>
              <a:t>5</a:t>
            </a:r>
            <a:r>
              <a:rPr lang="zh-CN" altLang="en-US" sz="2300" dirty="0" smtClean="0"/>
              <a:t>）</a:t>
            </a:r>
            <a:r>
              <a:rPr lang="zh-CN" altLang="en-US" sz="2300" b="1" dirty="0" smtClean="0"/>
              <a:t>“</a:t>
            </a:r>
            <a:r>
              <a:rPr lang="en-US" sz="2300" b="1" dirty="0" smtClean="0"/>
              <a:t>The more..., the more...</a:t>
            </a:r>
            <a:r>
              <a:rPr lang="zh-CN" altLang="en-US" sz="2300" b="1" dirty="0" smtClean="0"/>
              <a:t>”引导的比较状语分句中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e.g. The more you </a:t>
            </a:r>
            <a:r>
              <a:rPr lang="en-US" sz="2300" b="1" dirty="0" smtClean="0"/>
              <a:t>practice</a:t>
            </a:r>
            <a:r>
              <a:rPr lang="en-US" sz="2300" dirty="0" smtClean="0"/>
              <a:t>, the more skilful you’ll become. </a:t>
            </a:r>
            <a:endParaRPr lang="zh-CN" altLang="en-US" sz="2300" dirty="0"/>
          </a:p>
        </p:txBody>
      </p:sp>
      <p:sp>
        <p:nvSpPr>
          <p:cNvPr id="10" name="单圆角矩形 9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单圆角矩形 20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23" name="图片 22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251681" y="2643182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spc="-60" dirty="0" smtClean="0"/>
              <a:t>引导词不仅仅限于</a:t>
            </a:r>
            <a:r>
              <a:rPr lang="en-US" sz="2000" spc="-60" dirty="0" smtClean="0"/>
              <a:t>if / when </a:t>
            </a:r>
            <a:r>
              <a:rPr lang="zh-CN" altLang="en-US" sz="2000" spc="-60" dirty="0" smtClean="0"/>
              <a:t>，其他从属连词</a:t>
            </a:r>
            <a:r>
              <a:rPr lang="en-US" sz="2000" spc="-60" dirty="0" smtClean="0"/>
              <a:t>as soon as</a:t>
            </a:r>
            <a:r>
              <a:rPr lang="zh-CN" altLang="en-US" sz="2000" spc="-60" dirty="0" smtClean="0"/>
              <a:t>，</a:t>
            </a:r>
            <a:r>
              <a:rPr lang="en-US" sz="2000" spc="-60" dirty="0" smtClean="0"/>
              <a:t>until</a:t>
            </a:r>
            <a:r>
              <a:rPr lang="zh-CN" altLang="en-US" sz="2000" spc="-60" dirty="0" smtClean="0"/>
              <a:t>，</a:t>
            </a:r>
            <a:r>
              <a:rPr lang="en-US" sz="2000" spc="-60" dirty="0" smtClean="0"/>
              <a:t>directly</a:t>
            </a:r>
            <a:r>
              <a:rPr lang="zh-CN" altLang="en-US" sz="2000" spc="-60" dirty="0" smtClean="0"/>
              <a:t>，</a:t>
            </a:r>
            <a:r>
              <a:rPr lang="en-US" sz="2000" dirty="0" smtClean="0"/>
              <a:t>before</a:t>
            </a:r>
            <a:r>
              <a:rPr lang="zh-CN" altLang="en-US" sz="2000" dirty="0" smtClean="0"/>
              <a:t>等也可。</a:t>
            </a:r>
            <a:endParaRPr lang="zh-CN" alt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420129" y="2643182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714348" y="1142984"/>
            <a:ext cx="8072494" cy="5495116"/>
            <a:chOff x="785786" y="1548000"/>
            <a:chExt cx="8072494" cy="5495116"/>
          </a:xfrm>
        </p:grpSpPr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785786" y="1995580"/>
              <a:ext cx="8072494" cy="5047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indent="576000" algn="just"/>
              <a:r>
                <a:rPr lang="en-US" sz="2300" dirty="0" smtClean="0"/>
                <a:t>1. </a:t>
              </a:r>
              <a:r>
                <a:rPr lang="zh-CN" altLang="en-US" sz="2300" dirty="0" smtClean="0"/>
                <a:t>言语动词如</a:t>
              </a:r>
              <a:r>
                <a:rPr lang="en-US" sz="2300" dirty="0" smtClean="0"/>
                <a:t>say</a:t>
              </a:r>
              <a:r>
                <a:rPr lang="zh-CN" altLang="en-US" sz="2300" dirty="0" smtClean="0"/>
                <a:t>，</a:t>
              </a:r>
              <a:r>
                <a:rPr lang="en-US" sz="2300" dirty="0" smtClean="0"/>
                <a:t>tell</a:t>
              </a:r>
              <a:r>
                <a:rPr lang="zh-CN" altLang="en-US" sz="2300" dirty="0" smtClean="0"/>
                <a:t>，</a:t>
              </a:r>
              <a:r>
                <a:rPr lang="en-US" sz="2300" dirty="0" smtClean="0"/>
                <a:t>learn</a:t>
              </a:r>
              <a:r>
                <a:rPr lang="zh-CN" altLang="en-US" sz="2300" dirty="0" smtClean="0"/>
                <a:t>，</a:t>
              </a:r>
              <a:r>
                <a:rPr lang="en-US" sz="2300" dirty="0" smtClean="0"/>
                <a:t>hear</a:t>
              </a:r>
              <a:r>
                <a:rPr lang="zh-CN" altLang="en-US" sz="2300" dirty="0" smtClean="0"/>
                <a:t>，</a:t>
              </a:r>
              <a:r>
                <a:rPr lang="en-US" sz="2300" dirty="0" smtClean="0"/>
                <a:t>understand</a:t>
              </a:r>
              <a:r>
                <a:rPr lang="zh-CN" altLang="en-US" sz="2300" dirty="0" smtClean="0"/>
                <a:t>，</a:t>
              </a:r>
              <a:r>
                <a:rPr lang="en-US" sz="2300" dirty="0" smtClean="0"/>
                <a:t>speak</a:t>
              </a:r>
              <a:r>
                <a:rPr lang="zh-CN" altLang="en-US" sz="2300" dirty="0" smtClean="0"/>
                <a:t>，</a:t>
              </a:r>
              <a:r>
                <a:rPr lang="en-US" sz="2300" dirty="0" smtClean="0"/>
                <a:t>gather</a:t>
              </a:r>
              <a:r>
                <a:rPr lang="zh-CN" altLang="en-US" sz="2300" dirty="0" smtClean="0"/>
                <a:t>等，能用一般现在时来传达过去发出的信息。</a:t>
              </a:r>
            </a:p>
            <a:p>
              <a:pPr indent="576000" algn="just"/>
              <a:r>
                <a:rPr lang="en-US" sz="2300" dirty="0" smtClean="0"/>
                <a:t>e.g. </a:t>
              </a:r>
              <a:r>
                <a:rPr lang="en-US" sz="2300" spc="-70" dirty="0" smtClean="0"/>
                <a:t>The ten o’clock news </a:t>
              </a:r>
              <a:r>
                <a:rPr lang="en-US" sz="2300" b="1" spc="-70" dirty="0" smtClean="0"/>
                <a:t>says</a:t>
              </a:r>
              <a:r>
                <a:rPr lang="en-US" sz="2300" spc="-70" dirty="0" smtClean="0"/>
                <a:t> that there’s going to be a bad storm.</a:t>
              </a:r>
              <a:endParaRPr lang="zh-CN" altLang="en-US" sz="2300" spc="-70" dirty="0" smtClean="0"/>
            </a:p>
            <a:p>
              <a:pPr indent="576000" algn="just"/>
              <a:r>
                <a:rPr lang="en-US" sz="2300" dirty="0" smtClean="0"/>
                <a:t>       </a:t>
              </a:r>
              <a:r>
                <a:rPr lang="en-US" sz="2300" spc="80" dirty="0" smtClean="0"/>
                <a:t>Incidentally, a little bird </a:t>
              </a:r>
              <a:r>
                <a:rPr lang="en-US" sz="2300" b="1" spc="80" dirty="0" smtClean="0"/>
                <a:t>tells</a:t>
              </a:r>
              <a:r>
                <a:rPr lang="en-US" sz="2300" spc="80" dirty="0" smtClean="0"/>
                <a:t> me that your birthday’s  </a:t>
              </a:r>
            </a:p>
            <a:p>
              <a:pPr indent="576000" algn="just"/>
              <a:r>
                <a:rPr lang="en-US" sz="2300" spc="130" dirty="0" smtClean="0"/>
                <a:t>      </a:t>
              </a:r>
              <a:r>
                <a:rPr lang="en-US" sz="2300" dirty="0" smtClean="0"/>
                <a:t>coming up. </a:t>
              </a:r>
              <a:endParaRPr lang="zh-CN" altLang="en-US" sz="2300" dirty="0" smtClean="0"/>
            </a:p>
            <a:p>
              <a:pPr indent="576000" algn="just"/>
              <a:r>
                <a:rPr lang="en-US" sz="2300" dirty="0" smtClean="0"/>
                <a:t>       I </a:t>
              </a:r>
              <a:r>
                <a:rPr lang="en-US" sz="2300" b="1" dirty="0" smtClean="0"/>
                <a:t>hear</a:t>
              </a:r>
              <a:r>
                <a:rPr lang="en-US" sz="2300" dirty="0" smtClean="0"/>
                <a:t> you’ve been away this weekend.</a:t>
              </a:r>
            </a:p>
            <a:p>
              <a:pPr indent="576000" algn="just"/>
              <a:endParaRPr lang="en-US" altLang="zh-CN" sz="2300" dirty="0" smtClean="0"/>
            </a:p>
            <a:p>
              <a:pPr indent="576000" algn="just"/>
              <a:endParaRPr lang="en-US" altLang="zh-CN" sz="2300" dirty="0" smtClean="0"/>
            </a:p>
            <a:p>
              <a:pPr indent="576000" algn="just"/>
              <a:endParaRPr lang="en-US" altLang="zh-CN" sz="2300" dirty="0" smtClean="0"/>
            </a:p>
            <a:p>
              <a:pPr indent="576000" algn="just"/>
              <a:r>
                <a:rPr lang="en-US" sz="2300" dirty="0" smtClean="0"/>
                <a:t>2. </a:t>
              </a:r>
              <a:r>
                <a:rPr lang="zh-CN" altLang="en-US" sz="2300" dirty="0" smtClean="0"/>
                <a:t>“历史现在时”作为一种修辞手法来增加生动性和真实感，常用于如下情形：</a:t>
              </a:r>
            </a:p>
            <a:p>
              <a:pPr indent="576000" algn="just"/>
              <a:r>
                <a:rPr lang="zh-CN" altLang="en-US" sz="2300" dirty="0" smtClean="0"/>
                <a:t>（</a:t>
              </a:r>
              <a:r>
                <a:rPr lang="en-US" sz="2300" dirty="0" smtClean="0"/>
                <a:t>1</a:t>
              </a:r>
              <a:r>
                <a:rPr lang="zh-CN" altLang="en-US" sz="2300" dirty="0" smtClean="0"/>
                <a:t>）新闻标题、小说章节标题</a:t>
              </a:r>
            </a:p>
            <a:p>
              <a:pPr indent="576000" algn="just"/>
              <a:r>
                <a:rPr lang="en-US" sz="2300" dirty="0" smtClean="0"/>
                <a:t>e.g. Russia </a:t>
              </a:r>
              <a:r>
                <a:rPr lang="en-US" sz="2300" b="1" dirty="0" smtClean="0"/>
                <a:t>bans</a:t>
              </a:r>
              <a:r>
                <a:rPr lang="en-US" sz="2300" dirty="0" smtClean="0"/>
                <a:t> more EU officials from entry </a:t>
              </a:r>
              <a:r>
                <a:rPr lang="zh-CN" altLang="en-US" sz="2300" dirty="0" smtClean="0"/>
                <a:t>（新闻标题）</a:t>
              </a:r>
            </a:p>
            <a:p>
              <a:pPr indent="576000" algn="just"/>
              <a:r>
                <a:rPr lang="en-US" sz="2300" dirty="0" smtClean="0"/>
                <a:t>       The Lady </a:t>
              </a:r>
              <a:r>
                <a:rPr lang="en-US" sz="2300" b="1" dirty="0" smtClean="0"/>
                <a:t>Vanishes </a:t>
              </a:r>
              <a:r>
                <a:rPr lang="zh-CN" altLang="en-US" sz="2300" dirty="0" smtClean="0"/>
                <a:t>（小说章节标题）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84008" y="1548000"/>
              <a:ext cx="2117887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500" b="1" dirty="0" smtClean="0">
                  <a:solidFill>
                    <a:srgbClr val="521E33"/>
                  </a:solidFill>
                </a:rPr>
                <a:t>表示过去时间</a:t>
              </a:r>
              <a:endParaRPr lang="zh-CN" altLang="en-US" sz="2500" b="1" dirty="0">
                <a:solidFill>
                  <a:srgbClr val="521E33"/>
                </a:solidFill>
              </a:endParaRPr>
            </a:p>
          </p:txBody>
        </p:sp>
        <p:sp>
          <p:nvSpPr>
            <p:cNvPr id="19" name="菱形 18"/>
            <p:cNvSpPr>
              <a:spLocks noChangeAspect="1"/>
            </p:cNvSpPr>
            <p:nvPr/>
          </p:nvSpPr>
          <p:spPr>
            <a:xfrm>
              <a:off x="857224" y="1571612"/>
              <a:ext cx="468000" cy="468000"/>
            </a:xfrm>
            <a:prstGeom prst="diamond">
              <a:avLst/>
            </a:prstGeom>
            <a:solidFill>
              <a:srgbClr val="521E33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0" name="菱形 19"/>
            <p:cNvSpPr>
              <a:spLocks noChangeAspect="1"/>
            </p:cNvSpPr>
            <p:nvPr/>
          </p:nvSpPr>
          <p:spPr>
            <a:xfrm>
              <a:off x="972000" y="1589612"/>
              <a:ext cx="432000" cy="432000"/>
            </a:xfrm>
            <a:prstGeom prst="diamond">
              <a:avLst/>
            </a:prstGeom>
            <a:solidFill>
              <a:srgbClr val="521E33">
                <a:alpha val="85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2" name="菱形 21"/>
            <p:cNvSpPr>
              <a:spLocks noChangeAspect="1"/>
            </p:cNvSpPr>
            <p:nvPr/>
          </p:nvSpPr>
          <p:spPr>
            <a:xfrm>
              <a:off x="928662" y="1625612"/>
              <a:ext cx="360000" cy="360000"/>
            </a:xfrm>
            <a:prstGeom prst="diamond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36000" y="15480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atin typeface="黑体" pitchFamily="49" charset="-122"/>
                  <a:ea typeface="黑体" pitchFamily="49" charset="-122"/>
                </a:rPr>
                <a:t>2</a:t>
              </a:r>
            </a:p>
          </p:txBody>
        </p:sp>
      </p:grp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1251681" y="3929066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用一般现在时突出所传递的信息对现在的影响，大致相当于“现在已经获悉”。</a:t>
            </a:r>
            <a:endParaRPr lang="zh-CN" alt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420129" y="3929066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  <p:sp>
        <p:nvSpPr>
          <p:cNvPr id="30" name="单圆角矩形 29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单圆角矩形 34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37" name="图片 36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714348" y="928670"/>
            <a:ext cx="8072494" cy="4847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 algn="just"/>
            <a:r>
              <a:rPr lang="zh-CN" altLang="en-US" sz="2300" dirty="0" smtClean="0"/>
              <a:t>（</a:t>
            </a:r>
            <a:r>
              <a:rPr lang="en-US" sz="2300" dirty="0" smtClean="0"/>
              <a:t>2</a:t>
            </a:r>
            <a:r>
              <a:rPr lang="zh-CN" altLang="en-US" sz="2300" dirty="0" smtClean="0"/>
              <a:t>）</a:t>
            </a:r>
            <a:r>
              <a:rPr lang="zh-CN" altLang="en-US" sz="2300" spc="-100" dirty="0" smtClean="0"/>
              <a:t>小说、戏剧、电影情节介绍，舞台提示、图片说明等</a:t>
            </a:r>
          </a:p>
          <a:p>
            <a:pPr indent="576000" algn="just"/>
            <a:r>
              <a:rPr lang="en-US" sz="2300" dirty="0" smtClean="0"/>
              <a:t>   e.g. </a:t>
            </a:r>
            <a:r>
              <a:rPr lang="en-US" sz="2300" spc="-60" dirty="0" smtClean="0"/>
              <a:t>[Richard </a:t>
            </a:r>
            <a:r>
              <a:rPr lang="en-US" sz="2300" b="1" spc="-60" dirty="0" smtClean="0"/>
              <a:t>hurries</a:t>
            </a:r>
            <a:r>
              <a:rPr lang="en-US" sz="2300" spc="-60" dirty="0" smtClean="0"/>
              <a:t> off the boat. Alexandra </a:t>
            </a:r>
            <a:r>
              <a:rPr lang="en-US" sz="2300" b="1" spc="-60" dirty="0" smtClean="0"/>
              <a:t>sees</a:t>
            </a:r>
            <a:r>
              <a:rPr lang="en-US" sz="2300" spc="-60" dirty="0" smtClean="0"/>
              <a:t> that he forgot  </a:t>
            </a:r>
          </a:p>
          <a:p>
            <a:pPr indent="576000" algn="just"/>
            <a:r>
              <a:rPr lang="en-US" sz="2300" spc="-60" dirty="0" smtClean="0"/>
              <a:t>           </a:t>
            </a:r>
            <a:r>
              <a:rPr lang="en-US" sz="2300" dirty="0" smtClean="0"/>
              <a:t>one of his bags. She </a:t>
            </a:r>
            <a:r>
              <a:rPr lang="en-US" sz="2300" b="1" dirty="0" smtClean="0"/>
              <a:t>takes</a:t>
            </a:r>
            <a:r>
              <a:rPr lang="en-US" sz="2300" dirty="0" smtClean="0"/>
              <a:t> it and </a:t>
            </a:r>
            <a:r>
              <a:rPr lang="en-US" sz="2300" b="1" dirty="0" smtClean="0"/>
              <a:t>begins</a:t>
            </a:r>
            <a:r>
              <a:rPr lang="en-US" sz="2300" dirty="0" smtClean="0"/>
              <a:t> to follow him.]</a:t>
            </a:r>
            <a:r>
              <a:rPr lang="en-US" sz="2300" spc="-70" dirty="0" smtClean="0"/>
              <a:t>    </a:t>
            </a:r>
          </a:p>
          <a:p>
            <a:pPr indent="576000" algn="just"/>
            <a:r>
              <a:rPr lang="en-US" altLang="zh-CN" sz="2300" spc="-70" dirty="0" smtClean="0"/>
              <a:t>           </a:t>
            </a:r>
            <a:r>
              <a:rPr lang="zh-CN" altLang="en-US" sz="2300" spc="-70" dirty="0" smtClean="0"/>
              <a:t>（剧情介绍）</a:t>
            </a:r>
          </a:p>
          <a:p>
            <a:pPr indent="576000" algn="just">
              <a:spcBef>
                <a:spcPts val="1200"/>
              </a:spcBef>
            </a:pPr>
            <a:r>
              <a:rPr lang="zh-CN" altLang="en-US" sz="2300" dirty="0" smtClean="0"/>
              <a:t>（</a:t>
            </a:r>
            <a:r>
              <a:rPr lang="en-US" sz="2300" dirty="0" smtClean="0"/>
              <a:t>3</a:t>
            </a:r>
            <a:r>
              <a:rPr lang="zh-CN" altLang="en-US" sz="2300" dirty="0" smtClean="0"/>
              <a:t>）有影响的历史人物、作家的思想及作品评价</a:t>
            </a:r>
          </a:p>
          <a:p>
            <a:pPr indent="576000" algn="just"/>
            <a:r>
              <a:rPr lang="en-US" sz="2300" dirty="0" smtClean="0"/>
              <a:t>e.g. </a:t>
            </a:r>
            <a:r>
              <a:rPr lang="en-US" sz="2300" spc="-70" dirty="0" smtClean="0"/>
              <a:t>Shakespeare </a:t>
            </a:r>
            <a:r>
              <a:rPr lang="en-US" sz="2300" b="1" spc="-70" dirty="0" smtClean="0"/>
              <a:t>makes</a:t>
            </a:r>
            <a:r>
              <a:rPr lang="en-US" sz="2300" spc="-70" dirty="0" smtClean="0"/>
              <a:t> his characters live through their language.</a:t>
            </a:r>
            <a:endParaRPr lang="zh-CN" altLang="en-US" sz="2300" spc="-70" dirty="0" smtClean="0"/>
          </a:p>
          <a:p>
            <a:pPr indent="576000" algn="just"/>
            <a:r>
              <a:rPr lang="en-US" sz="2300" dirty="0" smtClean="0"/>
              <a:t>       Confucius </a:t>
            </a:r>
            <a:r>
              <a:rPr lang="en-US" sz="2300" b="1" dirty="0" smtClean="0"/>
              <a:t>regards</a:t>
            </a:r>
            <a:r>
              <a:rPr lang="en-US" sz="2300" dirty="0" smtClean="0"/>
              <a:t> kindness and magnanimity as an ideal  </a:t>
            </a:r>
          </a:p>
          <a:p>
            <a:pPr indent="576000" algn="just"/>
            <a:r>
              <a:rPr lang="en-US" sz="2300" spc="60" dirty="0" smtClean="0"/>
              <a:t>       </a:t>
            </a:r>
            <a:r>
              <a:rPr lang="en-US" sz="2300" dirty="0" smtClean="0"/>
              <a:t>moral state.</a:t>
            </a:r>
          </a:p>
          <a:p>
            <a:pPr indent="576000" algn="just"/>
            <a:endParaRPr lang="en-US" altLang="zh-CN" sz="2300" dirty="0" smtClean="0"/>
          </a:p>
          <a:p>
            <a:pPr indent="576000" algn="just"/>
            <a:endParaRPr lang="en-US" altLang="zh-CN" sz="2300" dirty="0" smtClean="0"/>
          </a:p>
          <a:p>
            <a:pPr indent="576000" algn="just"/>
            <a:r>
              <a:rPr lang="zh-CN" altLang="en-US" sz="2300" dirty="0" smtClean="0"/>
              <a:t>（</a:t>
            </a:r>
            <a:r>
              <a:rPr lang="en-US" sz="2300" dirty="0" smtClean="0"/>
              <a:t>4</a:t>
            </a:r>
            <a:r>
              <a:rPr lang="zh-CN" altLang="en-US" sz="2300" dirty="0" smtClean="0"/>
              <a:t>）用在叙事文中追述往事</a:t>
            </a:r>
          </a:p>
          <a:p>
            <a:pPr indent="576000" algn="just"/>
            <a:r>
              <a:rPr lang="en-US" sz="2300" dirty="0" smtClean="0"/>
              <a:t> </a:t>
            </a:r>
            <a:r>
              <a:rPr lang="en-US" sz="2300" spc="70" dirty="0" smtClean="0"/>
              <a:t>...I was just dozing off in front of the television when my </a:t>
            </a:r>
            <a:r>
              <a:rPr lang="en-US" sz="2300" dirty="0" smtClean="0"/>
              <a:t>wife </a:t>
            </a:r>
            <a:r>
              <a:rPr lang="en-US" sz="2300" b="1" dirty="0" smtClean="0"/>
              <a:t>rushes</a:t>
            </a:r>
            <a:r>
              <a:rPr lang="en-US" sz="2300" dirty="0" smtClean="0"/>
              <a:t> in shouting that the kitchen </a:t>
            </a:r>
            <a:r>
              <a:rPr lang="en-US" sz="2300" b="1" dirty="0" smtClean="0"/>
              <a:t>is</a:t>
            </a:r>
            <a:r>
              <a:rPr lang="en-US" sz="2300" dirty="0" smtClean="0"/>
              <a:t> on fire.</a:t>
            </a:r>
            <a:endParaRPr lang="zh-CN" altLang="en-US" sz="2300" dirty="0" smtClean="0"/>
          </a:p>
        </p:txBody>
      </p: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1251681" y="3957584"/>
            <a:ext cx="7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其思想及作品评价对现在还有影响。</a:t>
            </a:r>
            <a:endParaRPr lang="zh-CN" alt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420129" y="3957584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1251681" y="5721510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可以和一般过去时并用，使用一般现在时可以增进描述的生动性和真实性。</a:t>
            </a:r>
            <a:endParaRPr lang="zh-CN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420129" y="5792948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  <p:sp>
        <p:nvSpPr>
          <p:cNvPr id="21" name="单圆角矩形 20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25" name="图片 24" descr="下一页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748000" y="6534000"/>
            <a:ext cx="323293" cy="2880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26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/>
        </p:nvGrpSpPr>
        <p:grpSpPr>
          <a:xfrm>
            <a:off x="714348" y="1142984"/>
            <a:ext cx="8072494" cy="2663571"/>
            <a:chOff x="785786" y="1548000"/>
            <a:chExt cx="8072494" cy="2663571"/>
          </a:xfrm>
        </p:grpSpPr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785786" y="1995580"/>
              <a:ext cx="8072494" cy="22159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indent="576000" algn="just"/>
              <a:r>
                <a:rPr lang="zh-CN" altLang="en-US" sz="2300" dirty="0" smtClean="0"/>
                <a:t>在表示现在的情况下，可使用表意愿及精神状态的动词</a:t>
              </a:r>
              <a:r>
                <a:rPr lang="zh-CN" altLang="en-US" sz="2300" spc="-100" dirty="0" smtClean="0"/>
                <a:t>（</a:t>
              </a:r>
              <a:r>
                <a:rPr lang="en-US" sz="2300" spc="-100" dirty="0" smtClean="0"/>
                <a:t>want</a:t>
              </a:r>
              <a:r>
                <a:rPr lang="zh-CN" altLang="en-US" sz="2300" spc="-100" dirty="0" smtClean="0"/>
                <a:t>，</a:t>
              </a:r>
              <a:r>
                <a:rPr lang="en-US" sz="2300" spc="-100" dirty="0" smtClean="0"/>
                <a:t>wonder</a:t>
              </a:r>
              <a:r>
                <a:rPr lang="zh-CN" altLang="en-US" sz="2300" spc="-100" dirty="0" smtClean="0"/>
                <a:t>，</a:t>
              </a:r>
              <a:r>
                <a:rPr lang="en-US" sz="2300" spc="-100" dirty="0" smtClean="0"/>
                <a:t>think</a:t>
              </a:r>
              <a:r>
                <a:rPr lang="zh-CN" altLang="en-US" sz="2300" spc="-100" dirty="0" smtClean="0"/>
                <a:t>，</a:t>
              </a:r>
              <a:r>
                <a:rPr lang="en-US" sz="2300" spc="-100" dirty="0" smtClean="0"/>
                <a:t>hope</a:t>
              </a:r>
              <a:r>
                <a:rPr lang="zh-CN" altLang="en-US" sz="2300" spc="-100" dirty="0" smtClean="0"/>
                <a:t>等）的过去时，用以传达婉转口气。</a:t>
              </a:r>
            </a:p>
            <a:p>
              <a:pPr indent="576000" algn="just"/>
              <a:r>
                <a:rPr lang="en-US" sz="2300" dirty="0" smtClean="0"/>
                <a:t>e.g. </a:t>
              </a:r>
              <a:r>
                <a:rPr lang="en-US" sz="2300" spc="-20" dirty="0" smtClean="0"/>
                <a:t>Do / </a:t>
              </a:r>
              <a:r>
                <a:rPr lang="en-US" sz="2300" b="1" spc="-20" dirty="0" smtClean="0"/>
                <a:t>Did</a:t>
              </a:r>
              <a:r>
                <a:rPr lang="en-US" sz="2300" spc="-20" dirty="0" smtClean="0"/>
                <a:t> you want to see me now?     </a:t>
              </a:r>
            </a:p>
            <a:p>
              <a:pPr indent="576000" algn="just"/>
              <a:r>
                <a:rPr lang="en-US" altLang="zh-CN" sz="2300" spc="-20" dirty="0" smtClean="0"/>
                <a:t>       </a:t>
              </a:r>
              <a:r>
                <a:rPr lang="zh-CN" altLang="en-US" sz="2300" spc="-20" dirty="0" smtClean="0"/>
                <a:t>（都表示现在，</a:t>
              </a:r>
              <a:r>
                <a:rPr lang="en-US" sz="2300" spc="-20" dirty="0" smtClean="0"/>
                <a:t>did</a:t>
              </a:r>
              <a:r>
                <a:rPr lang="zh-CN" altLang="en-US" sz="2300" dirty="0" smtClean="0"/>
                <a:t>更礼貌）</a:t>
              </a:r>
            </a:p>
            <a:p>
              <a:pPr indent="576000" algn="just"/>
              <a:r>
                <a:rPr lang="en-US" sz="2300" dirty="0" smtClean="0"/>
                <a:t>       I wonder / </a:t>
              </a:r>
              <a:r>
                <a:rPr lang="en-US" sz="2300" b="1" dirty="0" smtClean="0"/>
                <a:t>wondered</a:t>
              </a:r>
              <a:r>
                <a:rPr lang="en-US" sz="2300" dirty="0" smtClean="0"/>
                <a:t> if you could help us. </a:t>
              </a:r>
            </a:p>
            <a:p>
              <a:pPr indent="576000" algn="just"/>
              <a:r>
                <a:rPr lang="zh-CN" altLang="en-US" sz="2300" dirty="0" smtClean="0"/>
                <a:t>       （都表示现在，</a:t>
              </a:r>
              <a:r>
                <a:rPr lang="en-US" sz="2300" dirty="0" smtClean="0"/>
                <a:t>wondered</a:t>
              </a:r>
              <a:r>
                <a:rPr lang="zh-CN" altLang="en-US" sz="2300" dirty="0" smtClean="0"/>
                <a:t>更礼貌）</a:t>
              </a:r>
              <a:endParaRPr lang="en-US" altLang="zh-CN" sz="2300" dirty="0" smtClean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84008" y="1548000"/>
              <a:ext cx="462498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500" b="1" dirty="0" smtClean="0">
                  <a:solidFill>
                    <a:srgbClr val="521E33"/>
                  </a:solidFill>
                </a:rPr>
                <a:t>态度过去时（</a:t>
              </a:r>
              <a:r>
                <a:rPr lang="en-US" altLang="en-US" sz="2500" b="1" dirty="0" smtClean="0">
                  <a:solidFill>
                    <a:srgbClr val="521E33"/>
                  </a:solidFill>
                </a:rPr>
                <a:t>Attitudinal Past</a:t>
              </a:r>
              <a:r>
                <a:rPr lang="zh-CN" altLang="en-US" sz="2500" b="1" dirty="0" smtClean="0">
                  <a:solidFill>
                    <a:srgbClr val="521E33"/>
                  </a:solidFill>
                </a:rPr>
                <a:t>）</a:t>
              </a:r>
              <a:endParaRPr lang="zh-CN" altLang="en-US" sz="2500" b="1" dirty="0">
                <a:solidFill>
                  <a:srgbClr val="521E33"/>
                </a:solidFill>
              </a:endParaRPr>
            </a:p>
          </p:txBody>
        </p:sp>
        <p:sp>
          <p:nvSpPr>
            <p:cNvPr id="33" name="菱形 32"/>
            <p:cNvSpPr>
              <a:spLocks noChangeAspect="1"/>
            </p:cNvSpPr>
            <p:nvPr/>
          </p:nvSpPr>
          <p:spPr>
            <a:xfrm>
              <a:off x="857224" y="1571612"/>
              <a:ext cx="468000" cy="468000"/>
            </a:xfrm>
            <a:prstGeom prst="diamond">
              <a:avLst/>
            </a:prstGeom>
            <a:solidFill>
              <a:srgbClr val="521E33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35" name="菱形 34"/>
            <p:cNvSpPr>
              <a:spLocks noChangeAspect="1"/>
            </p:cNvSpPr>
            <p:nvPr/>
          </p:nvSpPr>
          <p:spPr>
            <a:xfrm>
              <a:off x="972000" y="1589612"/>
              <a:ext cx="432000" cy="432000"/>
            </a:xfrm>
            <a:prstGeom prst="diamond">
              <a:avLst/>
            </a:prstGeom>
            <a:solidFill>
              <a:srgbClr val="521E33">
                <a:alpha val="85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34" name="菱形 33"/>
            <p:cNvSpPr>
              <a:spLocks noChangeAspect="1"/>
            </p:cNvSpPr>
            <p:nvPr/>
          </p:nvSpPr>
          <p:spPr>
            <a:xfrm>
              <a:off x="928662" y="1625612"/>
              <a:ext cx="360000" cy="360000"/>
            </a:xfrm>
            <a:prstGeom prst="diamond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36000" y="15480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atin typeface="黑体" pitchFamily="49" charset="-122"/>
                  <a:ea typeface="黑体" pitchFamily="49" charset="-122"/>
                </a:rPr>
                <a:t>1</a:t>
              </a:r>
            </a:p>
          </p:txBody>
        </p:sp>
      </p:grpSp>
      <p:sp>
        <p:nvSpPr>
          <p:cNvPr id="50" name="单圆角矩形 49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26" name="图片 25" descr="下一页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352000" y="6534000"/>
            <a:ext cx="323292" cy="287998"/>
          </a:xfrm>
          <a:prstGeom prst="rect">
            <a:avLst/>
          </a:prstGeom>
        </p:spPr>
      </p:pic>
      <p:sp>
        <p:nvSpPr>
          <p:cNvPr id="27" name="Rectangle 17"/>
          <p:cNvSpPr>
            <a:spLocks noChangeArrowheads="1"/>
          </p:cNvSpPr>
          <p:nvPr/>
        </p:nvSpPr>
        <p:spPr bwMode="auto">
          <a:xfrm>
            <a:off x="1251681" y="4006998"/>
            <a:ext cx="7560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dirty="0" smtClean="0"/>
              <a:t>这是一种语用策略，反映说话人探寻式的态度，动词用“心理距离”远的“过去式”。</a:t>
            </a:r>
            <a:endParaRPr lang="zh-CN" altLang="en-US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518691" y="4083198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1"/>
          <p:cNvGrpSpPr/>
          <p:nvPr/>
        </p:nvGrpSpPr>
        <p:grpSpPr>
          <a:xfrm>
            <a:off x="714348" y="1142984"/>
            <a:ext cx="8072494" cy="3725400"/>
            <a:chOff x="785786" y="1548000"/>
            <a:chExt cx="8072494" cy="3725400"/>
          </a:xfrm>
        </p:grpSpPr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785786" y="1995580"/>
              <a:ext cx="8072494" cy="32778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indent="576000" algn="just"/>
              <a:r>
                <a:rPr lang="zh-CN" altLang="en-US" sz="2300" dirty="0" smtClean="0"/>
                <a:t>在某些从属分句中，表达对现在或将来情况的主观想象，主要用于：</a:t>
              </a:r>
            </a:p>
            <a:p>
              <a:pPr indent="576000"/>
              <a:r>
                <a:rPr lang="zh-CN" altLang="en-US" sz="2300" dirty="0" smtClean="0"/>
                <a:t>（</a:t>
              </a:r>
              <a:r>
                <a:rPr lang="en-US" sz="2300" dirty="0" smtClean="0"/>
                <a:t>1</a:t>
              </a:r>
              <a:r>
                <a:rPr lang="zh-CN" altLang="en-US" sz="2300" dirty="0" smtClean="0"/>
                <a:t>）</a:t>
              </a:r>
              <a:r>
                <a:rPr lang="en-US" sz="2300" dirty="0" smtClean="0"/>
                <a:t>It’s time ...</a:t>
              </a:r>
              <a:r>
                <a:rPr lang="zh-CN" altLang="en-US" sz="2300" dirty="0" smtClean="0"/>
                <a:t>，</a:t>
              </a:r>
              <a:r>
                <a:rPr lang="en-US" sz="2300" dirty="0" smtClean="0"/>
                <a:t>I wish ...</a:t>
              </a:r>
              <a:r>
                <a:rPr lang="zh-CN" altLang="en-US" sz="2300" dirty="0" smtClean="0"/>
                <a:t>，</a:t>
              </a:r>
              <a:r>
                <a:rPr lang="en-US" sz="2300" dirty="0" smtClean="0"/>
                <a:t>I’d rather ...</a:t>
              </a:r>
              <a:r>
                <a:rPr lang="zh-CN" altLang="en-US" sz="2300" dirty="0" smtClean="0"/>
                <a:t>，</a:t>
              </a:r>
              <a:r>
                <a:rPr lang="en-US" sz="2300" dirty="0" smtClean="0"/>
                <a:t>Suppose ...</a:t>
              </a:r>
              <a:r>
                <a:rPr lang="zh-CN" altLang="en-US" sz="2300" dirty="0" smtClean="0"/>
                <a:t>等结构后面的</a:t>
              </a:r>
              <a:r>
                <a:rPr lang="en-US" sz="2300" dirty="0" smtClean="0"/>
                <a:t>that-</a:t>
              </a:r>
              <a:r>
                <a:rPr lang="zh-CN" altLang="en-US" sz="2300" dirty="0" smtClean="0"/>
                <a:t>分句中</a:t>
              </a:r>
              <a:endParaRPr lang="en-US" altLang="zh-CN" sz="2300" dirty="0" smtClean="0"/>
            </a:p>
            <a:p>
              <a:pPr indent="576000" algn="just"/>
              <a:r>
                <a:rPr lang="en-US" sz="2300" dirty="0" smtClean="0"/>
                <a:t>e.g. It’s </a:t>
              </a:r>
              <a:r>
                <a:rPr lang="en-US" altLang="zh-CN" sz="2300" dirty="0" smtClean="0">
                  <a:ea typeface="Cambria" pitchFamily="18" charset="0"/>
                </a:rPr>
                <a:t>(</a:t>
              </a:r>
              <a:r>
                <a:rPr lang="en-US" sz="2300" dirty="0" smtClean="0">
                  <a:ea typeface="Cambria" pitchFamily="18" charset="0"/>
                </a:rPr>
                <a:t>high)</a:t>
              </a:r>
              <a:r>
                <a:rPr lang="zh-CN" altLang="en-US" sz="2300" dirty="0" smtClean="0">
                  <a:ea typeface="Cambria" pitchFamily="18" charset="0"/>
                </a:rPr>
                <a:t> </a:t>
              </a:r>
              <a:r>
                <a:rPr lang="en-US" sz="2300" dirty="0" smtClean="0"/>
                <a:t>time we </a:t>
              </a:r>
              <a:r>
                <a:rPr lang="en-US" sz="2300" b="1" dirty="0" smtClean="0"/>
                <a:t>had</a:t>
              </a:r>
              <a:r>
                <a:rPr lang="en-US" sz="2300" dirty="0" smtClean="0"/>
                <a:t> a rest.   </a:t>
              </a:r>
            </a:p>
            <a:p>
              <a:pPr indent="576000" algn="just"/>
              <a:r>
                <a:rPr lang="zh-CN" altLang="en-US" sz="2300" dirty="0" smtClean="0"/>
                <a:t>       （现在还没休息，只是愿望）</a:t>
              </a:r>
            </a:p>
            <a:p>
              <a:pPr indent="576000" algn="just"/>
              <a:r>
                <a:rPr lang="en-US" sz="2300" dirty="0" smtClean="0"/>
                <a:t>       I wish you </a:t>
              </a:r>
              <a:r>
                <a:rPr lang="en-US" sz="2300" b="1" dirty="0" smtClean="0"/>
                <a:t>lived</a:t>
              </a:r>
              <a:r>
                <a:rPr lang="en-US" sz="2300" dirty="0" smtClean="0"/>
                <a:t> closer to us. </a:t>
              </a:r>
              <a:r>
                <a:rPr lang="zh-CN" altLang="en-US" sz="2300" dirty="0" smtClean="0"/>
                <a:t>（现在住得不近）</a:t>
              </a:r>
            </a:p>
            <a:p>
              <a:pPr indent="576000" algn="just"/>
              <a:r>
                <a:rPr lang="en-US" sz="2300" dirty="0" smtClean="0"/>
                <a:t>       Suppose we </a:t>
              </a:r>
              <a:r>
                <a:rPr lang="en-US" sz="2300" b="1" dirty="0" smtClean="0"/>
                <a:t>took</a:t>
              </a:r>
              <a:r>
                <a:rPr lang="en-US" sz="2300" dirty="0" smtClean="0"/>
                <a:t> a later train? </a:t>
              </a:r>
            </a:p>
            <a:p>
              <a:pPr indent="576000" algn="just"/>
              <a:r>
                <a:rPr lang="zh-CN" altLang="en-US" sz="2300" dirty="0" smtClean="0"/>
                <a:t>       （用一般现在时</a:t>
              </a:r>
              <a:r>
                <a:rPr lang="en-US" sz="2300" dirty="0" smtClean="0"/>
                <a:t>take</a:t>
              </a:r>
              <a:r>
                <a:rPr lang="zh-CN" altLang="en-US" sz="2300" dirty="0" smtClean="0"/>
                <a:t>不如用一般过去时婉转）</a:t>
              </a:r>
              <a:endParaRPr lang="en-US" altLang="zh-CN" sz="2300" dirty="0" smtClean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384008" y="1548000"/>
              <a:ext cx="487505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500" b="1" dirty="0" smtClean="0">
                  <a:solidFill>
                    <a:srgbClr val="521E33"/>
                  </a:solidFill>
                </a:rPr>
                <a:t>假设过去时（</a:t>
              </a:r>
              <a:r>
                <a:rPr lang="en-US" altLang="en-US" sz="2500" b="1" dirty="0" smtClean="0">
                  <a:solidFill>
                    <a:srgbClr val="521E33"/>
                  </a:solidFill>
                </a:rPr>
                <a:t>Hypothetical Past</a:t>
              </a:r>
              <a:r>
                <a:rPr lang="zh-CN" altLang="en-US" sz="2500" b="1" dirty="0" smtClean="0">
                  <a:solidFill>
                    <a:srgbClr val="521E33"/>
                  </a:solidFill>
                </a:rPr>
                <a:t>）</a:t>
              </a:r>
              <a:endParaRPr lang="zh-CN" altLang="en-US" sz="2500" b="1" dirty="0">
                <a:solidFill>
                  <a:srgbClr val="521E33"/>
                </a:solidFill>
              </a:endParaRPr>
            </a:p>
          </p:txBody>
        </p:sp>
        <p:sp>
          <p:nvSpPr>
            <p:cNvPr id="33" name="菱形 32"/>
            <p:cNvSpPr>
              <a:spLocks noChangeAspect="1"/>
            </p:cNvSpPr>
            <p:nvPr/>
          </p:nvSpPr>
          <p:spPr>
            <a:xfrm>
              <a:off x="857224" y="1571612"/>
              <a:ext cx="468000" cy="468000"/>
            </a:xfrm>
            <a:prstGeom prst="diamond">
              <a:avLst/>
            </a:prstGeom>
            <a:solidFill>
              <a:srgbClr val="521E33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35" name="菱形 34"/>
            <p:cNvSpPr>
              <a:spLocks noChangeAspect="1"/>
            </p:cNvSpPr>
            <p:nvPr/>
          </p:nvSpPr>
          <p:spPr>
            <a:xfrm>
              <a:off x="972000" y="1589612"/>
              <a:ext cx="432000" cy="432000"/>
            </a:xfrm>
            <a:prstGeom prst="diamond">
              <a:avLst/>
            </a:prstGeom>
            <a:solidFill>
              <a:srgbClr val="521E33">
                <a:alpha val="85000"/>
              </a:srgbClr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34" name="菱形 33"/>
            <p:cNvSpPr>
              <a:spLocks noChangeAspect="1"/>
            </p:cNvSpPr>
            <p:nvPr/>
          </p:nvSpPr>
          <p:spPr>
            <a:xfrm>
              <a:off x="928662" y="1625612"/>
              <a:ext cx="360000" cy="360000"/>
            </a:xfrm>
            <a:prstGeom prst="diamond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54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36000" y="15480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atin typeface="黑体" pitchFamily="49" charset="-122"/>
                  <a:ea typeface="黑体" pitchFamily="49" charset="-122"/>
                </a:rPr>
                <a:t>2</a:t>
              </a:r>
            </a:p>
          </p:txBody>
        </p:sp>
      </p:grpSp>
      <p:sp>
        <p:nvSpPr>
          <p:cNvPr id="50" name="单圆角矩形 49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14" name="图片 13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251681" y="5078568"/>
            <a:ext cx="741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 smtClean="0"/>
              <a:t>It’s time …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I wish ...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I’d rather ...</a:t>
            </a:r>
            <a:r>
              <a:rPr lang="zh-CN" altLang="en-US" sz="2000" dirty="0" smtClean="0"/>
              <a:t>这三个结构后面的</a:t>
            </a:r>
            <a:r>
              <a:rPr lang="en-US" sz="2000" dirty="0" smtClean="0"/>
              <a:t>that-</a:t>
            </a:r>
            <a:r>
              <a:rPr lang="zh-CN" altLang="en-US" sz="2000" dirty="0" smtClean="0"/>
              <a:t>分句都不能用一般现在时。</a:t>
            </a:r>
            <a:endParaRPr lang="zh-CN" alt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500034" y="5178524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7"/>
          <p:cNvSpPr>
            <a:spLocks noChangeArrowheads="1"/>
          </p:cNvSpPr>
          <p:nvPr/>
        </p:nvSpPr>
        <p:spPr bwMode="auto">
          <a:xfrm>
            <a:off x="571472" y="1000108"/>
            <a:ext cx="8072494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zh-CN" altLang="en-US" sz="2300" dirty="0" smtClean="0"/>
              <a:t>（</a:t>
            </a:r>
            <a:r>
              <a:rPr lang="en-US" sz="2300" dirty="0" smtClean="0"/>
              <a:t>2</a:t>
            </a:r>
            <a:r>
              <a:rPr lang="zh-CN" altLang="en-US" sz="2300" dirty="0" smtClean="0"/>
              <a:t>）</a:t>
            </a:r>
            <a:r>
              <a:rPr lang="en-US" sz="2300" spc="-100" dirty="0" smtClean="0"/>
              <a:t>If</a:t>
            </a:r>
            <a:r>
              <a:rPr lang="zh-CN" altLang="en-US" sz="2300" spc="-100" dirty="0" smtClean="0"/>
              <a:t>，</a:t>
            </a:r>
            <a:r>
              <a:rPr lang="en-US" sz="2300" spc="-100" dirty="0" smtClean="0"/>
              <a:t>If only ...</a:t>
            </a:r>
            <a:r>
              <a:rPr lang="zh-CN" altLang="en-US" sz="2300" spc="-100" dirty="0" smtClean="0"/>
              <a:t>，</a:t>
            </a:r>
            <a:r>
              <a:rPr lang="en-US" sz="2300" spc="-100" dirty="0" smtClean="0"/>
              <a:t>as if / though</a:t>
            </a:r>
            <a:r>
              <a:rPr lang="zh-CN" altLang="en-US" sz="2300" spc="-100" dirty="0" smtClean="0"/>
              <a:t>等条件分句或方式状语分句中</a:t>
            </a:r>
          </a:p>
          <a:p>
            <a:pPr indent="576000" algn="just"/>
            <a:r>
              <a:rPr lang="en-US" sz="2300" dirty="0" smtClean="0"/>
              <a:t>e.g. </a:t>
            </a:r>
            <a:r>
              <a:rPr lang="en-US" sz="2300" b="1" dirty="0" smtClean="0"/>
              <a:t>If only</a:t>
            </a:r>
            <a:r>
              <a:rPr lang="en-US" sz="2300" dirty="0" smtClean="0"/>
              <a:t> he </a:t>
            </a:r>
            <a:r>
              <a:rPr lang="en-US" sz="2300" b="1" dirty="0" smtClean="0"/>
              <a:t>didn’t drive</a:t>
            </a:r>
            <a:r>
              <a:rPr lang="en-US" sz="2300" dirty="0" smtClean="0"/>
              <a:t> so fast!  </a:t>
            </a:r>
            <a:endParaRPr lang="zh-CN" altLang="en-US" sz="2300" dirty="0" smtClean="0"/>
          </a:p>
          <a:p>
            <a:pPr indent="576000" algn="just"/>
            <a:r>
              <a:rPr lang="zh-CN" altLang="en-US" sz="2300" dirty="0" smtClean="0"/>
              <a:t>       （现在他正把车开得很快）</a:t>
            </a:r>
          </a:p>
          <a:p>
            <a:pPr indent="576000" algn="just"/>
            <a:r>
              <a:rPr lang="en-US" sz="2300" dirty="0" smtClean="0"/>
              <a:t>      He acts </a:t>
            </a:r>
            <a:r>
              <a:rPr lang="en-US" sz="2300" b="1" dirty="0" smtClean="0"/>
              <a:t>as if</a:t>
            </a:r>
            <a:r>
              <a:rPr lang="en-US" sz="2300" dirty="0" smtClean="0"/>
              <a:t> he </a:t>
            </a:r>
            <a:r>
              <a:rPr lang="en-US" sz="2300" b="1" dirty="0" smtClean="0"/>
              <a:t>knew</a:t>
            </a:r>
            <a:r>
              <a:rPr lang="en-US" sz="2300" dirty="0" smtClean="0"/>
              <a:t> English perfectly.  </a:t>
            </a:r>
            <a:endParaRPr lang="zh-CN" altLang="en-US" sz="2300" dirty="0" smtClean="0"/>
          </a:p>
          <a:p>
            <a:pPr indent="576000" algn="just"/>
            <a:r>
              <a:rPr lang="zh-CN" altLang="en-US" sz="2300" dirty="0" smtClean="0"/>
              <a:t>       （其实他英语并不怎么样，却总爱显摆）</a:t>
            </a:r>
          </a:p>
          <a:p>
            <a:pPr indent="576000" algn="just"/>
            <a:r>
              <a:rPr lang="en-US" sz="2300" dirty="0" smtClean="0"/>
              <a:t>      If you really </a:t>
            </a:r>
            <a:r>
              <a:rPr lang="en-US" sz="2300" b="1" dirty="0" smtClean="0"/>
              <a:t>worked</a:t>
            </a:r>
            <a:r>
              <a:rPr lang="en-US" sz="2300" dirty="0" smtClean="0"/>
              <a:t> hard, you </a:t>
            </a:r>
            <a:r>
              <a:rPr lang="en-US" sz="2300" b="1" dirty="0" smtClean="0"/>
              <a:t>would</a:t>
            </a:r>
            <a:r>
              <a:rPr lang="en-US" sz="2300" dirty="0" smtClean="0"/>
              <a:t> soon get promoted.  </a:t>
            </a:r>
            <a:endParaRPr lang="zh-CN" altLang="en-US" sz="2300" dirty="0" smtClean="0"/>
          </a:p>
          <a:p>
            <a:pPr indent="576000"/>
            <a:r>
              <a:rPr lang="zh-CN" altLang="en-US" sz="2300" dirty="0" smtClean="0"/>
              <a:t>      （现在你工作不努力，将来很难升迁）</a:t>
            </a:r>
          </a:p>
        </p:txBody>
      </p:sp>
      <p:sp>
        <p:nvSpPr>
          <p:cNvPr id="39" name="单圆角矩形 38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44" name="图片 43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1251681" y="4149874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关键是理解非现实性，即与现在事实相反的主观设想，所以时态前推至过去时。</a:t>
            </a:r>
            <a:endParaRPr lang="zh-CN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13581" y="4149874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just"/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571472" y="1590564"/>
            <a:ext cx="8072494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zh-CN" altLang="en-US" sz="2000" dirty="0" smtClean="0"/>
              <a:t>①</a:t>
            </a:r>
            <a:r>
              <a:rPr lang="en-US" sz="2000" dirty="0" smtClean="0"/>
              <a:t> * Sorry, I don’t know you are an engineer.</a:t>
            </a:r>
            <a:endParaRPr lang="zh-CN" altLang="en-US" sz="2000" dirty="0" smtClean="0"/>
          </a:p>
          <a:p>
            <a:pPr indent="576000"/>
            <a:r>
              <a:rPr lang="zh-CN" altLang="en-US" sz="2000" dirty="0" smtClean="0"/>
              <a:t>②</a:t>
            </a:r>
            <a:r>
              <a:rPr lang="en-US" sz="2000" dirty="0" smtClean="0"/>
              <a:t> * I wish I can speak Spanish.</a:t>
            </a:r>
            <a:endParaRPr lang="zh-CN" altLang="en-US" sz="2000" dirty="0" smtClean="0"/>
          </a:p>
          <a:p>
            <a:pPr indent="576000"/>
            <a:r>
              <a:rPr lang="en-US" sz="2000" dirty="0" smtClean="0"/>
              <a:t> </a:t>
            </a:r>
            <a:endParaRPr lang="zh-CN" altLang="en-US" sz="2000" dirty="0" smtClean="0"/>
          </a:p>
          <a:p>
            <a:pPr indent="576000"/>
            <a:r>
              <a:rPr lang="zh-CN" altLang="en-US" sz="2000" dirty="0" smtClean="0"/>
              <a:t>①</a:t>
            </a:r>
            <a:r>
              <a:rPr lang="en-US" sz="2000" dirty="0" smtClean="0"/>
              <a:t>√ Sorry, I </a:t>
            </a:r>
            <a:r>
              <a:rPr lang="en-US" sz="2000" b="1" dirty="0" smtClean="0"/>
              <a:t>didn’t know</a:t>
            </a:r>
            <a:r>
              <a:rPr lang="en-US" sz="2000" dirty="0" smtClean="0"/>
              <a:t> you are an engineer.  </a:t>
            </a:r>
            <a:endParaRPr lang="zh-CN" altLang="en-US" sz="2000" dirty="0" smtClean="0"/>
          </a:p>
          <a:p>
            <a:pPr indent="576000"/>
            <a:r>
              <a:rPr lang="zh-CN" altLang="en-US" sz="2000" dirty="0" smtClean="0"/>
              <a:t>②</a:t>
            </a:r>
            <a:r>
              <a:rPr lang="en-US" sz="2000" dirty="0" smtClean="0"/>
              <a:t>√ I wish I</a:t>
            </a:r>
            <a:r>
              <a:rPr lang="en-US" sz="2000" b="1" dirty="0" smtClean="0"/>
              <a:t> could</a:t>
            </a:r>
            <a:r>
              <a:rPr lang="en-US" sz="2000" dirty="0" smtClean="0"/>
              <a:t> speak Spanish.  </a:t>
            </a:r>
            <a:endParaRPr lang="zh-CN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69694" y="1142984"/>
            <a:ext cx="147348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 dirty="0" smtClean="0">
                <a:solidFill>
                  <a:srgbClr val="521E33"/>
                </a:solidFill>
              </a:rPr>
              <a:t>典型错误</a:t>
            </a:r>
            <a:endParaRPr lang="zh-CN" altLang="en-US" sz="2500" b="1" dirty="0">
              <a:solidFill>
                <a:srgbClr val="521E33"/>
              </a:solidFill>
            </a:endParaRPr>
          </a:p>
        </p:txBody>
      </p:sp>
      <p:sp>
        <p:nvSpPr>
          <p:cNvPr id="10" name="菱形 9"/>
          <p:cNvSpPr>
            <a:spLocks noChangeAspect="1"/>
          </p:cNvSpPr>
          <p:nvPr/>
        </p:nvSpPr>
        <p:spPr>
          <a:xfrm>
            <a:off x="642910" y="1166596"/>
            <a:ext cx="468000" cy="468000"/>
          </a:xfrm>
          <a:prstGeom prst="diamond">
            <a:avLst/>
          </a:prstGeom>
          <a:solidFill>
            <a:srgbClr val="521E33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1" name="菱形 10"/>
          <p:cNvSpPr>
            <a:spLocks noChangeAspect="1"/>
          </p:cNvSpPr>
          <p:nvPr/>
        </p:nvSpPr>
        <p:spPr>
          <a:xfrm>
            <a:off x="757686" y="1184596"/>
            <a:ext cx="432000" cy="432000"/>
          </a:xfrm>
          <a:prstGeom prst="diamond">
            <a:avLst/>
          </a:prstGeom>
          <a:solidFill>
            <a:srgbClr val="521E33">
              <a:alpha val="8500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2" name="菱形 11"/>
          <p:cNvSpPr>
            <a:spLocks noChangeAspect="1"/>
          </p:cNvSpPr>
          <p:nvPr/>
        </p:nvSpPr>
        <p:spPr>
          <a:xfrm>
            <a:off x="714348" y="1220596"/>
            <a:ext cx="360000" cy="360000"/>
          </a:xfrm>
          <a:prstGeom prst="diamond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1686" y="114298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3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642942" y="3495390"/>
            <a:ext cx="904941" cy="369332"/>
            <a:chOff x="428596" y="3106800"/>
            <a:chExt cx="904941" cy="369332"/>
          </a:xfrm>
        </p:grpSpPr>
        <p:grpSp>
          <p:nvGrpSpPr>
            <p:cNvPr id="16" name="组合 83"/>
            <p:cNvGrpSpPr>
              <a:grpSpLocks noChangeAspect="1"/>
            </p:cNvGrpSpPr>
            <p:nvPr/>
          </p:nvGrpSpPr>
          <p:grpSpPr>
            <a:xfrm>
              <a:off x="428596" y="3143248"/>
              <a:ext cx="900000" cy="325412"/>
              <a:chOff x="428596" y="3143248"/>
              <a:chExt cx="790314" cy="285752"/>
            </a:xfrm>
          </p:grpSpPr>
          <p:sp>
            <p:nvSpPr>
              <p:cNvPr id="18" name="圆角矩形 17"/>
              <p:cNvSpPr/>
              <p:nvPr/>
            </p:nvSpPr>
            <p:spPr>
              <a:xfrm>
                <a:off x="642910" y="3143248"/>
                <a:ext cx="576000" cy="285752"/>
              </a:xfrm>
              <a:prstGeom prst="roundRect">
                <a:avLst/>
              </a:prstGeom>
              <a:solidFill>
                <a:srgbClr val="99375E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9" name="图片 18" descr="备注.png">
                <a:hlinkClick r:id="rId2" action="ppaction://hlinksldjump"/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28596" y="3143248"/>
                <a:ext cx="285752" cy="285751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hlinkClick r:id="rId2" action="ppaction://hlinksldjump"/>
            </p:cNvPr>
            <p:cNvSpPr txBox="1"/>
            <p:nvPr/>
          </p:nvSpPr>
          <p:spPr>
            <a:xfrm>
              <a:off x="684000" y="3106800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备注</a:t>
              </a:r>
              <a:endParaRPr lang="zh-CN" altLang="en-US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20" name="单圆角矩形 19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22" name="图片 21" descr="下一页.png"/>
          <p:cNvPicPr>
            <a:picLocks noChangeAspect="1"/>
          </p:cNvPicPr>
          <p:nvPr/>
        </p:nvPicPr>
        <p:blipFill>
          <a:blip r:embed="rId5" cstate="print">
            <a:grayscl/>
          </a:blip>
          <a:stretch>
            <a:fillRect/>
          </a:stretch>
        </p:blipFill>
        <p:spPr>
          <a:xfrm>
            <a:off x="8748000" y="6534000"/>
            <a:ext cx="323293" cy="2880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571472" y="1376250"/>
            <a:ext cx="8072494" cy="4334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en-US" sz="2300" dirty="0" smtClean="0"/>
              <a:t>1. </a:t>
            </a:r>
            <a:r>
              <a:rPr lang="zh-CN" altLang="en-US" sz="2300" dirty="0" smtClean="0"/>
              <a:t>现阶段正在进行而</a:t>
            </a:r>
            <a:r>
              <a:rPr lang="zh-CN" altLang="en-US" sz="2300" b="1" dirty="0" smtClean="0"/>
              <a:t>此刻不一定在进行</a:t>
            </a:r>
            <a:r>
              <a:rPr lang="zh-CN" altLang="en-US" sz="2300" dirty="0" smtClean="0"/>
              <a:t>的动作，可与</a:t>
            </a:r>
            <a:r>
              <a:rPr lang="en-US" sz="2300" dirty="0" smtClean="0"/>
              <a:t>now</a:t>
            </a:r>
            <a:r>
              <a:rPr lang="zh-CN" altLang="en-US" sz="2300" dirty="0" smtClean="0"/>
              <a:t>，</a:t>
            </a:r>
            <a:r>
              <a:rPr lang="en-US" sz="2300" dirty="0" smtClean="0"/>
              <a:t>these days</a:t>
            </a:r>
            <a:r>
              <a:rPr lang="zh-CN" altLang="en-US" sz="2300" dirty="0" smtClean="0"/>
              <a:t>等时间状语连用</a:t>
            </a:r>
            <a:endParaRPr lang="en-US" altLang="zh-CN" sz="2300" dirty="0" smtClean="0"/>
          </a:p>
          <a:p>
            <a:pPr indent="576000">
              <a:lnSpc>
                <a:spcPts val="4000"/>
              </a:lnSpc>
              <a:spcAft>
                <a:spcPts val="1200"/>
              </a:spcAft>
            </a:pPr>
            <a:endParaRPr lang="en-US" altLang="zh-CN" sz="2300" dirty="0" smtClean="0"/>
          </a:p>
          <a:p>
            <a:pPr indent="576000">
              <a:spcBef>
                <a:spcPts val="600"/>
              </a:spcBef>
              <a:spcAft>
                <a:spcPts val="1200"/>
              </a:spcAft>
            </a:pPr>
            <a:r>
              <a:rPr lang="zh-CN" altLang="en-US" sz="2300" dirty="0" smtClean="0"/>
              <a:t>                                         现在</a:t>
            </a:r>
            <a:endParaRPr lang="en-US" altLang="zh-CN" sz="2300" dirty="0" smtClean="0"/>
          </a:p>
          <a:p>
            <a:pPr indent="576000" algn="just"/>
            <a:r>
              <a:rPr lang="en-US" sz="2300" dirty="0" smtClean="0"/>
              <a:t>e.g. </a:t>
            </a:r>
            <a:r>
              <a:rPr lang="en-US" sz="2300" spc="-40" dirty="0" smtClean="0"/>
              <a:t>I</a:t>
            </a:r>
            <a:r>
              <a:rPr lang="en-US" sz="2300" b="1" spc="-40" dirty="0" smtClean="0"/>
              <a:t>’m reading</a:t>
            </a:r>
            <a:r>
              <a:rPr lang="en-US" sz="2300" spc="-40" dirty="0" smtClean="0"/>
              <a:t> a really interesting novel, but I can’t remember </a:t>
            </a:r>
          </a:p>
          <a:p>
            <a:pPr indent="576000" algn="just"/>
            <a:r>
              <a:rPr lang="en-US" sz="2300" dirty="0" smtClean="0"/>
              <a:t>       what it’s called.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 —</a:t>
            </a:r>
            <a:r>
              <a:rPr lang="en-US" sz="2300" b="1" dirty="0" smtClean="0"/>
              <a:t>Is</a:t>
            </a:r>
            <a:r>
              <a:rPr lang="en-US" sz="2300" dirty="0" smtClean="0"/>
              <a:t> anyone </a:t>
            </a:r>
            <a:r>
              <a:rPr lang="en-US" sz="2300" b="1" dirty="0" smtClean="0"/>
              <a:t>sitting</a:t>
            </a:r>
            <a:r>
              <a:rPr lang="en-US" sz="2300" dirty="0" smtClean="0"/>
              <a:t> in this seat?—No, it’s free.</a:t>
            </a:r>
            <a:endParaRPr lang="zh-CN" altLang="en-US" sz="2300" dirty="0" smtClean="0"/>
          </a:p>
          <a:p>
            <a:pPr indent="576000" algn="just"/>
            <a:r>
              <a:rPr lang="en-US" sz="2300" spc="-40" dirty="0" smtClean="0"/>
              <a:t>        </a:t>
            </a:r>
            <a:r>
              <a:rPr lang="en-US" sz="2300" spc="70" dirty="0" smtClean="0"/>
              <a:t>I </a:t>
            </a:r>
            <a:r>
              <a:rPr lang="en-US" sz="2300" b="1" i="1" spc="70" dirty="0" smtClean="0"/>
              <a:t>teach</a:t>
            </a:r>
            <a:r>
              <a:rPr lang="en-US" sz="2300" spc="70" dirty="0" smtClean="0"/>
              <a:t> English at the Teachers’ College, but I</a:t>
            </a:r>
            <a:r>
              <a:rPr lang="en-US" sz="2300" b="1" i="1" spc="70" dirty="0" smtClean="0"/>
              <a:t>’m</a:t>
            </a:r>
            <a:r>
              <a:rPr lang="en-US" sz="2300" spc="70" dirty="0" smtClean="0"/>
              <a:t> now  </a:t>
            </a:r>
          </a:p>
          <a:p>
            <a:pPr indent="576000" algn="just"/>
            <a:r>
              <a:rPr lang="en-US" sz="2300" b="1" i="1" spc="70" dirty="0" smtClean="0"/>
              <a:t>       </a:t>
            </a:r>
            <a:r>
              <a:rPr lang="en-US" sz="2300" b="1" i="1" dirty="0" smtClean="0"/>
              <a:t>teaching</a:t>
            </a:r>
            <a:r>
              <a:rPr lang="en-US" sz="2300" dirty="0" smtClean="0"/>
              <a:t> in a middle school.</a:t>
            </a:r>
            <a:endParaRPr lang="zh-CN" altLang="en-US" sz="2300" dirty="0" smtClean="0"/>
          </a:p>
          <a:p>
            <a:pPr indent="576000">
              <a:lnSpc>
                <a:spcPts val="4000"/>
              </a:lnSpc>
              <a:spcAft>
                <a:spcPts val="1200"/>
              </a:spcAft>
            </a:pPr>
            <a:endParaRPr lang="zh-CN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1169694" y="928670"/>
            <a:ext cx="437331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 dirty="0" smtClean="0">
                <a:solidFill>
                  <a:srgbClr val="521E33"/>
                </a:solidFill>
              </a:rPr>
              <a:t>表示现阶段一直在进行的动作</a:t>
            </a:r>
            <a:endParaRPr lang="zh-CN" altLang="en-US" sz="2500" b="1" dirty="0">
              <a:solidFill>
                <a:srgbClr val="521E33"/>
              </a:solidFill>
            </a:endParaRPr>
          </a:p>
        </p:txBody>
      </p:sp>
      <p:sp>
        <p:nvSpPr>
          <p:cNvPr id="11" name="菱形 10"/>
          <p:cNvSpPr>
            <a:spLocks noChangeAspect="1"/>
          </p:cNvSpPr>
          <p:nvPr/>
        </p:nvSpPr>
        <p:spPr>
          <a:xfrm>
            <a:off x="642910" y="952282"/>
            <a:ext cx="468000" cy="468000"/>
          </a:xfrm>
          <a:prstGeom prst="diamond">
            <a:avLst/>
          </a:prstGeom>
          <a:solidFill>
            <a:srgbClr val="521E33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4" name="菱形 13"/>
          <p:cNvSpPr>
            <a:spLocks noChangeAspect="1"/>
          </p:cNvSpPr>
          <p:nvPr/>
        </p:nvSpPr>
        <p:spPr>
          <a:xfrm>
            <a:off x="757686" y="970282"/>
            <a:ext cx="432000" cy="432000"/>
          </a:xfrm>
          <a:prstGeom prst="diamond">
            <a:avLst/>
          </a:prstGeom>
          <a:solidFill>
            <a:srgbClr val="521E33">
              <a:alpha val="8500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5" name="菱形 14"/>
          <p:cNvSpPr>
            <a:spLocks noChangeAspect="1"/>
          </p:cNvSpPr>
          <p:nvPr/>
        </p:nvSpPr>
        <p:spPr>
          <a:xfrm>
            <a:off x="714348" y="1006282"/>
            <a:ext cx="360000" cy="360000"/>
          </a:xfrm>
          <a:prstGeom prst="diamond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1686" y="92867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1</a:t>
            </a:r>
          </a:p>
        </p:txBody>
      </p:sp>
      <p:sp>
        <p:nvSpPr>
          <p:cNvPr id="22" name="单圆角矩形 21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31" name="图片 30" descr="下一页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352000" y="6534000"/>
            <a:ext cx="323292" cy="287998"/>
          </a:xfrm>
          <a:prstGeom prst="rect">
            <a:avLst/>
          </a:prstGeom>
        </p:spPr>
      </p:pic>
      <p:sp>
        <p:nvSpPr>
          <p:cNvPr id="49" name="Rectangle 17"/>
          <p:cNvSpPr>
            <a:spLocks noChangeArrowheads="1"/>
          </p:cNvSpPr>
          <p:nvPr/>
        </p:nvSpPr>
        <p:spPr bwMode="auto">
          <a:xfrm>
            <a:off x="1251681" y="5386344"/>
            <a:ext cx="7380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上述第三例中的“现阶段”在更广的视角下也可理解为一种暂时性。</a:t>
            </a:r>
            <a:endParaRPr lang="zh-CN" altLang="en-US" sz="2000" dirty="0"/>
          </a:p>
        </p:txBody>
      </p:sp>
      <p:sp>
        <p:nvSpPr>
          <p:cNvPr id="50" name="TextBox 49"/>
          <p:cNvSpPr txBox="1"/>
          <p:nvPr/>
        </p:nvSpPr>
        <p:spPr>
          <a:xfrm>
            <a:off x="500034" y="5457782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  <p:cxnSp>
        <p:nvCxnSpPr>
          <p:cNvPr id="24" name="直接箭头连接符 23"/>
          <p:cNvCxnSpPr/>
          <p:nvPr/>
        </p:nvCxnSpPr>
        <p:spPr>
          <a:xfrm>
            <a:off x="2786050" y="2885276"/>
            <a:ext cx="3643338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4143372" y="2883688"/>
            <a:ext cx="1000132" cy="1588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rot="5400000">
            <a:off x="4348576" y="2465760"/>
            <a:ext cx="504000" cy="1588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等腰三角形 26"/>
          <p:cNvSpPr/>
          <p:nvPr/>
        </p:nvSpPr>
        <p:spPr>
          <a:xfrm rot="10800000">
            <a:off x="4357686" y="2700098"/>
            <a:ext cx="468000" cy="180000"/>
          </a:xfrm>
          <a:prstGeom prst="triangle">
            <a:avLst/>
          </a:prstGeom>
          <a:ln w="12700">
            <a:solidFill>
              <a:schemeClr val="tx1"/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7"/>
          <p:cNvSpPr>
            <a:spLocks noChangeArrowheads="1"/>
          </p:cNvSpPr>
          <p:nvPr/>
        </p:nvSpPr>
        <p:spPr bwMode="auto">
          <a:xfrm>
            <a:off x="571472" y="1000108"/>
            <a:ext cx="8215370" cy="186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 algn="just"/>
            <a:r>
              <a:rPr lang="en-US" sz="2300" dirty="0" smtClean="0"/>
              <a:t>2. </a:t>
            </a:r>
            <a:r>
              <a:rPr lang="zh-CN" altLang="en-US" sz="2300" dirty="0" smtClean="0"/>
              <a:t>与</a:t>
            </a:r>
            <a:r>
              <a:rPr lang="en-US" sz="2300" dirty="0" smtClean="0"/>
              <a:t>always</a:t>
            </a:r>
            <a:r>
              <a:rPr lang="zh-CN" altLang="en-US" sz="2300" dirty="0" smtClean="0"/>
              <a:t>，</a:t>
            </a:r>
            <a:r>
              <a:rPr lang="en-US" sz="2300" dirty="0" smtClean="0"/>
              <a:t>constantly</a:t>
            </a:r>
            <a:r>
              <a:rPr lang="zh-CN" altLang="en-US" sz="2300" dirty="0" smtClean="0"/>
              <a:t>，</a:t>
            </a:r>
            <a:r>
              <a:rPr lang="en-US" sz="2300" dirty="0" smtClean="0"/>
              <a:t>forever</a:t>
            </a:r>
            <a:r>
              <a:rPr lang="zh-CN" altLang="en-US" sz="2300" dirty="0" smtClean="0"/>
              <a:t>等表频度状语连用，表达</a:t>
            </a:r>
            <a:r>
              <a:rPr lang="zh-CN" altLang="en-US" sz="2300" b="1" dirty="0" smtClean="0"/>
              <a:t>某种感情色彩</a:t>
            </a:r>
            <a:endParaRPr lang="zh-CN" altLang="en-US" sz="2300" dirty="0" smtClean="0"/>
          </a:p>
          <a:p>
            <a:pPr indent="576000" algn="just"/>
            <a:r>
              <a:rPr lang="en-US" sz="2300" dirty="0" smtClean="0"/>
              <a:t>e.g. </a:t>
            </a:r>
            <a:r>
              <a:rPr lang="en-US" sz="2300" spc="10" dirty="0" smtClean="0"/>
              <a:t>She</a:t>
            </a:r>
            <a:r>
              <a:rPr lang="en-US" sz="2300" b="1" spc="10" dirty="0" smtClean="0"/>
              <a:t>’s always borrowing</a:t>
            </a:r>
            <a:r>
              <a:rPr lang="en-US" sz="2300" spc="10" dirty="0" smtClean="0"/>
              <a:t> money and </a:t>
            </a:r>
            <a:r>
              <a:rPr lang="en-US" sz="2300" b="1" spc="10" dirty="0" smtClean="0"/>
              <a:t>forgetting</a:t>
            </a:r>
            <a:r>
              <a:rPr lang="en-US" sz="2300" spc="10" dirty="0" smtClean="0"/>
              <a:t> to pay me  </a:t>
            </a:r>
          </a:p>
          <a:p>
            <a:pPr indent="576000" algn="just"/>
            <a:r>
              <a:rPr lang="en-US" sz="2300" spc="10" dirty="0" smtClean="0"/>
              <a:t>       </a:t>
            </a:r>
            <a:r>
              <a:rPr lang="en-US" sz="2300" dirty="0" smtClean="0"/>
              <a:t>back. </a:t>
            </a:r>
            <a:r>
              <a:rPr lang="zh-CN" altLang="en-US" sz="2300" dirty="0" smtClean="0"/>
              <a:t>（厌恶）</a:t>
            </a:r>
          </a:p>
          <a:p>
            <a:pPr indent="576000"/>
            <a:r>
              <a:rPr lang="en-US" sz="2300" dirty="0" smtClean="0"/>
              <a:t>       Lei </a:t>
            </a:r>
            <a:r>
              <a:rPr lang="en-US" sz="2300" dirty="0" err="1" smtClean="0"/>
              <a:t>Feng</a:t>
            </a:r>
            <a:r>
              <a:rPr lang="en-US" sz="2300" b="1" dirty="0" smtClean="0"/>
              <a:t> is always thinking</a:t>
            </a:r>
            <a:r>
              <a:rPr lang="en-US" sz="2300" dirty="0" smtClean="0"/>
              <a:t> of others. </a:t>
            </a:r>
            <a:r>
              <a:rPr lang="zh-CN" altLang="en-US" sz="2300" dirty="0" smtClean="0"/>
              <a:t>（赞美）</a:t>
            </a:r>
            <a:endParaRPr lang="en-US" altLang="zh-CN" sz="2300" dirty="0" smtClean="0"/>
          </a:p>
        </p:txBody>
      </p:sp>
      <p:sp>
        <p:nvSpPr>
          <p:cNvPr id="39" name="单圆角矩形 38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44" name="图片 43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1251681" y="3149742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是否表达感情色彩也需结合具体语境，如“</a:t>
            </a:r>
            <a:r>
              <a:rPr lang="en-US" sz="2000" dirty="0" smtClean="0"/>
              <a:t>Healthy and happy children are always playing.</a:t>
            </a:r>
            <a:r>
              <a:rPr lang="zh-CN" altLang="en-US" sz="2000" dirty="0" smtClean="0"/>
              <a:t>”中并无褒贬，频度状语仅起强调作用。</a:t>
            </a:r>
            <a:endParaRPr lang="zh-CN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71472" y="3149742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7"/>
          <p:cNvSpPr>
            <a:spLocks noChangeArrowheads="1"/>
          </p:cNvSpPr>
          <p:nvPr/>
        </p:nvSpPr>
        <p:spPr bwMode="auto">
          <a:xfrm>
            <a:off x="571472" y="1000108"/>
            <a:ext cx="8215370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endParaRPr lang="en-US" altLang="zh-CN" sz="2300" dirty="0" smtClean="0"/>
          </a:p>
          <a:p>
            <a:pPr indent="576000"/>
            <a:r>
              <a:rPr lang="en-US" sz="2300" b="1" dirty="0" smtClean="0"/>
              <a:t>1. </a:t>
            </a:r>
            <a:r>
              <a:rPr lang="zh-CN" altLang="en-US" sz="2300" b="1" dirty="0" smtClean="0"/>
              <a:t>表示将来的动作</a:t>
            </a:r>
            <a:endParaRPr lang="zh-CN" altLang="en-US" sz="2300" dirty="0" smtClean="0"/>
          </a:p>
          <a:p>
            <a:pPr indent="576000"/>
            <a:r>
              <a:rPr lang="zh-CN" altLang="en-US" sz="2300" dirty="0" smtClean="0"/>
              <a:t>（</a:t>
            </a:r>
            <a:r>
              <a:rPr lang="en-US" sz="2300" dirty="0" smtClean="0"/>
              <a:t>1</a:t>
            </a:r>
            <a:r>
              <a:rPr lang="zh-CN" altLang="en-US" sz="2300" dirty="0" smtClean="0"/>
              <a:t>）表示按计划安排近期内即将发生的动作</a:t>
            </a:r>
          </a:p>
          <a:p>
            <a:pPr indent="576000"/>
            <a:r>
              <a:rPr lang="en-US" sz="2300" dirty="0" smtClean="0"/>
              <a:t>e.g. </a:t>
            </a:r>
            <a:r>
              <a:rPr lang="en-US" sz="2300" dirty="0" err="1" smtClean="0"/>
              <a:t>Mr</a:t>
            </a:r>
            <a:r>
              <a:rPr lang="en-US" sz="2300" dirty="0" smtClean="0"/>
              <a:t> Blake </a:t>
            </a:r>
            <a:r>
              <a:rPr lang="en-US" sz="2300" b="1" dirty="0" smtClean="0"/>
              <a:t>is leaving</a:t>
            </a:r>
            <a:r>
              <a:rPr lang="en-US" sz="2300" dirty="0" smtClean="0"/>
              <a:t> Shanghai in a few days.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We </a:t>
            </a:r>
            <a:r>
              <a:rPr lang="en-US" sz="2300" b="1" dirty="0" smtClean="0"/>
              <a:t>are meeting</a:t>
            </a:r>
            <a:r>
              <a:rPr lang="en-US" sz="2300" dirty="0" smtClean="0"/>
              <a:t> him after the performance.</a:t>
            </a:r>
            <a:endParaRPr lang="zh-CN" altLang="en-US" sz="2300" dirty="0" smtClean="0"/>
          </a:p>
          <a:p>
            <a:pPr indent="576000"/>
            <a:r>
              <a:rPr lang="en-US" sz="2300" spc="50" dirty="0" smtClean="0"/>
              <a:t>      </a:t>
            </a:r>
            <a:r>
              <a:rPr lang="en-US" sz="2300" dirty="0" smtClean="0"/>
              <a:t>Professor Smith </a:t>
            </a:r>
            <a:r>
              <a:rPr lang="en-US" sz="2300" b="1" dirty="0" smtClean="0"/>
              <a:t>is giving</a:t>
            </a:r>
            <a:r>
              <a:rPr lang="en-US" sz="2300" dirty="0" smtClean="0"/>
              <a:t> a lecture this afternoon.</a:t>
            </a:r>
            <a:endParaRPr lang="zh-CN" altLang="en-US" sz="2300" dirty="0" smtClean="0"/>
          </a:p>
        </p:txBody>
      </p:sp>
      <p:sp>
        <p:nvSpPr>
          <p:cNvPr id="39" name="单圆角矩形 38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44" name="图片 43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9694" y="928670"/>
            <a:ext cx="147348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 dirty="0" smtClean="0">
                <a:solidFill>
                  <a:srgbClr val="521E33"/>
                </a:solidFill>
              </a:rPr>
              <a:t>特殊用法</a:t>
            </a:r>
          </a:p>
        </p:txBody>
      </p:sp>
      <p:sp>
        <p:nvSpPr>
          <p:cNvPr id="9" name="菱形 8"/>
          <p:cNvSpPr>
            <a:spLocks noChangeAspect="1"/>
          </p:cNvSpPr>
          <p:nvPr/>
        </p:nvSpPr>
        <p:spPr>
          <a:xfrm>
            <a:off x="642910" y="952282"/>
            <a:ext cx="468000" cy="468000"/>
          </a:xfrm>
          <a:prstGeom prst="diamond">
            <a:avLst/>
          </a:prstGeom>
          <a:solidFill>
            <a:srgbClr val="521E33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0" name="菱形 9"/>
          <p:cNvSpPr>
            <a:spLocks noChangeAspect="1"/>
          </p:cNvSpPr>
          <p:nvPr/>
        </p:nvSpPr>
        <p:spPr>
          <a:xfrm>
            <a:off x="757686" y="970282"/>
            <a:ext cx="432000" cy="432000"/>
          </a:xfrm>
          <a:prstGeom prst="diamond">
            <a:avLst/>
          </a:prstGeom>
          <a:solidFill>
            <a:srgbClr val="521E33">
              <a:alpha val="8500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1" name="菱形 10"/>
          <p:cNvSpPr>
            <a:spLocks noChangeAspect="1"/>
          </p:cNvSpPr>
          <p:nvPr/>
        </p:nvSpPr>
        <p:spPr>
          <a:xfrm>
            <a:off x="714348" y="1006282"/>
            <a:ext cx="360000" cy="360000"/>
          </a:xfrm>
          <a:prstGeom prst="diamond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1686" y="92867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2</a:t>
            </a: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1405718" y="3286124"/>
            <a:ext cx="7380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spc="-90" dirty="0" smtClean="0"/>
              <a:t>动词多为表位置移动的动态动词，如</a:t>
            </a:r>
            <a:r>
              <a:rPr lang="en-US" sz="2000" spc="-90" dirty="0" smtClean="0"/>
              <a:t>go</a:t>
            </a:r>
            <a:r>
              <a:rPr lang="zh-CN" altLang="en-US" sz="2000" spc="-90" dirty="0" smtClean="0"/>
              <a:t>，</a:t>
            </a:r>
            <a:r>
              <a:rPr lang="en-US" sz="2000" spc="-90" dirty="0" smtClean="0"/>
              <a:t>come</a:t>
            </a:r>
            <a:r>
              <a:rPr lang="zh-CN" altLang="en-US" sz="2000" spc="-90" dirty="0" smtClean="0"/>
              <a:t>，</a:t>
            </a:r>
            <a:r>
              <a:rPr lang="en-US" sz="2000" spc="-90" dirty="0" smtClean="0"/>
              <a:t>arrive</a:t>
            </a:r>
            <a:r>
              <a:rPr lang="zh-CN" altLang="en-US" sz="2000" spc="-90" dirty="0" smtClean="0"/>
              <a:t>，</a:t>
            </a:r>
            <a:r>
              <a:rPr lang="en-US" sz="2000" spc="-90" dirty="0" smtClean="0"/>
              <a:t>leave</a:t>
            </a:r>
            <a:r>
              <a:rPr lang="zh-CN" altLang="en-US" sz="2000" spc="-90" dirty="0" smtClean="0"/>
              <a:t>，</a:t>
            </a:r>
            <a:r>
              <a:rPr lang="en-US" sz="2000" spc="-90" dirty="0" smtClean="0"/>
              <a:t>move</a:t>
            </a:r>
            <a:r>
              <a:rPr lang="zh-CN" altLang="en-US" sz="2000" spc="-90" dirty="0" smtClean="0"/>
              <a:t>，</a:t>
            </a:r>
            <a:r>
              <a:rPr lang="en-US" sz="2000" dirty="0" smtClean="0"/>
              <a:t>start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meet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take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take off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depart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return</a:t>
            </a:r>
            <a:r>
              <a:rPr lang="zh-CN" altLang="en-US" sz="2000" dirty="0" smtClean="0"/>
              <a:t>等，但现代英语中相当多的动态动词都可以这样用。</a:t>
            </a:r>
            <a:endParaRPr lang="zh-CN" alt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571472" y="3286124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altLang="zh-CN" sz="2000" b="1" dirty="0" smtClean="0"/>
              <a:t>1</a:t>
            </a:r>
            <a:endParaRPr lang="zh-CN" altLang="en-US" sz="2000" dirty="0"/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1405718" y="4357694"/>
            <a:ext cx="72866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dirty="0" smtClean="0"/>
              <a:t>句中须带有表将来的时间状语或由上下文表示出来。</a:t>
            </a:r>
            <a:endParaRPr lang="zh-CN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71472" y="4357694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altLang="zh-CN" sz="2000" b="1" dirty="0" smtClean="0"/>
              <a:t>2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单圆角矩形 38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571472" y="1285860"/>
            <a:ext cx="8215370" cy="3985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 algn="just"/>
            <a:r>
              <a:rPr lang="zh-CN" altLang="en-US" sz="2300" dirty="0" smtClean="0"/>
              <a:t>（</a:t>
            </a:r>
            <a:r>
              <a:rPr lang="en-US" sz="2300" dirty="0" smtClean="0"/>
              <a:t>2</a:t>
            </a:r>
            <a:r>
              <a:rPr lang="zh-CN" altLang="en-US" sz="2300" dirty="0" smtClean="0"/>
              <a:t>）用在时间和条件状语从句中，表示将来正在进行的动作</a:t>
            </a:r>
          </a:p>
          <a:p>
            <a:pPr indent="576000" algn="just"/>
            <a:r>
              <a:rPr lang="en-US" sz="2300" dirty="0" smtClean="0"/>
              <a:t>e.g. I’ll telephone you this afternoon while I</a:t>
            </a:r>
            <a:r>
              <a:rPr lang="en-US" sz="2300" b="1" dirty="0" smtClean="0"/>
              <a:t>’m waiting</a:t>
            </a:r>
            <a:r>
              <a:rPr lang="en-US" sz="2300" dirty="0" smtClean="0"/>
              <a:t>.</a:t>
            </a:r>
            <a:endParaRPr lang="zh-CN" altLang="en-US" sz="2300" dirty="0" smtClean="0"/>
          </a:p>
          <a:p>
            <a:pPr indent="576000" algn="just"/>
            <a:r>
              <a:rPr lang="en-US" sz="2300" dirty="0" smtClean="0"/>
              <a:t>       </a:t>
            </a:r>
            <a:r>
              <a:rPr lang="en-US" sz="2300" spc="-30" dirty="0" smtClean="0"/>
              <a:t>Will you post this letter for me if you </a:t>
            </a:r>
            <a:r>
              <a:rPr lang="en-US" sz="2300" b="1" spc="-30" dirty="0" smtClean="0"/>
              <a:t>are passing</a:t>
            </a:r>
            <a:r>
              <a:rPr lang="en-US" sz="2300" spc="-30" dirty="0" smtClean="0"/>
              <a:t> a postbox?</a:t>
            </a:r>
          </a:p>
          <a:p>
            <a:pPr indent="576000" algn="just"/>
            <a:endParaRPr lang="en-US" altLang="zh-CN" sz="2300" dirty="0" smtClean="0"/>
          </a:p>
          <a:p>
            <a:pPr indent="576000" algn="just"/>
            <a:endParaRPr lang="en-US" altLang="zh-CN" sz="2300" dirty="0" smtClean="0"/>
          </a:p>
          <a:p>
            <a:pPr indent="576000" algn="just"/>
            <a:r>
              <a:rPr lang="en-US" sz="2300" b="1" dirty="0" smtClean="0"/>
              <a:t>2. </a:t>
            </a:r>
            <a:r>
              <a:rPr lang="zh-CN" altLang="en-US" sz="2300" b="1" dirty="0" smtClean="0"/>
              <a:t>表示刚刚过去的动作</a:t>
            </a:r>
            <a:endParaRPr lang="zh-CN" altLang="en-US" sz="2300" dirty="0" smtClean="0"/>
          </a:p>
          <a:p>
            <a:pPr indent="576000" algn="just"/>
            <a:r>
              <a:rPr lang="zh-CN" altLang="en-US" sz="2300" dirty="0" smtClean="0"/>
              <a:t>该用法只适用于口语中</a:t>
            </a:r>
            <a:r>
              <a:rPr lang="en-US" sz="2300" dirty="0" smtClean="0"/>
              <a:t>tell</a:t>
            </a:r>
            <a:r>
              <a:rPr lang="zh-CN" altLang="en-US" sz="2300" dirty="0" smtClean="0"/>
              <a:t>，</a:t>
            </a:r>
            <a:r>
              <a:rPr lang="en-US" sz="2300" dirty="0" smtClean="0"/>
              <a:t>talk</a:t>
            </a:r>
            <a:r>
              <a:rPr lang="zh-CN" altLang="en-US" sz="2300" dirty="0" smtClean="0"/>
              <a:t>，</a:t>
            </a:r>
            <a:r>
              <a:rPr lang="en-US" sz="2300" dirty="0" smtClean="0"/>
              <a:t>say</a:t>
            </a:r>
            <a:r>
              <a:rPr lang="zh-CN" altLang="en-US" sz="2300" dirty="0" smtClean="0"/>
              <a:t>，</a:t>
            </a:r>
            <a:r>
              <a:rPr lang="en-US" sz="2300" dirty="0" smtClean="0"/>
              <a:t>exaggerate</a:t>
            </a:r>
            <a:r>
              <a:rPr lang="zh-CN" altLang="en-US" sz="2300" dirty="0" smtClean="0"/>
              <a:t>等几个言语动词，用现在进行体比用过去时更生动，更强调。</a:t>
            </a:r>
          </a:p>
          <a:p>
            <a:pPr indent="576000" algn="just"/>
            <a:r>
              <a:rPr lang="en-US" sz="2300" dirty="0" smtClean="0"/>
              <a:t>e.g. I don’t know what you </a:t>
            </a:r>
            <a:r>
              <a:rPr lang="en-US" sz="2300" b="1" dirty="0" smtClean="0"/>
              <a:t>are talking</a:t>
            </a:r>
            <a:r>
              <a:rPr lang="en-US" sz="2300" dirty="0" smtClean="0"/>
              <a:t> about.</a:t>
            </a:r>
            <a:endParaRPr lang="zh-CN" altLang="en-US" sz="2300" dirty="0" smtClean="0"/>
          </a:p>
          <a:p>
            <a:pPr indent="576000" algn="just"/>
            <a:r>
              <a:rPr lang="en-US" sz="2300" dirty="0" smtClean="0"/>
              <a:t>       </a:t>
            </a:r>
            <a:r>
              <a:rPr lang="en-US" sz="2400" dirty="0" smtClean="0"/>
              <a:t>— </a:t>
            </a:r>
            <a:r>
              <a:rPr lang="en-US" sz="2300" dirty="0" smtClean="0"/>
              <a:t>You don’t believe it? You know I’</a:t>
            </a:r>
            <a:r>
              <a:rPr lang="en-US" sz="2300" b="1" dirty="0" smtClean="0"/>
              <a:t>m</a:t>
            </a:r>
            <a:r>
              <a:rPr lang="en-US" sz="2300" dirty="0" smtClean="0"/>
              <a:t> not</a:t>
            </a:r>
            <a:r>
              <a:rPr lang="en-US" sz="2300" b="1" dirty="0" smtClean="0"/>
              <a:t> exaggerating</a:t>
            </a:r>
            <a:r>
              <a:rPr lang="en-US" sz="2300" dirty="0" smtClean="0"/>
              <a:t>.</a:t>
            </a:r>
            <a:endParaRPr lang="zh-CN" altLang="en-US" sz="2300" dirty="0" smtClean="0"/>
          </a:p>
        </p:txBody>
      </p:sp>
      <p:pic>
        <p:nvPicPr>
          <p:cNvPr id="16" name="图片 15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1251681" y="2857496"/>
            <a:ext cx="7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该用法还强调主句动作发生在从句动作持续进行的过程中。</a:t>
            </a:r>
            <a:endParaRPr lang="zh-CN" alt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571472" y="2857496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251681" y="5286388"/>
            <a:ext cx="728664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dirty="0" smtClean="0"/>
              <a:t>这与进行体的持续性有关，仿佛是要把刚才的话栩栩如生地浮现在眼前。</a:t>
            </a:r>
            <a:endParaRPr lang="zh-CN" alt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500034" y="5286388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7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7"/>
          <p:cNvSpPr>
            <a:spLocks noChangeArrowheads="1"/>
          </p:cNvSpPr>
          <p:nvPr/>
        </p:nvSpPr>
        <p:spPr bwMode="auto">
          <a:xfrm>
            <a:off x="571472" y="1179972"/>
            <a:ext cx="8215370" cy="2569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en-US" sz="2300" b="1" dirty="0" smtClean="0"/>
              <a:t>3. </a:t>
            </a:r>
            <a:r>
              <a:rPr lang="zh-CN" altLang="en-US" sz="2300" b="1" dirty="0" smtClean="0"/>
              <a:t>表示婉转口气</a:t>
            </a:r>
            <a:endParaRPr lang="zh-CN" altLang="en-US" sz="2300" dirty="0" smtClean="0"/>
          </a:p>
          <a:p>
            <a:pPr indent="576000" algn="just"/>
            <a:r>
              <a:rPr lang="zh-CN" altLang="en-US" sz="2300" dirty="0" smtClean="0"/>
              <a:t>该用法常见于</a:t>
            </a:r>
            <a:r>
              <a:rPr lang="en-US" sz="2300" dirty="0" smtClean="0"/>
              <a:t>hope</a:t>
            </a:r>
            <a:r>
              <a:rPr lang="zh-CN" altLang="en-US" sz="2300" dirty="0" smtClean="0"/>
              <a:t>，</a:t>
            </a:r>
            <a:r>
              <a:rPr lang="en-US" sz="2300" dirty="0" smtClean="0"/>
              <a:t>wonder</a:t>
            </a:r>
            <a:r>
              <a:rPr lang="zh-CN" altLang="en-US" sz="2300" dirty="0" smtClean="0"/>
              <a:t>等动词，探寻式地表达现在的一种愿望或态度。</a:t>
            </a:r>
          </a:p>
          <a:p>
            <a:pPr indent="576000" algn="just"/>
            <a:r>
              <a:rPr lang="en-US" sz="2300" dirty="0" smtClean="0"/>
              <a:t>e.g. </a:t>
            </a:r>
            <a:r>
              <a:rPr lang="en-US" sz="2300" spc="40" dirty="0" smtClean="0"/>
              <a:t>I</a:t>
            </a:r>
            <a:r>
              <a:rPr lang="en-US" sz="2300" b="1" spc="40" dirty="0" smtClean="0"/>
              <a:t>’m hoping</a:t>
            </a:r>
            <a:r>
              <a:rPr lang="en-US" sz="2300" spc="40" dirty="0" smtClean="0"/>
              <a:t> you’ll give us more advice.   </a:t>
            </a:r>
          </a:p>
          <a:p>
            <a:pPr indent="576000" algn="just"/>
            <a:r>
              <a:rPr lang="zh-CN" altLang="en-US" sz="2300" spc="40" dirty="0" smtClean="0"/>
              <a:t>      （比</a:t>
            </a:r>
            <a:r>
              <a:rPr lang="en-US" sz="2300" spc="40" dirty="0" smtClean="0"/>
              <a:t>I hope...</a:t>
            </a:r>
            <a:r>
              <a:rPr lang="zh-CN" altLang="en-US" sz="2300" spc="40" dirty="0" smtClean="0"/>
              <a:t>更</a:t>
            </a:r>
            <a:r>
              <a:rPr lang="zh-CN" altLang="en-US" sz="2300" dirty="0" smtClean="0"/>
              <a:t>礼貌）</a:t>
            </a:r>
          </a:p>
          <a:p>
            <a:pPr indent="576000" algn="just"/>
            <a:r>
              <a:rPr lang="en-US" sz="2300" dirty="0" smtClean="0"/>
              <a:t>       </a:t>
            </a:r>
            <a:r>
              <a:rPr lang="en-US" sz="2300" spc="120" dirty="0" smtClean="0"/>
              <a:t>I</a:t>
            </a:r>
            <a:r>
              <a:rPr lang="en-US" sz="2300" b="1" spc="120" dirty="0" smtClean="0"/>
              <a:t>’m wondering </a:t>
            </a:r>
            <a:r>
              <a:rPr lang="en-US" sz="2300" spc="120" dirty="0" smtClean="0"/>
              <a:t>if I may have a word with you.</a:t>
            </a:r>
          </a:p>
          <a:p>
            <a:pPr indent="576000" algn="just"/>
            <a:r>
              <a:rPr lang="en-US" altLang="zh-CN" sz="2300" spc="120" dirty="0" smtClean="0"/>
              <a:t>      </a:t>
            </a:r>
            <a:r>
              <a:rPr lang="zh-CN" altLang="en-US" sz="2300" spc="120" dirty="0" smtClean="0"/>
              <a:t>（比</a:t>
            </a:r>
            <a:r>
              <a:rPr lang="en-US" sz="2300" spc="120" dirty="0" smtClean="0"/>
              <a:t>I </a:t>
            </a:r>
            <a:r>
              <a:rPr lang="en-US" sz="2300" dirty="0" smtClean="0"/>
              <a:t>wonder...</a:t>
            </a:r>
            <a:r>
              <a:rPr lang="zh-CN" altLang="en-US" sz="2300" dirty="0" smtClean="0"/>
              <a:t>更礼貌）</a:t>
            </a:r>
            <a:endParaRPr lang="zh-CN" altLang="en-US" sz="2300" dirty="0"/>
          </a:p>
        </p:txBody>
      </p:sp>
      <p:sp>
        <p:nvSpPr>
          <p:cNvPr id="39" name="单圆角矩形 38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16" name="图片 15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1251681" y="3886146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这与进行体的暂时性延伸出的不确定性有关，因而显得更客气、更礼貌。</a:t>
            </a: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251681" y="4671964"/>
            <a:ext cx="7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dirty="0" smtClean="0"/>
              <a:t>一般过去时和过去进行体也有这种用法。</a:t>
            </a:r>
            <a:endParaRPr lang="zh-CN" alt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420129" y="3886146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1</a:t>
            </a:r>
            <a:endParaRPr lang="zh-CN" alt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420129" y="4671964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2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571472" y="1447688"/>
            <a:ext cx="8215370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 algn="just"/>
            <a:r>
              <a:rPr lang="en-US" sz="2300" dirty="0" smtClean="0"/>
              <a:t>1. </a:t>
            </a:r>
            <a:r>
              <a:rPr lang="zh-CN" altLang="en-US" sz="2300" dirty="0" smtClean="0"/>
              <a:t>一般现在时表示</a:t>
            </a:r>
            <a:r>
              <a:rPr lang="zh-CN" altLang="en-US" sz="2300" b="1" dirty="0" smtClean="0"/>
              <a:t>经常性、习惯性、永久性</a:t>
            </a:r>
            <a:r>
              <a:rPr lang="zh-CN" altLang="en-US" sz="2300" dirty="0" smtClean="0"/>
              <a:t>的动作，现在进行体表示</a:t>
            </a:r>
            <a:r>
              <a:rPr lang="zh-CN" altLang="en-US" sz="2300" b="1" dirty="0" smtClean="0"/>
              <a:t>暂时性</a:t>
            </a:r>
            <a:r>
              <a:rPr lang="zh-CN" altLang="en-US" sz="2300" dirty="0" smtClean="0"/>
              <a:t>的动作</a:t>
            </a:r>
          </a:p>
          <a:p>
            <a:pPr indent="576000" algn="just"/>
            <a:r>
              <a:rPr lang="en-US" sz="2300" dirty="0" smtClean="0"/>
              <a:t>e.g. We </a:t>
            </a:r>
            <a:r>
              <a:rPr lang="en-US" sz="2300" b="1" dirty="0" smtClean="0"/>
              <a:t>eat</a:t>
            </a:r>
            <a:r>
              <a:rPr lang="en-US" sz="2300" dirty="0" smtClean="0"/>
              <a:t> in the canteen most days.     </a:t>
            </a:r>
            <a:endParaRPr lang="zh-CN" altLang="en-US" sz="2300" dirty="0" smtClean="0"/>
          </a:p>
          <a:p>
            <a:pPr indent="576000" algn="just"/>
            <a:r>
              <a:rPr lang="en-US" sz="2300" dirty="0" smtClean="0"/>
              <a:t>       We </a:t>
            </a:r>
            <a:r>
              <a:rPr lang="en-US" sz="2300" b="1" dirty="0" smtClean="0"/>
              <a:t>are eating</a:t>
            </a:r>
            <a:r>
              <a:rPr lang="en-US" sz="2300" dirty="0" smtClean="0"/>
              <a:t> lunch at the moment.</a:t>
            </a:r>
            <a:endParaRPr lang="zh-CN" altLang="en-US" sz="2300" dirty="0" smtClean="0"/>
          </a:p>
          <a:p>
            <a:pPr indent="576000" algn="just"/>
            <a:r>
              <a:rPr lang="en-US" sz="2300" dirty="0" smtClean="0"/>
              <a:t>       My friends </a:t>
            </a:r>
            <a:r>
              <a:rPr lang="en-US" sz="2300" b="1" dirty="0" smtClean="0"/>
              <a:t>live</a:t>
            </a:r>
            <a:r>
              <a:rPr lang="en-US" sz="2300" dirty="0" smtClean="0"/>
              <a:t> in Manchester.      </a:t>
            </a:r>
            <a:endParaRPr lang="zh-CN" altLang="en-US" sz="2300" dirty="0" smtClean="0"/>
          </a:p>
          <a:p>
            <a:pPr indent="576000" algn="just"/>
            <a:r>
              <a:rPr lang="en-US" sz="2300" dirty="0" smtClean="0"/>
              <a:t>       </a:t>
            </a:r>
            <a:r>
              <a:rPr lang="en-US" sz="2300" spc="-70" dirty="0" smtClean="0"/>
              <a:t>They</a:t>
            </a:r>
            <a:r>
              <a:rPr lang="en-US" sz="2300" b="1" spc="-70" dirty="0" smtClean="0"/>
              <a:t>’re living</a:t>
            </a:r>
            <a:r>
              <a:rPr lang="en-US" sz="2300" spc="-70" dirty="0" smtClean="0"/>
              <a:t> in a rented flat until they find somewhere to buy.</a:t>
            </a:r>
            <a:endParaRPr lang="zh-CN" altLang="en-US" sz="2300" spc="-70" dirty="0" smtClean="0"/>
          </a:p>
          <a:p>
            <a:pPr indent="576000" algn="just"/>
            <a:r>
              <a:rPr lang="en-US" sz="2300" dirty="0" smtClean="0"/>
              <a:t> </a:t>
            </a:r>
            <a:endParaRPr lang="zh-CN" altLang="en-US" sz="2300" dirty="0" smtClean="0"/>
          </a:p>
          <a:p>
            <a:pPr indent="576000" algn="just"/>
            <a:r>
              <a:rPr lang="en-US" sz="2300" dirty="0" smtClean="0"/>
              <a:t>2. </a:t>
            </a:r>
            <a:r>
              <a:rPr lang="zh-CN" altLang="en-US" sz="2300" dirty="0" smtClean="0"/>
              <a:t>表示此刻正在发生的</a:t>
            </a:r>
            <a:r>
              <a:rPr lang="zh-CN" altLang="en-US" sz="2300" b="1" dirty="0" smtClean="0"/>
              <a:t>短暂性</a:t>
            </a:r>
            <a:r>
              <a:rPr lang="zh-CN" altLang="en-US" sz="2300" dirty="0" smtClean="0"/>
              <a:t>动作，要用一般现在时；表示此刻正在进行的</a:t>
            </a:r>
            <a:r>
              <a:rPr lang="zh-CN" altLang="en-US" sz="2300" b="1" dirty="0" smtClean="0"/>
              <a:t>持续性</a:t>
            </a:r>
            <a:r>
              <a:rPr lang="zh-CN" altLang="en-US" sz="2300" dirty="0" smtClean="0"/>
              <a:t>动作，要用现在进行体</a:t>
            </a:r>
          </a:p>
          <a:p>
            <a:pPr indent="576000" algn="just"/>
            <a:r>
              <a:rPr lang="en-US" sz="2300" dirty="0" smtClean="0"/>
              <a:t>e.g. The bus </a:t>
            </a:r>
            <a:r>
              <a:rPr lang="en-US" sz="2300" b="1" dirty="0" smtClean="0"/>
              <a:t>stops</a:t>
            </a:r>
            <a:r>
              <a:rPr lang="en-US" sz="2300" dirty="0" smtClean="0"/>
              <a:t> right in front of our house.  </a:t>
            </a:r>
          </a:p>
          <a:p>
            <a:pPr indent="576000" algn="just"/>
            <a:r>
              <a:rPr lang="zh-CN" altLang="en-US" sz="2300" dirty="0" smtClean="0"/>
              <a:t>       （迅速停住</a:t>
            </a:r>
            <a:r>
              <a:rPr lang="en-US" altLang="zh-CN" sz="2300" dirty="0" smtClean="0"/>
              <a:t>——</a:t>
            </a:r>
            <a:r>
              <a:rPr lang="zh-CN" altLang="en-US" sz="2300" dirty="0" smtClean="0"/>
              <a:t>瞬间的一次动作）</a:t>
            </a:r>
          </a:p>
          <a:p>
            <a:pPr indent="576000" algn="just"/>
            <a:r>
              <a:rPr lang="en-US" sz="2300" spc="100" dirty="0" smtClean="0"/>
              <a:t>      </a:t>
            </a:r>
            <a:r>
              <a:rPr lang="en-US" sz="2300" dirty="0" smtClean="0"/>
              <a:t>The bus </a:t>
            </a:r>
            <a:r>
              <a:rPr lang="en-US" sz="2300" b="1" dirty="0" smtClean="0"/>
              <a:t>is stopping</a:t>
            </a:r>
            <a:r>
              <a:rPr lang="en-US" sz="2300" dirty="0" smtClean="0"/>
              <a:t>. </a:t>
            </a:r>
            <a:r>
              <a:rPr lang="zh-CN" altLang="en-US" sz="2300" dirty="0" smtClean="0"/>
              <a:t>（渐渐停下来</a:t>
            </a:r>
            <a:r>
              <a:rPr lang="en-US" altLang="zh-CN" sz="2300" dirty="0" smtClean="0"/>
              <a:t>——</a:t>
            </a:r>
            <a:r>
              <a:rPr lang="zh-CN" altLang="en-US" sz="2300" dirty="0" smtClean="0"/>
              <a:t>缓慢的过程）</a:t>
            </a:r>
          </a:p>
          <a:p>
            <a:pPr indent="576000" algn="just"/>
            <a:r>
              <a:rPr lang="en-US" sz="2300" dirty="0" smtClean="0"/>
              <a:t>       School </a:t>
            </a:r>
            <a:r>
              <a:rPr lang="en-US" sz="2300" b="1" dirty="0" smtClean="0"/>
              <a:t>begins</a:t>
            </a:r>
            <a:r>
              <a:rPr lang="en-US" sz="2300" dirty="0" smtClean="0"/>
              <a:t> at 8. </a:t>
            </a:r>
            <a:r>
              <a:rPr lang="zh-CN" altLang="en-US" sz="2300" dirty="0" smtClean="0"/>
              <a:t>（开始</a:t>
            </a:r>
            <a:r>
              <a:rPr lang="en-US" altLang="zh-CN" sz="2300" dirty="0" smtClean="0"/>
              <a:t>——</a:t>
            </a:r>
            <a:r>
              <a:rPr lang="zh-CN" altLang="en-US" sz="2300" dirty="0" smtClean="0"/>
              <a:t>瞬间的一次动作）</a:t>
            </a:r>
          </a:p>
          <a:p>
            <a:pPr indent="576000" algn="just"/>
            <a:r>
              <a:rPr lang="en-US" sz="2300" dirty="0" smtClean="0"/>
              <a:t>       </a:t>
            </a:r>
            <a:r>
              <a:rPr lang="en-US" sz="2300" spc="30" dirty="0" smtClean="0"/>
              <a:t>People </a:t>
            </a:r>
            <a:r>
              <a:rPr lang="en-US" sz="2300" b="1" spc="30" dirty="0" smtClean="0"/>
              <a:t>are beginning</a:t>
            </a:r>
            <a:r>
              <a:rPr lang="en-US" sz="2300" spc="30" dirty="0" smtClean="0"/>
              <a:t> to realize how serious the situation    </a:t>
            </a:r>
          </a:p>
          <a:p>
            <a:pPr indent="576000" algn="just"/>
            <a:r>
              <a:rPr lang="en-US" sz="2300" spc="30" dirty="0" smtClean="0"/>
              <a:t>       </a:t>
            </a:r>
            <a:r>
              <a:rPr lang="en-US" sz="2300" dirty="0" smtClean="0"/>
              <a:t>is.</a:t>
            </a:r>
            <a:r>
              <a:rPr lang="zh-CN" altLang="en-US" sz="2300" dirty="0" smtClean="0"/>
              <a:t>（逐渐开始</a:t>
            </a:r>
            <a:r>
              <a:rPr lang="en-US" altLang="zh-CN" sz="2300" dirty="0" smtClean="0"/>
              <a:t>——</a:t>
            </a:r>
            <a:r>
              <a:rPr lang="zh-CN" altLang="en-US" sz="2300" dirty="0" smtClean="0"/>
              <a:t>变化过程）</a:t>
            </a:r>
            <a:endParaRPr lang="zh-CN" altLang="en-US" sz="2300" dirty="0"/>
          </a:p>
        </p:txBody>
      </p:sp>
      <p:sp>
        <p:nvSpPr>
          <p:cNvPr id="9" name="TextBox 8"/>
          <p:cNvSpPr txBox="1"/>
          <p:nvPr/>
        </p:nvSpPr>
        <p:spPr>
          <a:xfrm>
            <a:off x="1169694" y="1000108"/>
            <a:ext cx="50177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 dirty="0" smtClean="0">
                <a:solidFill>
                  <a:srgbClr val="521E33"/>
                </a:solidFill>
              </a:rPr>
              <a:t>现在进行体和一般现在时用法比较</a:t>
            </a:r>
          </a:p>
        </p:txBody>
      </p:sp>
      <p:sp>
        <p:nvSpPr>
          <p:cNvPr id="10" name="菱形 9"/>
          <p:cNvSpPr>
            <a:spLocks noChangeAspect="1"/>
          </p:cNvSpPr>
          <p:nvPr/>
        </p:nvSpPr>
        <p:spPr>
          <a:xfrm>
            <a:off x="642910" y="1023720"/>
            <a:ext cx="468000" cy="468000"/>
          </a:xfrm>
          <a:prstGeom prst="diamond">
            <a:avLst/>
          </a:prstGeom>
          <a:solidFill>
            <a:srgbClr val="521E33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1" name="菱形 10"/>
          <p:cNvSpPr>
            <a:spLocks noChangeAspect="1"/>
          </p:cNvSpPr>
          <p:nvPr/>
        </p:nvSpPr>
        <p:spPr>
          <a:xfrm>
            <a:off x="757686" y="1041720"/>
            <a:ext cx="432000" cy="432000"/>
          </a:xfrm>
          <a:prstGeom prst="diamond">
            <a:avLst/>
          </a:prstGeom>
          <a:solidFill>
            <a:srgbClr val="521E33">
              <a:alpha val="8500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2" name="菱形 11"/>
          <p:cNvSpPr>
            <a:spLocks noChangeAspect="1"/>
          </p:cNvSpPr>
          <p:nvPr/>
        </p:nvSpPr>
        <p:spPr>
          <a:xfrm>
            <a:off x="714348" y="1077720"/>
            <a:ext cx="360000" cy="360000"/>
          </a:xfrm>
          <a:prstGeom prst="diamond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1686" y="100010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3</a:t>
            </a:r>
          </a:p>
        </p:txBody>
      </p:sp>
      <p:sp>
        <p:nvSpPr>
          <p:cNvPr id="39" name="单圆角矩形 38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16" name="图片 15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642942" y="6345816"/>
            <a:ext cx="904941" cy="369332"/>
            <a:chOff x="428596" y="3106800"/>
            <a:chExt cx="904941" cy="369332"/>
          </a:xfrm>
        </p:grpSpPr>
        <p:grpSp>
          <p:nvGrpSpPr>
            <p:cNvPr id="15" name="组合 83"/>
            <p:cNvGrpSpPr>
              <a:grpSpLocks noChangeAspect="1"/>
            </p:cNvGrpSpPr>
            <p:nvPr/>
          </p:nvGrpSpPr>
          <p:grpSpPr>
            <a:xfrm>
              <a:off x="428596" y="3143248"/>
              <a:ext cx="900000" cy="325412"/>
              <a:chOff x="428596" y="3143248"/>
              <a:chExt cx="790314" cy="285752"/>
            </a:xfrm>
          </p:grpSpPr>
          <p:sp>
            <p:nvSpPr>
              <p:cNvPr id="18" name="圆角矩形 17"/>
              <p:cNvSpPr/>
              <p:nvPr/>
            </p:nvSpPr>
            <p:spPr>
              <a:xfrm>
                <a:off x="642910" y="3143248"/>
                <a:ext cx="576000" cy="285752"/>
              </a:xfrm>
              <a:prstGeom prst="roundRect">
                <a:avLst/>
              </a:prstGeom>
              <a:solidFill>
                <a:srgbClr val="99375E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9" name="图片 18" descr="备注.png">
                <a:hlinkClick r:id="rId4" action="ppaction://hlinksldjump"/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28596" y="3143248"/>
                <a:ext cx="285752" cy="285751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hlinkClick r:id="rId4" action="ppaction://hlinksldjump"/>
            </p:cNvPr>
            <p:cNvSpPr txBox="1"/>
            <p:nvPr/>
          </p:nvSpPr>
          <p:spPr>
            <a:xfrm>
              <a:off x="684000" y="3106800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备注</a:t>
              </a:r>
              <a:endParaRPr lang="zh-CN" altLang="en-US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571472" y="1011399"/>
            <a:ext cx="8215370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en-US" sz="2300" dirty="0" smtClean="0"/>
              <a:t>3. </a:t>
            </a:r>
            <a:r>
              <a:rPr lang="zh-CN" altLang="en-US" sz="2300" dirty="0" smtClean="0"/>
              <a:t>现在进行体往往带有感情色彩，而一般现在时往往只说明事实</a:t>
            </a:r>
          </a:p>
          <a:p>
            <a:pPr indent="576000"/>
            <a:r>
              <a:rPr lang="en-US" sz="2300" dirty="0" smtClean="0"/>
              <a:t>e.g. She </a:t>
            </a:r>
            <a:r>
              <a:rPr lang="en-US" sz="2300" b="1" dirty="0" smtClean="0"/>
              <a:t>complains</a:t>
            </a:r>
            <a:r>
              <a:rPr lang="en-US" sz="2300" dirty="0" smtClean="0"/>
              <a:t> about the house. </a:t>
            </a:r>
            <a:r>
              <a:rPr lang="zh-CN" altLang="en-US" sz="2300" dirty="0" smtClean="0"/>
              <a:t>（说明事实）</a:t>
            </a:r>
          </a:p>
          <a:p>
            <a:pPr indent="576000"/>
            <a:r>
              <a:rPr lang="en-US" sz="2300" spc="-10" dirty="0" smtClean="0"/>
              <a:t>       </a:t>
            </a:r>
            <a:r>
              <a:rPr lang="en-US" sz="2300" dirty="0" smtClean="0"/>
              <a:t>She </a:t>
            </a:r>
            <a:r>
              <a:rPr lang="en-US" sz="2300" b="1" dirty="0" smtClean="0"/>
              <a:t>is constantly complaining</a:t>
            </a:r>
            <a:r>
              <a:rPr lang="en-US" sz="2300" dirty="0" smtClean="0"/>
              <a:t> about the house.   </a:t>
            </a:r>
          </a:p>
          <a:p>
            <a:pPr indent="576000"/>
            <a:r>
              <a:rPr lang="en-US" altLang="zh-CN" sz="2300" dirty="0" smtClean="0"/>
              <a:t>       </a:t>
            </a:r>
            <a:r>
              <a:rPr lang="zh-CN" altLang="en-US" sz="2300" dirty="0" smtClean="0"/>
              <a:t>（说话人对“</a:t>
            </a:r>
            <a:r>
              <a:rPr lang="en-US" sz="2300" dirty="0" smtClean="0"/>
              <a:t>She</a:t>
            </a:r>
            <a:r>
              <a:rPr lang="zh-CN" altLang="en-US" sz="2300" dirty="0" smtClean="0"/>
              <a:t>”的行为有反感）</a:t>
            </a:r>
          </a:p>
          <a:p>
            <a:pPr indent="576000"/>
            <a:r>
              <a:rPr lang="en-US" sz="2300" dirty="0" smtClean="0"/>
              <a:t> 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4. </a:t>
            </a:r>
            <a:r>
              <a:rPr lang="zh-CN" altLang="en-US" sz="2300" dirty="0" smtClean="0"/>
              <a:t>在表达将来计划安排时，一般现在时比较客观，有</a:t>
            </a:r>
            <a:r>
              <a:rPr lang="zh-CN" altLang="en-US" sz="2300" b="1" dirty="0" smtClean="0"/>
              <a:t>不可变易性</a:t>
            </a:r>
            <a:r>
              <a:rPr lang="zh-CN" altLang="en-US" sz="2300" dirty="0" smtClean="0"/>
              <a:t>，现在进行体表达的</a:t>
            </a:r>
            <a:r>
              <a:rPr lang="zh-CN" altLang="en-US" sz="2300" b="1" dirty="0" smtClean="0"/>
              <a:t>个人色彩要浓些</a:t>
            </a:r>
            <a:r>
              <a:rPr lang="zh-CN" altLang="en-US" sz="2300" dirty="0" smtClean="0"/>
              <a:t>，也更加委婉。</a:t>
            </a:r>
          </a:p>
          <a:p>
            <a:pPr indent="576000"/>
            <a:r>
              <a:rPr lang="en-US" sz="2300" dirty="0" smtClean="0"/>
              <a:t>e.g. A: When </a:t>
            </a:r>
            <a:r>
              <a:rPr lang="en-US" sz="2300" b="1" dirty="0" smtClean="0"/>
              <a:t>does</a:t>
            </a:r>
            <a:r>
              <a:rPr lang="en-US" sz="2300" dirty="0" smtClean="0"/>
              <a:t> he </a:t>
            </a:r>
            <a:r>
              <a:rPr lang="en-US" sz="2300" b="1" dirty="0" smtClean="0"/>
              <a:t>arrive</a:t>
            </a:r>
            <a:r>
              <a:rPr lang="en-US" sz="2300" dirty="0" smtClean="0"/>
              <a:t>?        </a:t>
            </a:r>
          </a:p>
          <a:p>
            <a:pPr indent="576000"/>
            <a:r>
              <a:rPr lang="en-US" altLang="zh-CN" sz="2300" dirty="0" smtClean="0"/>
              <a:t>            </a:t>
            </a:r>
            <a:r>
              <a:rPr lang="zh-CN" altLang="en-US" sz="2300" dirty="0" smtClean="0"/>
              <a:t>（乘公共交通抵达</a:t>
            </a:r>
            <a:r>
              <a:rPr lang="en-US" altLang="zh-CN" sz="2300" dirty="0" smtClean="0"/>
              <a:t>——</a:t>
            </a:r>
            <a:r>
              <a:rPr lang="zh-CN" altLang="en-US" sz="2300" dirty="0" smtClean="0"/>
              <a:t>不可变易性）</a:t>
            </a:r>
          </a:p>
          <a:p>
            <a:pPr indent="576000"/>
            <a:r>
              <a:rPr lang="en-US" sz="2300" dirty="0" smtClean="0"/>
              <a:t>       B: At six o’clock this evening.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 A: By plane? 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 B: No, by train. 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 A: </a:t>
            </a:r>
            <a:r>
              <a:rPr lang="en-US" sz="2300" b="1" spc="-100" dirty="0" smtClean="0"/>
              <a:t>Are</a:t>
            </a:r>
            <a:r>
              <a:rPr lang="en-US" sz="2300" spc="-100" dirty="0" smtClean="0"/>
              <a:t> we </a:t>
            </a:r>
            <a:r>
              <a:rPr lang="en-US" sz="2300" b="1" spc="-100" dirty="0" smtClean="0"/>
              <a:t>picking</a:t>
            </a:r>
            <a:r>
              <a:rPr lang="en-US" sz="2300" spc="-100" dirty="0" smtClean="0"/>
              <a:t> him up at the station? </a:t>
            </a:r>
            <a:r>
              <a:rPr lang="zh-CN" altLang="en-US" sz="2300" spc="-100" dirty="0" smtClean="0"/>
              <a:t>（个人主观打算）</a:t>
            </a:r>
            <a:endParaRPr lang="zh-CN" altLang="en-US" sz="2300" spc="-1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642942" y="6060064"/>
            <a:ext cx="904941" cy="369332"/>
            <a:chOff x="428596" y="3106800"/>
            <a:chExt cx="904941" cy="369332"/>
          </a:xfrm>
        </p:grpSpPr>
        <p:grpSp>
          <p:nvGrpSpPr>
            <p:cNvPr id="19" name="组合 83"/>
            <p:cNvGrpSpPr>
              <a:grpSpLocks noChangeAspect="1"/>
            </p:cNvGrpSpPr>
            <p:nvPr/>
          </p:nvGrpSpPr>
          <p:grpSpPr>
            <a:xfrm>
              <a:off x="428596" y="3143248"/>
              <a:ext cx="900000" cy="325412"/>
              <a:chOff x="428596" y="3143248"/>
              <a:chExt cx="790314" cy="285752"/>
            </a:xfrm>
          </p:grpSpPr>
          <p:sp>
            <p:nvSpPr>
              <p:cNvPr id="21" name="圆角矩形 20"/>
              <p:cNvSpPr/>
              <p:nvPr/>
            </p:nvSpPr>
            <p:spPr>
              <a:xfrm>
                <a:off x="642910" y="3143248"/>
                <a:ext cx="576000" cy="285752"/>
              </a:xfrm>
              <a:prstGeom prst="roundRect">
                <a:avLst/>
              </a:prstGeom>
              <a:solidFill>
                <a:srgbClr val="99375E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2" name="图片 21" descr="备注.png">
                <a:hlinkClick r:id="rId2" action="ppaction://hlinksldjump"/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28596" y="3143248"/>
                <a:ext cx="285752" cy="285751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hlinkClick r:id="rId2" action="ppaction://hlinksldjump"/>
            </p:cNvPr>
            <p:cNvSpPr txBox="1"/>
            <p:nvPr/>
          </p:nvSpPr>
          <p:spPr>
            <a:xfrm>
              <a:off x="684000" y="3106800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备注</a:t>
              </a:r>
              <a:endParaRPr lang="zh-CN" altLang="en-US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23" name="单圆角矩形 22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25" name="图片 24" descr="下一页.png"/>
          <p:cNvPicPr>
            <a:picLocks noChangeAspect="1"/>
          </p:cNvPicPr>
          <p:nvPr/>
        </p:nvPicPr>
        <p:blipFill>
          <a:blip r:embed="rId5" cstate="print">
            <a:grayscl/>
          </a:blip>
          <a:stretch>
            <a:fillRect/>
          </a:stretch>
        </p:blipFill>
        <p:spPr>
          <a:xfrm>
            <a:off x="8748000" y="6534000"/>
            <a:ext cx="323293" cy="2880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571472" y="1376250"/>
            <a:ext cx="8072494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en-US" sz="2300" b="1" dirty="0" smtClean="0"/>
              <a:t>1. </a:t>
            </a:r>
            <a:r>
              <a:rPr lang="zh-CN" altLang="en-US" sz="2300" b="1" dirty="0" smtClean="0"/>
              <a:t>表婉转口气</a:t>
            </a:r>
            <a:endParaRPr lang="zh-CN" altLang="en-US" sz="2300" dirty="0" smtClean="0"/>
          </a:p>
          <a:p>
            <a:pPr indent="576000" algn="just"/>
            <a:r>
              <a:rPr lang="en-US" sz="2300" dirty="0" smtClean="0"/>
              <a:t>hope</a:t>
            </a:r>
            <a:r>
              <a:rPr lang="zh-CN" altLang="en-US" sz="2300" dirty="0" smtClean="0"/>
              <a:t>，</a:t>
            </a:r>
            <a:r>
              <a:rPr lang="en-US" sz="2300" dirty="0" smtClean="0"/>
              <a:t>wonder</a:t>
            </a:r>
            <a:r>
              <a:rPr lang="zh-CN" altLang="en-US" sz="2300" dirty="0" smtClean="0"/>
              <a:t>，</a:t>
            </a:r>
            <a:r>
              <a:rPr lang="en-US" sz="2300" dirty="0" smtClean="0"/>
              <a:t>want</a:t>
            </a:r>
            <a:r>
              <a:rPr lang="zh-CN" altLang="en-US" sz="2300" dirty="0" smtClean="0"/>
              <a:t>等动词用过去进行体，表示礼貌的请求。</a:t>
            </a:r>
          </a:p>
          <a:p>
            <a:pPr indent="576000" algn="just"/>
            <a:r>
              <a:rPr lang="zh-CN" altLang="en-US" sz="2300" dirty="0" smtClean="0"/>
              <a:t>比较：</a:t>
            </a:r>
          </a:p>
          <a:p>
            <a:pPr indent="576000" algn="just"/>
            <a:r>
              <a:rPr lang="en-US" sz="2300" dirty="0" smtClean="0"/>
              <a:t>I </a:t>
            </a:r>
            <a:r>
              <a:rPr lang="en-US" sz="2300" b="1" dirty="0" smtClean="0"/>
              <a:t>hope</a:t>
            </a:r>
            <a:r>
              <a:rPr lang="en-US" sz="2300" dirty="0" smtClean="0"/>
              <a:t> you can send me some books. </a:t>
            </a:r>
            <a:r>
              <a:rPr lang="zh-CN" altLang="en-US" sz="2300" dirty="0" smtClean="0"/>
              <a:t>（比较直接，稍欠礼貌）</a:t>
            </a:r>
          </a:p>
          <a:p>
            <a:pPr indent="576000" algn="just"/>
            <a:r>
              <a:rPr lang="en-US" sz="2300" dirty="0" smtClean="0"/>
              <a:t>I </a:t>
            </a:r>
            <a:r>
              <a:rPr lang="en-US" sz="2300" b="1" dirty="0" smtClean="0"/>
              <a:t>hoped</a:t>
            </a:r>
            <a:r>
              <a:rPr lang="en-US" sz="2300" dirty="0" smtClean="0"/>
              <a:t> you could send me some books. </a:t>
            </a:r>
            <a:r>
              <a:rPr lang="zh-CN" altLang="en-US" sz="2300" dirty="0" smtClean="0"/>
              <a:t>（比较礼貌）</a:t>
            </a:r>
          </a:p>
          <a:p>
            <a:pPr indent="576000" algn="just"/>
            <a:r>
              <a:rPr lang="en-US" sz="2300" dirty="0" smtClean="0"/>
              <a:t>I </a:t>
            </a:r>
            <a:r>
              <a:rPr lang="en-US" sz="2300" b="1" dirty="0" smtClean="0"/>
              <a:t>am hoping</a:t>
            </a:r>
            <a:r>
              <a:rPr lang="en-US" sz="2300" dirty="0" smtClean="0"/>
              <a:t> you can send me some books. </a:t>
            </a:r>
            <a:r>
              <a:rPr lang="zh-CN" altLang="en-US" sz="2300" dirty="0" smtClean="0"/>
              <a:t>（比较礼貌）</a:t>
            </a:r>
          </a:p>
          <a:p>
            <a:pPr indent="576000" algn="just"/>
            <a:r>
              <a:rPr lang="en-US" sz="2300" dirty="0" smtClean="0"/>
              <a:t>I </a:t>
            </a:r>
            <a:r>
              <a:rPr lang="en-US" sz="2300" b="1" dirty="0" smtClean="0"/>
              <a:t>was hoping</a:t>
            </a:r>
            <a:r>
              <a:rPr lang="en-US" sz="2300" dirty="0" smtClean="0"/>
              <a:t> you could send me some books. </a:t>
            </a:r>
            <a:r>
              <a:rPr lang="zh-CN" altLang="en-US" sz="2300" dirty="0" smtClean="0"/>
              <a:t>（最为礼貌）</a:t>
            </a:r>
            <a:endParaRPr lang="zh-CN" altLang="en-US" sz="2300" dirty="0"/>
          </a:p>
        </p:txBody>
      </p:sp>
      <p:sp>
        <p:nvSpPr>
          <p:cNvPr id="11" name="TextBox 10"/>
          <p:cNvSpPr txBox="1"/>
          <p:nvPr/>
        </p:nvSpPr>
        <p:spPr>
          <a:xfrm>
            <a:off x="1169694" y="928670"/>
            <a:ext cx="695094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 dirty="0" smtClean="0">
                <a:solidFill>
                  <a:srgbClr val="521E33"/>
                </a:solidFill>
              </a:rPr>
              <a:t>表示现在时间和将来时间里的动作（特殊用法）</a:t>
            </a:r>
          </a:p>
        </p:txBody>
      </p:sp>
      <p:sp>
        <p:nvSpPr>
          <p:cNvPr id="12" name="菱形 11"/>
          <p:cNvSpPr>
            <a:spLocks noChangeAspect="1"/>
          </p:cNvSpPr>
          <p:nvPr/>
        </p:nvSpPr>
        <p:spPr>
          <a:xfrm>
            <a:off x="642910" y="952282"/>
            <a:ext cx="468000" cy="468000"/>
          </a:xfrm>
          <a:prstGeom prst="diamond">
            <a:avLst/>
          </a:prstGeom>
          <a:solidFill>
            <a:srgbClr val="521E33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3" name="菱形 12"/>
          <p:cNvSpPr>
            <a:spLocks noChangeAspect="1"/>
          </p:cNvSpPr>
          <p:nvPr/>
        </p:nvSpPr>
        <p:spPr>
          <a:xfrm>
            <a:off x="757686" y="970282"/>
            <a:ext cx="432000" cy="432000"/>
          </a:xfrm>
          <a:prstGeom prst="diamond">
            <a:avLst/>
          </a:prstGeom>
          <a:solidFill>
            <a:srgbClr val="521E33">
              <a:alpha val="8500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6" name="菱形 15"/>
          <p:cNvSpPr>
            <a:spLocks noChangeAspect="1"/>
          </p:cNvSpPr>
          <p:nvPr/>
        </p:nvSpPr>
        <p:spPr>
          <a:xfrm>
            <a:off x="714348" y="1006282"/>
            <a:ext cx="360000" cy="360000"/>
          </a:xfrm>
          <a:prstGeom prst="diamond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1686" y="92867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1</a:t>
            </a:r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1251681" y="4714884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上述四例都是现在的请求，只有婉转程度的区别，过去进行体最为礼貌。</a:t>
            </a:r>
          </a:p>
        </p:txBody>
      </p:sp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1251681" y="5500702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dirty="0" smtClean="0"/>
              <a:t>过去进行体之所以更为礼貌，既与过去时的“距离感”有关，又与进行体的暂时性、不确定性有关。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420129" y="4714884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1</a:t>
            </a:r>
            <a:endParaRPr lang="zh-CN" alt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420129" y="5500702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2</a:t>
            </a:r>
            <a:endParaRPr lang="zh-CN" altLang="en-US" sz="2000" dirty="0"/>
          </a:p>
        </p:txBody>
      </p:sp>
      <p:sp>
        <p:nvSpPr>
          <p:cNvPr id="28" name="单圆角矩形 27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30" name="图片 29" descr="下一页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352000" y="6534000"/>
            <a:ext cx="323292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571472" y="953516"/>
            <a:ext cx="8072494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en-US" sz="2300" b="1" dirty="0" smtClean="0"/>
              <a:t>2. </a:t>
            </a:r>
            <a:r>
              <a:rPr lang="zh-CN" altLang="en-US" sz="2300" b="1" dirty="0" smtClean="0"/>
              <a:t>表示主观臆想的情况（想象性用法）</a:t>
            </a:r>
            <a:endParaRPr lang="zh-CN" altLang="en-US" sz="2300" dirty="0" smtClean="0"/>
          </a:p>
          <a:p>
            <a:pPr indent="576000"/>
            <a:r>
              <a:rPr lang="zh-CN" altLang="en-US" sz="2300" dirty="0" smtClean="0"/>
              <a:t>表达对现在或将来情况的臆想。</a:t>
            </a:r>
          </a:p>
          <a:p>
            <a:pPr indent="576000" algn="just"/>
            <a:r>
              <a:rPr lang="zh-CN" altLang="en-US" sz="2300" dirty="0" smtClean="0"/>
              <a:t>（</a:t>
            </a:r>
            <a:r>
              <a:rPr lang="en-US" sz="2300" dirty="0" smtClean="0"/>
              <a:t>1</a:t>
            </a:r>
            <a:r>
              <a:rPr lang="zh-CN" altLang="en-US" sz="2300" dirty="0" smtClean="0"/>
              <a:t>）</a:t>
            </a:r>
            <a:r>
              <a:rPr lang="en-US" sz="2300" spc="30" dirty="0" smtClean="0"/>
              <a:t>It’s time...</a:t>
            </a:r>
            <a:r>
              <a:rPr lang="zh-CN" altLang="en-US" sz="2300" spc="30" dirty="0" smtClean="0"/>
              <a:t>，</a:t>
            </a:r>
            <a:r>
              <a:rPr lang="en-US" sz="2300" spc="30" dirty="0" smtClean="0"/>
              <a:t>I wish...</a:t>
            </a:r>
            <a:r>
              <a:rPr lang="zh-CN" altLang="en-US" sz="2300" spc="30" dirty="0" smtClean="0"/>
              <a:t>，</a:t>
            </a:r>
            <a:r>
              <a:rPr lang="en-US" sz="2300" spc="30" dirty="0" smtClean="0"/>
              <a:t>I’d rather...</a:t>
            </a:r>
            <a:r>
              <a:rPr lang="zh-CN" altLang="en-US" sz="2300" spc="30" dirty="0" smtClean="0"/>
              <a:t>等结构后面的</a:t>
            </a:r>
            <a:r>
              <a:rPr lang="en-US" sz="2300" spc="30" dirty="0" smtClean="0"/>
              <a:t>that-</a:t>
            </a:r>
            <a:r>
              <a:rPr lang="zh-CN" altLang="en-US" sz="2300" dirty="0" smtClean="0"/>
              <a:t>分句中</a:t>
            </a:r>
          </a:p>
          <a:p>
            <a:pPr indent="576000"/>
            <a:r>
              <a:rPr lang="en-US" sz="2300" dirty="0" smtClean="0"/>
              <a:t>e.g. It’s time we </a:t>
            </a:r>
            <a:r>
              <a:rPr lang="en-US" sz="2300" b="1" dirty="0" smtClean="0"/>
              <a:t>were leaving</a:t>
            </a:r>
            <a:r>
              <a:rPr lang="en-US" sz="2300" dirty="0" smtClean="0"/>
              <a:t>. </a:t>
            </a:r>
            <a:r>
              <a:rPr lang="zh-CN" altLang="en-US" sz="2300" dirty="0" smtClean="0"/>
              <a:t>（现在）</a:t>
            </a:r>
          </a:p>
          <a:p>
            <a:pPr indent="576000"/>
            <a:r>
              <a:rPr lang="en-US" sz="2300" dirty="0" smtClean="0"/>
              <a:t>       I wish they </a:t>
            </a:r>
            <a:r>
              <a:rPr lang="en-US" sz="2300" b="1" dirty="0" smtClean="0"/>
              <a:t>were not speaking</a:t>
            </a:r>
            <a:r>
              <a:rPr lang="en-US" sz="2300" dirty="0" smtClean="0"/>
              <a:t> so loudly. </a:t>
            </a:r>
            <a:r>
              <a:rPr lang="zh-CN" altLang="en-US" sz="2300" dirty="0" smtClean="0"/>
              <a:t>（现在）</a:t>
            </a:r>
          </a:p>
          <a:p>
            <a:pPr indent="576000"/>
            <a:r>
              <a:rPr lang="en-US" sz="2300" dirty="0" smtClean="0"/>
              <a:t>       I’d rather you </a:t>
            </a:r>
            <a:r>
              <a:rPr lang="en-US" sz="2300" b="1" dirty="0" smtClean="0"/>
              <a:t>were going</a:t>
            </a:r>
            <a:r>
              <a:rPr lang="en-US" sz="2300" dirty="0" smtClean="0"/>
              <a:t> at once. </a:t>
            </a:r>
            <a:r>
              <a:rPr lang="zh-CN" altLang="en-US" sz="2300" dirty="0" smtClean="0"/>
              <a:t>（将来）</a:t>
            </a:r>
          </a:p>
          <a:p>
            <a:pPr indent="576000" algn="just"/>
            <a:r>
              <a:rPr lang="en-US" sz="2300" spc="-30" dirty="0" smtClean="0"/>
              <a:t>       </a:t>
            </a:r>
            <a:r>
              <a:rPr lang="en-US" sz="2300" spc="70" dirty="0" smtClean="0"/>
              <a:t>If they </a:t>
            </a:r>
            <a:r>
              <a:rPr lang="en-US" sz="2300" b="1" spc="70" dirty="0" smtClean="0"/>
              <a:t>were leaving</a:t>
            </a:r>
            <a:r>
              <a:rPr lang="en-US" sz="2300" spc="70" dirty="0" smtClean="0"/>
              <a:t> tonight, I’d like to go with them.          </a:t>
            </a:r>
          </a:p>
          <a:p>
            <a:pPr indent="576000" algn="just"/>
            <a:r>
              <a:rPr lang="en-US" altLang="zh-CN" sz="2300" spc="70" dirty="0" smtClean="0"/>
              <a:t>      </a:t>
            </a:r>
            <a:r>
              <a:rPr lang="zh-CN" altLang="en-US" sz="2300" dirty="0" smtClean="0"/>
              <a:t>（将来）</a:t>
            </a:r>
            <a:endParaRPr lang="zh-CN" altLang="en-US" sz="2300" dirty="0"/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1251681" y="4357694"/>
            <a:ext cx="738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到底是对现在还是对将来情况的假想，取决于语境。</a:t>
            </a:r>
          </a:p>
        </p:txBody>
      </p:sp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1251681" y="4929198"/>
            <a:ext cx="7380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此种用法通常可与一般过去时交换使用，意义没有差别，用过去进行体似乎更显生动。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420129" y="4357694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1</a:t>
            </a:r>
            <a:endParaRPr lang="zh-CN" alt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420129" y="4929198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2</a:t>
            </a:r>
            <a:endParaRPr lang="zh-CN" altLang="en-US" sz="2000" dirty="0"/>
          </a:p>
        </p:txBody>
      </p:sp>
      <p:sp>
        <p:nvSpPr>
          <p:cNvPr id="15" name="单圆角矩形 14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19" name="图片 18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单圆角矩形 14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19" name="图片 18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71472" y="1376250"/>
            <a:ext cx="8072494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en-US" sz="2300" dirty="0" smtClean="0"/>
              <a:t>1.  </a:t>
            </a:r>
            <a:r>
              <a:rPr lang="zh-CN" altLang="en-US" sz="2300" dirty="0" smtClean="0"/>
              <a:t>表示</a:t>
            </a:r>
            <a:r>
              <a:rPr lang="zh-CN" altLang="en-US" sz="2300" b="1" dirty="0" smtClean="0"/>
              <a:t>未完成</a:t>
            </a:r>
            <a:r>
              <a:rPr lang="zh-CN" altLang="en-US" sz="2300" dirty="0" smtClean="0"/>
              <a:t>的动作（过去进行体）还是</a:t>
            </a:r>
            <a:r>
              <a:rPr lang="zh-CN" altLang="en-US" sz="2300" b="1" dirty="0" smtClean="0"/>
              <a:t>已完成</a:t>
            </a:r>
            <a:r>
              <a:rPr lang="zh-CN" altLang="en-US" sz="2300" dirty="0" smtClean="0"/>
              <a:t>的动作（一般过去时）</a:t>
            </a:r>
          </a:p>
          <a:p>
            <a:pPr indent="576000"/>
            <a:r>
              <a:rPr lang="en-US" sz="2300" dirty="0" smtClean="0"/>
              <a:t>e.g. I </a:t>
            </a:r>
            <a:r>
              <a:rPr lang="en-US" sz="2300" b="1" dirty="0" smtClean="0"/>
              <a:t>was reading</a:t>
            </a:r>
            <a:r>
              <a:rPr lang="en-US" sz="2300" dirty="0" smtClean="0"/>
              <a:t> a book that evening. </a:t>
            </a:r>
            <a:r>
              <a:rPr lang="zh-CN" altLang="en-US" sz="2300" dirty="0" smtClean="0"/>
              <a:t>（未读完）</a:t>
            </a:r>
          </a:p>
          <a:p>
            <a:pPr indent="576000"/>
            <a:r>
              <a:rPr lang="en-US" sz="2300" spc="-20" dirty="0" smtClean="0"/>
              <a:t>       </a:t>
            </a:r>
            <a:r>
              <a:rPr lang="en-US" sz="2300" dirty="0" smtClean="0"/>
              <a:t>I </a:t>
            </a:r>
            <a:r>
              <a:rPr lang="en-US" sz="2300" b="1" dirty="0" smtClean="0"/>
              <a:t>read</a:t>
            </a:r>
            <a:r>
              <a:rPr lang="en-US" sz="2300" dirty="0" smtClean="0"/>
              <a:t> a book that evening. </a:t>
            </a:r>
            <a:r>
              <a:rPr lang="zh-CN" altLang="en-US" sz="2300" dirty="0" smtClean="0"/>
              <a:t>（已读完）</a:t>
            </a:r>
            <a:endParaRPr lang="en-US" altLang="zh-CN" sz="2300" dirty="0" smtClean="0"/>
          </a:p>
          <a:p>
            <a:pPr indent="576000"/>
            <a:endParaRPr lang="en-US" altLang="zh-CN" sz="2300" dirty="0" smtClean="0"/>
          </a:p>
          <a:p>
            <a:pPr indent="576000"/>
            <a:endParaRPr lang="en-US" altLang="zh-CN" sz="2300" dirty="0" smtClean="0"/>
          </a:p>
          <a:p>
            <a:pPr indent="576000"/>
            <a:r>
              <a:rPr lang="en-US" altLang="en-US" sz="2300" dirty="0" smtClean="0"/>
              <a:t>2. </a:t>
            </a:r>
            <a:r>
              <a:rPr lang="zh-CN" altLang="en-US" sz="2300" dirty="0" smtClean="0"/>
              <a:t>说明</a:t>
            </a:r>
            <a:r>
              <a:rPr lang="zh-CN" altLang="en-US" sz="2300" b="1" dirty="0" smtClean="0"/>
              <a:t>事实</a:t>
            </a:r>
            <a:r>
              <a:rPr lang="zh-CN" altLang="en-US" sz="2300" dirty="0" smtClean="0"/>
              <a:t>（一般过去时）还是强调</a:t>
            </a:r>
            <a:r>
              <a:rPr lang="zh-CN" altLang="en-US" sz="2300" b="1" dirty="0" smtClean="0"/>
              <a:t>时间长度</a:t>
            </a:r>
            <a:r>
              <a:rPr lang="zh-CN" altLang="en-US" sz="2300" dirty="0" smtClean="0"/>
              <a:t>（过去进行体）</a:t>
            </a:r>
          </a:p>
          <a:p>
            <a:pPr indent="576000"/>
            <a:r>
              <a:rPr lang="en-US" altLang="en-US" sz="2300" dirty="0" smtClean="0"/>
              <a:t>e.g. He </a:t>
            </a:r>
            <a:r>
              <a:rPr lang="en-US" altLang="en-US" sz="2300" b="1" dirty="0" smtClean="0"/>
              <a:t>worked</a:t>
            </a:r>
            <a:r>
              <a:rPr lang="en-US" altLang="en-US" sz="2300" dirty="0" smtClean="0"/>
              <a:t> / </a:t>
            </a:r>
            <a:r>
              <a:rPr lang="en-US" altLang="en-US" sz="2300" b="1" dirty="0" smtClean="0"/>
              <a:t>was working</a:t>
            </a:r>
            <a:r>
              <a:rPr lang="en-US" altLang="en-US" sz="2300" dirty="0" smtClean="0"/>
              <a:t> all through the night.</a:t>
            </a:r>
            <a:endParaRPr lang="zh-CN" altLang="en-US" sz="23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1169694" y="928670"/>
            <a:ext cx="501772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b="1" dirty="0" smtClean="0">
                <a:solidFill>
                  <a:srgbClr val="521E33"/>
                </a:solidFill>
              </a:rPr>
              <a:t>过去进行体和一般过去时用法比较</a:t>
            </a:r>
          </a:p>
        </p:txBody>
      </p:sp>
      <p:sp>
        <p:nvSpPr>
          <p:cNvPr id="13" name="菱形 12"/>
          <p:cNvSpPr>
            <a:spLocks noChangeAspect="1"/>
          </p:cNvSpPr>
          <p:nvPr/>
        </p:nvSpPr>
        <p:spPr>
          <a:xfrm>
            <a:off x="642910" y="952282"/>
            <a:ext cx="468000" cy="468000"/>
          </a:xfrm>
          <a:prstGeom prst="diamond">
            <a:avLst/>
          </a:prstGeom>
          <a:solidFill>
            <a:srgbClr val="521E33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4" name="菱形 13"/>
          <p:cNvSpPr>
            <a:spLocks noChangeAspect="1"/>
          </p:cNvSpPr>
          <p:nvPr/>
        </p:nvSpPr>
        <p:spPr>
          <a:xfrm>
            <a:off x="757686" y="970282"/>
            <a:ext cx="432000" cy="432000"/>
          </a:xfrm>
          <a:prstGeom prst="diamond">
            <a:avLst/>
          </a:prstGeom>
          <a:solidFill>
            <a:srgbClr val="521E33">
              <a:alpha val="85000"/>
            </a:srgbClr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6" name="菱形 15"/>
          <p:cNvSpPr>
            <a:spLocks noChangeAspect="1"/>
          </p:cNvSpPr>
          <p:nvPr/>
        </p:nvSpPr>
        <p:spPr>
          <a:xfrm>
            <a:off x="714348" y="1006282"/>
            <a:ext cx="360000" cy="360000"/>
          </a:xfrm>
          <a:prstGeom prst="diamond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1686" y="92867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latin typeface="黑体" pitchFamily="49" charset="-122"/>
                <a:ea typeface="黑体" pitchFamily="49" charset="-122"/>
              </a:rPr>
              <a:t>2</a:t>
            </a: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251681" y="4814840"/>
            <a:ext cx="7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上述两种时态意义无甚差别，只是进行体更加突出持续时间之久。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1251681" y="5357826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dirty="0" smtClean="0"/>
              <a:t>在带有</a:t>
            </a:r>
            <a:r>
              <a:rPr lang="en-US" sz="2000" dirty="0" smtClean="0"/>
              <a:t>all night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the whole morning</a:t>
            </a:r>
            <a:r>
              <a:rPr lang="zh-CN" altLang="en-US" sz="2000" dirty="0" smtClean="0"/>
              <a:t>等强调时间长度的时间状语时，用过去进行体更好些。</a:t>
            </a:r>
            <a:endParaRPr lang="zh-CN" alt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420129" y="4814840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1</a:t>
            </a:r>
            <a:endParaRPr lang="zh-CN" alt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420129" y="5357826"/>
            <a:ext cx="82907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r>
              <a:rPr lang="en-US" sz="2000" b="1" dirty="0" smtClean="0"/>
              <a:t>2</a:t>
            </a:r>
            <a:endParaRPr lang="zh-CN" altLang="en-US" sz="20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642942" y="2857496"/>
            <a:ext cx="904941" cy="369332"/>
            <a:chOff x="428596" y="3106800"/>
            <a:chExt cx="904941" cy="369332"/>
          </a:xfrm>
        </p:grpSpPr>
        <p:grpSp>
          <p:nvGrpSpPr>
            <p:cNvPr id="29" name="组合 83"/>
            <p:cNvGrpSpPr>
              <a:grpSpLocks noChangeAspect="1"/>
            </p:cNvGrpSpPr>
            <p:nvPr/>
          </p:nvGrpSpPr>
          <p:grpSpPr>
            <a:xfrm>
              <a:off x="428596" y="3143248"/>
              <a:ext cx="900000" cy="325412"/>
              <a:chOff x="428596" y="3143248"/>
              <a:chExt cx="790314" cy="285752"/>
            </a:xfrm>
          </p:grpSpPr>
          <p:sp>
            <p:nvSpPr>
              <p:cNvPr id="31" name="圆角矩形 30"/>
              <p:cNvSpPr/>
              <p:nvPr/>
            </p:nvSpPr>
            <p:spPr>
              <a:xfrm>
                <a:off x="642910" y="3143248"/>
                <a:ext cx="576000" cy="285752"/>
              </a:xfrm>
              <a:prstGeom prst="roundRect">
                <a:avLst/>
              </a:prstGeom>
              <a:solidFill>
                <a:srgbClr val="99375E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2" name="图片 31" descr="备注.png">
                <a:hlinkClick r:id="rId4" action="ppaction://hlinksldjump"/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28596" y="3143248"/>
                <a:ext cx="285752" cy="285751"/>
              </a:xfrm>
              <a:prstGeom prst="rect">
                <a:avLst/>
              </a:prstGeom>
            </p:spPr>
          </p:pic>
        </p:grpSp>
        <p:sp>
          <p:nvSpPr>
            <p:cNvPr id="30" name="TextBox 29">
              <a:hlinkClick r:id="rId4" action="ppaction://hlinksldjump"/>
            </p:cNvPr>
            <p:cNvSpPr txBox="1"/>
            <p:nvPr/>
          </p:nvSpPr>
          <p:spPr>
            <a:xfrm>
              <a:off x="684000" y="3106800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备注</a:t>
              </a:r>
              <a:endParaRPr lang="zh-CN" altLang="en-US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单圆角矩形 14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19" name="图片 18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71472" y="1000108"/>
            <a:ext cx="8072494" cy="4693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en-US" sz="2300" dirty="0" smtClean="0"/>
              <a:t>3. </a:t>
            </a:r>
            <a:r>
              <a:rPr lang="zh-CN" altLang="en-US" sz="2300" dirty="0" smtClean="0"/>
              <a:t>在</a:t>
            </a:r>
            <a:r>
              <a:rPr lang="en-US" sz="2300" b="1" dirty="0" smtClean="0"/>
              <a:t>as-/while-/when-</a:t>
            </a:r>
            <a:r>
              <a:rPr lang="zh-CN" altLang="en-US" sz="2300" b="1" dirty="0" smtClean="0"/>
              <a:t>分句中</a:t>
            </a:r>
            <a:r>
              <a:rPr lang="zh-CN" altLang="en-US" sz="2300" dirty="0" smtClean="0"/>
              <a:t>的用法比较</a:t>
            </a:r>
          </a:p>
          <a:p>
            <a:pPr indent="576000" algn="just"/>
            <a:r>
              <a:rPr lang="zh-CN" altLang="en-US" sz="2300" dirty="0" smtClean="0"/>
              <a:t>（</a:t>
            </a:r>
            <a:r>
              <a:rPr lang="en-US" sz="2300" dirty="0" smtClean="0"/>
              <a:t>1</a:t>
            </a:r>
            <a:r>
              <a:rPr lang="zh-CN" altLang="en-US" sz="2300" dirty="0" smtClean="0"/>
              <a:t>）</a:t>
            </a:r>
            <a:r>
              <a:rPr lang="en-US" sz="2300" dirty="0" smtClean="0"/>
              <a:t>as</a:t>
            </a:r>
            <a:r>
              <a:rPr lang="zh-CN" altLang="en-US" sz="2300" dirty="0" smtClean="0"/>
              <a:t>，</a:t>
            </a:r>
            <a:r>
              <a:rPr lang="en-US" sz="2300" dirty="0" smtClean="0"/>
              <a:t>while</a:t>
            </a:r>
            <a:r>
              <a:rPr lang="zh-CN" altLang="en-US" sz="2300" dirty="0" smtClean="0"/>
              <a:t>分句可以用一般过去时代替过去进行体，意义无区别。</a:t>
            </a:r>
          </a:p>
          <a:p>
            <a:pPr indent="576000"/>
            <a:r>
              <a:rPr lang="en-US" sz="2300" dirty="0" smtClean="0"/>
              <a:t>e.g. I read a newspaper while I </a:t>
            </a:r>
            <a:r>
              <a:rPr lang="en-US" sz="2300" b="1" dirty="0" smtClean="0"/>
              <a:t>was waiting / waited</a:t>
            </a:r>
            <a:r>
              <a:rPr lang="en-US" sz="2300" dirty="0" smtClean="0"/>
              <a:t>.</a:t>
            </a:r>
            <a:endParaRPr lang="zh-CN" altLang="en-US" sz="2300" dirty="0" smtClean="0"/>
          </a:p>
          <a:p>
            <a:pPr indent="576000"/>
            <a:r>
              <a:rPr lang="en-US" sz="2300" dirty="0" smtClean="0"/>
              <a:t>      As she </a:t>
            </a:r>
            <a:r>
              <a:rPr lang="en-US" sz="2300" b="1" dirty="0" smtClean="0"/>
              <a:t>sang / was singing</a:t>
            </a:r>
            <a:r>
              <a:rPr lang="en-US" sz="2300" dirty="0" smtClean="0"/>
              <a:t>, tears ran down her cheeks. </a:t>
            </a:r>
          </a:p>
          <a:p>
            <a:pPr indent="576000"/>
            <a:endParaRPr lang="en-US" altLang="zh-CN" sz="2300" dirty="0" smtClean="0"/>
          </a:p>
          <a:p>
            <a:pPr indent="576000"/>
            <a:endParaRPr lang="en-US" altLang="zh-CN" sz="2300" dirty="0" smtClean="0"/>
          </a:p>
          <a:p>
            <a:pPr indent="576000"/>
            <a:r>
              <a:rPr lang="zh-CN" altLang="en-US" sz="2300" dirty="0" smtClean="0"/>
              <a:t>（</a:t>
            </a:r>
            <a:r>
              <a:rPr lang="en-US" sz="2300" dirty="0" smtClean="0"/>
              <a:t>2</a:t>
            </a:r>
            <a:r>
              <a:rPr lang="zh-CN" altLang="en-US" sz="2300" dirty="0" smtClean="0"/>
              <a:t>）主句和从句中两个动词的动作持续时间有长有短时，较短的动作常用一般过去时，较长的动作常用过去进行体。</a:t>
            </a:r>
          </a:p>
          <a:p>
            <a:pPr indent="576000"/>
            <a:r>
              <a:rPr lang="en-US" sz="2300" dirty="0" smtClean="0"/>
              <a:t>e.g. I </a:t>
            </a:r>
            <a:r>
              <a:rPr lang="en-US" sz="2300" b="1" dirty="0" smtClean="0"/>
              <a:t>broke</a:t>
            </a:r>
            <a:r>
              <a:rPr lang="en-US" sz="2300" dirty="0" smtClean="0"/>
              <a:t> a glass while I </a:t>
            </a:r>
            <a:r>
              <a:rPr lang="en-US" sz="2300" b="1" dirty="0" smtClean="0"/>
              <a:t>was cooking</a:t>
            </a:r>
            <a:r>
              <a:rPr lang="en-US" sz="2300" dirty="0" smtClean="0"/>
              <a:t> the dinner.</a:t>
            </a:r>
            <a:endParaRPr lang="zh-CN" altLang="en-US" sz="2300" dirty="0" smtClean="0"/>
          </a:p>
          <a:p>
            <a:pPr indent="576000"/>
            <a:r>
              <a:rPr lang="en-US" sz="2300" spc="-10" dirty="0" smtClean="0"/>
              <a:t>       </a:t>
            </a:r>
            <a:r>
              <a:rPr lang="en-US" sz="2300" dirty="0" smtClean="0"/>
              <a:t>I </a:t>
            </a:r>
            <a:r>
              <a:rPr lang="en-US" sz="2300" b="1" dirty="0" smtClean="0"/>
              <a:t>was running</a:t>
            </a:r>
            <a:r>
              <a:rPr lang="en-US" sz="2300" dirty="0" smtClean="0"/>
              <a:t> downstairs when I </a:t>
            </a:r>
            <a:r>
              <a:rPr lang="en-US" sz="2300" b="1" dirty="0" smtClean="0"/>
              <a:t>slipped</a:t>
            </a:r>
            <a:r>
              <a:rPr lang="en-US" sz="2300" dirty="0" smtClean="0"/>
              <a:t> and </a:t>
            </a:r>
            <a:r>
              <a:rPr lang="en-US" sz="2300" b="1" dirty="0" smtClean="0"/>
              <a:t>fell</a:t>
            </a:r>
            <a:r>
              <a:rPr lang="en-US" sz="2300" dirty="0" smtClean="0"/>
              <a:t>.</a:t>
            </a:r>
            <a:endParaRPr lang="zh-CN" altLang="en-US" sz="2300" dirty="0" smtClean="0"/>
          </a:p>
          <a:p>
            <a:pPr indent="576000"/>
            <a:r>
              <a:rPr lang="zh-CN" altLang="en-US" sz="2300" dirty="0" smtClean="0"/>
              <a:t>       （我在跑下楼的时候突然滑倒了。）</a:t>
            </a:r>
          </a:p>
          <a:p>
            <a:pPr indent="576000"/>
            <a:endParaRPr lang="zh-CN" altLang="en-US" sz="2300" dirty="0"/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251681" y="2886014"/>
            <a:ext cx="7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因为</a:t>
            </a:r>
            <a:r>
              <a:rPr lang="en-US" sz="2000" dirty="0" smtClean="0"/>
              <a:t>as</a:t>
            </a:r>
            <a:r>
              <a:rPr lang="zh-CN" altLang="en-US" sz="2000" dirty="0" smtClean="0"/>
              <a:t>和</a:t>
            </a:r>
            <a:r>
              <a:rPr lang="en-US" sz="2000" dirty="0" smtClean="0"/>
              <a:t>while</a:t>
            </a:r>
            <a:r>
              <a:rPr lang="zh-CN" altLang="en-US" sz="2000" dirty="0" smtClean="0"/>
              <a:t>本身已清楚地表明时间的延续性。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1251681" y="5357826"/>
            <a:ext cx="7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dirty="0" smtClean="0"/>
              <a:t>在此种用法下，当</a:t>
            </a:r>
            <a:r>
              <a:rPr lang="en-US" sz="2000" dirty="0" smtClean="0"/>
              <a:t>when</a:t>
            </a:r>
            <a:r>
              <a:rPr lang="zh-CN" altLang="en-US" sz="2000" dirty="0" smtClean="0"/>
              <a:t>从句位于主句之后时，常强调动作的突然性，译成汉语时，</a:t>
            </a:r>
            <a:r>
              <a:rPr lang="en-US" sz="2000" dirty="0" smtClean="0"/>
              <a:t>when</a:t>
            </a:r>
            <a:r>
              <a:rPr lang="zh-CN" altLang="en-US" sz="2000" dirty="0" smtClean="0"/>
              <a:t>从句译为主句。</a:t>
            </a:r>
            <a:endParaRPr lang="zh-CN" alt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420129" y="2886014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420129" y="5357826"/>
            <a:ext cx="700833" cy="40011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提示</a:t>
            </a:r>
            <a:endParaRPr lang="zh-CN" altLang="en-US" sz="20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单圆角矩形 14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71472" y="1000108"/>
            <a:ext cx="8072494" cy="186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76000"/>
            <a:r>
              <a:rPr lang="zh-CN" altLang="en-US" sz="2300" dirty="0" smtClean="0"/>
              <a:t>（</a:t>
            </a:r>
            <a:r>
              <a:rPr lang="en-US" sz="2300" dirty="0" smtClean="0"/>
              <a:t>3</a:t>
            </a:r>
            <a:r>
              <a:rPr lang="zh-CN" altLang="en-US" sz="2300" dirty="0" smtClean="0"/>
              <a:t>）</a:t>
            </a:r>
            <a:r>
              <a:rPr lang="zh-CN" altLang="en-US" sz="2300" spc="-60" dirty="0" smtClean="0"/>
              <a:t>一般过去时和过去进行体表示的动作的时间顺序不同。</a:t>
            </a:r>
          </a:p>
          <a:p>
            <a:pPr indent="576000"/>
            <a:r>
              <a:rPr lang="en-US" sz="2300" dirty="0" smtClean="0"/>
              <a:t>e.g. When we </a:t>
            </a:r>
            <a:r>
              <a:rPr lang="en-US" sz="2300" b="1" dirty="0" smtClean="0"/>
              <a:t>arrived</a:t>
            </a:r>
            <a:r>
              <a:rPr lang="en-US" sz="2300" dirty="0" smtClean="0"/>
              <a:t>, she </a:t>
            </a:r>
            <a:r>
              <a:rPr lang="en-US" sz="2300" b="1" dirty="0" smtClean="0"/>
              <a:t>was making</a:t>
            </a:r>
            <a:r>
              <a:rPr lang="en-US" sz="2300" dirty="0" smtClean="0"/>
              <a:t> some fresh coffee. </a:t>
            </a:r>
            <a:endParaRPr lang="zh-CN" altLang="en-US" sz="2300" dirty="0" smtClean="0"/>
          </a:p>
          <a:p>
            <a:pPr indent="576000"/>
            <a:r>
              <a:rPr lang="zh-CN" altLang="en-US" sz="2300" dirty="0" smtClean="0"/>
              <a:t>       （“到达”发生在“煮咖啡”过程中）</a:t>
            </a:r>
          </a:p>
          <a:p>
            <a:pPr indent="576000"/>
            <a:r>
              <a:rPr lang="en-US" sz="2300" dirty="0" smtClean="0"/>
              <a:t>       When we </a:t>
            </a:r>
            <a:r>
              <a:rPr lang="en-US" sz="2300" b="1" dirty="0" smtClean="0"/>
              <a:t>arrived</a:t>
            </a:r>
            <a:r>
              <a:rPr lang="en-US" sz="2300" dirty="0" smtClean="0"/>
              <a:t>, she </a:t>
            </a:r>
            <a:r>
              <a:rPr lang="en-US" sz="2300" b="1" dirty="0" smtClean="0"/>
              <a:t>made</a:t>
            </a:r>
            <a:r>
              <a:rPr lang="en-US" sz="2300" dirty="0" smtClean="0"/>
              <a:t> some fresh coffee.   </a:t>
            </a:r>
            <a:endParaRPr lang="zh-CN" altLang="en-US" sz="2300" dirty="0" smtClean="0"/>
          </a:p>
          <a:p>
            <a:pPr indent="576000"/>
            <a:r>
              <a:rPr lang="zh-CN" altLang="en-US" sz="2300" dirty="0" smtClean="0"/>
              <a:t>       （</a:t>
            </a:r>
            <a:r>
              <a:rPr lang="en-US" sz="2300" dirty="0" smtClean="0"/>
              <a:t>when=after</a:t>
            </a:r>
            <a:r>
              <a:rPr lang="zh-CN" altLang="en-US" sz="2300" dirty="0" smtClean="0"/>
              <a:t>，先“到达”，再“煮咖啡”）</a:t>
            </a:r>
            <a:endParaRPr lang="zh-CN" altLang="en-US" sz="23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642942" y="2857496"/>
            <a:ext cx="904941" cy="369332"/>
            <a:chOff x="428596" y="3106800"/>
            <a:chExt cx="904941" cy="369332"/>
          </a:xfrm>
        </p:grpSpPr>
        <p:grpSp>
          <p:nvGrpSpPr>
            <p:cNvPr id="12" name="组合 83"/>
            <p:cNvGrpSpPr>
              <a:grpSpLocks noChangeAspect="1"/>
            </p:cNvGrpSpPr>
            <p:nvPr/>
          </p:nvGrpSpPr>
          <p:grpSpPr>
            <a:xfrm>
              <a:off x="428596" y="3143248"/>
              <a:ext cx="900000" cy="325412"/>
              <a:chOff x="428596" y="3143248"/>
              <a:chExt cx="790314" cy="285752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642910" y="3143248"/>
                <a:ext cx="576000" cy="285752"/>
              </a:xfrm>
              <a:prstGeom prst="roundRect">
                <a:avLst/>
              </a:prstGeom>
              <a:solidFill>
                <a:srgbClr val="99375E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zh-CN" altLang="en-US" sz="5400" b="1" dirty="0" smtClean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6" name="图片 15" descr="备注.png">
                <a:hlinkClick r:id="rId2" action="ppaction://hlinksldjump"/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28596" y="3143248"/>
                <a:ext cx="285752" cy="285751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hlinkClick r:id="rId2" action="ppaction://hlinksldjump"/>
            </p:cNvPr>
            <p:cNvSpPr txBox="1"/>
            <p:nvPr/>
          </p:nvSpPr>
          <p:spPr>
            <a:xfrm>
              <a:off x="684000" y="3106800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rPr>
                <a:t>备注</a:t>
              </a:r>
              <a:endParaRPr lang="zh-CN" altLang="en-US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7" name="单圆角矩形 16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25" name="图片 24" descr="下一页.png"/>
          <p:cNvPicPr>
            <a:picLocks noChangeAspect="1"/>
          </p:cNvPicPr>
          <p:nvPr/>
        </p:nvPicPr>
        <p:blipFill>
          <a:blip r:embed="rId5" cstate="print">
            <a:grayscl/>
          </a:blip>
          <a:stretch>
            <a:fillRect/>
          </a:stretch>
        </p:blipFill>
        <p:spPr>
          <a:xfrm>
            <a:off x="8748000" y="6534000"/>
            <a:ext cx="323293" cy="2880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785786" y="928670"/>
            <a:ext cx="792961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0" indent="-360000" algn="just">
              <a:buFont typeface="+mj-lt"/>
              <a:buAutoNum type="arabicPeriod"/>
            </a:pPr>
            <a:r>
              <a:rPr lang="en-US" sz="2400" b="1" spc="60" dirty="0" smtClean="0"/>
              <a:t>Which of the italicized parts expresses a future tense?   </a:t>
            </a:r>
          </a:p>
          <a:p>
            <a:pPr marL="360000" indent="-360000" algn="just"/>
            <a:r>
              <a:rPr lang="en-US" sz="2400" b="1" spc="60" dirty="0" smtClean="0"/>
              <a:t>                                                                             </a:t>
            </a:r>
            <a:r>
              <a:rPr lang="en-US" sz="2400" b="1" dirty="0" smtClean="0"/>
              <a:t>(2015-54</a:t>
            </a: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cs typeface="Times New Roman" pitchFamily="18" charset="0"/>
            </a:endParaRP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A.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B.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C.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D.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48000" y="1674000"/>
            <a:ext cx="716740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My friend </a:t>
            </a:r>
            <a:r>
              <a:rPr lang="en-US" sz="2400" i="1" dirty="0" smtClean="0"/>
              <a:t>teaches</a:t>
            </a:r>
            <a:r>
              <a:rPr lang="en-US" sz="2400" dirty="0" smtClean="0"/>
              <a:t> chemistry in a school. </a:t>
            </a:r>
          </a:p>
          <a:p>
            <a:r>
              <a:rPr lang="en-US" sz="2400" dirty="0" smtClean="0"/>
              <a:t>I’ll give it to you after I </a:t>
            </a:r>
            <a:r>
              <a:rPr lang="en-US" sz="2400" i="1" dirty="0" smtClean="0"/>
              <a:t>return</a:t>
            </a:r>
            <a:r>
              <a:rPr lang="en-US" sz="2400" dirty="0" smtClean="0"/>
              <a:t>. </a:t>
            </a:r>
            <a:endParaRPr lang="zh-CN" altLang="en-US" sz="2400" dirty="0" smtClean="0"/>
          </a:p>
          <a:p>
            <a:r>
              <a:rPr lang="en-US" sz="2400" dirty="0" smtClean="0"/>
              <a:t>What </a:t>
            </a:r>
            <a:r>
              <a:rPr lang="en-US" sz="2400" i="1" dirty="0" smtClean="0"/>
              <a:t>is</a:t>
            </a:r>
            <a:r>
              <a:rPr lang="en-US" sz="2400" dirty="0" smtClean="0"/>
              <a:t> the matter with you?</a:t>
            </a:r>
          </a:p>
          <a:p>
            <a:r>
              <a:rPr lang="en-US" sz="2400" dirty="0" smtClean="0"/>
              <a:t>London </a:t>
            </a:r>
            <a:r>
              <a:rPr lang="en-US" sz="2400" i="1" dirty="0" smtClean="0"/>
              <a:t>stands</a:t>
            </a:r>
            <a:r>
              <a:rPr lang="en-US" sz="2400" dirty="0" smtClean="0"/>
              <a:t> on the River Thames.</a:t>
            </a:r>
            <a:endParaRPr lang="zh-CN" altLang="en-US" sz="2400" dirty="0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85786" y="3357562"/>
            <a:ext cx="792961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本题考查一般现在时表将来的用法。</a:t>
            </a:r>
            <a:r>
              <a:rPr lang="en-US" sz="2000" dirty="0" smtClean="0"/>
              <a:t>B</a:t>
            </a:r>
            <a:r>
              <a:rPr lang="zh-CN" altLang="en-US" sz="2000" dirty="0" smtClean="0"/>
              <a:t>句斜体部分是在时间状语从句中，用一般现在时表将来，因此，</a:t>
            </a:r>
            <a:r>
              <a:rPr lang="en-US" sz="2000" dirty="0" smtClean="0"/>
              <a:t>B</a:t>
            </a:r>
            <a:r>
              <a:rPr lang="zh-CN" altLang="en-US" sz="2000" dirty="0" smtClean="0"/>
              <a:t>为正确答案。</a:t>
            </a:r>
            <a:r>
              <a:rPr lang="en-US" sz="2000" dirty="0" smtClean="0"/>
              <a:t>A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C</a:t>
            </a:r>
            <a:r>
              <a:rPr lang="zh-CN" altLang="en-US" sz="2000" dirty="0" smtClean="0"/>
              <a:t>句为一般现在时表现在的动作和状态；</a:t>
            </a:r>
            <a:r>
              <a:rPr lang="en-US" sz="2000" dirty="0" smtClean="0"/>
              <a:t>D</a:t>
            </a:r>
            <a:r>
              <a:rPr lang="zh-CN" altLang="en-US" sz="2000" dirty="0" smtClean="0"/>
              <a:t>句一般现在时表不受时限的客观存在。</a:t>
            </a:r>
            <a:endParaRPr lang="zh-CN" altLang="en-US" sz="2000" dirty="0"/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85786" y="4572008"/>
            <a:ext cx="79296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b="1" dirty="0" smtClean="0"/>
              <a:t>下列哪个斜体部分的内容表达将来时态？</a:t>
            </a:r>
            <a:endParaRPr lang="zh-CN" altLang="en-US" sz="2000" b="1" dirty="0"/>
          </a:p>
        </p:txBody>
      </p:sp>
      <p:sp>
        <p:nvSpPr>
          <p:cNvPr id="22" name="单圆角矩形 21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24" name="图片 23" descr="下一页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352000" y="6534000"/>
            <a:ext cx="323292" cy="287998"/>
          </a:xfrm>
          <a:prstGeom prst="rect">
            <a:avLst/>
          </a:prstGeom>
        </p:spPr>
      </p:pic>
      <p:pic>
        <p:nvPicPr>
          <p:cNvPr id="25" name="图片 24" descr="解析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5786" y="3426190"/>
            <a:ext cx="324000" cy="324000"/>
          </a:xfrm>
          <a:prstGeom prst="rect">
            <a:avLst/>
          </a:prstGeom>
        </p:spPr>
      </p:pic>
      <p:pic>
        <p:nvPicPr>
          <p:cNvPr id="26" name="图片 25" descr="译文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5786" y="4612118"/>
            <a:ext cx="324000" cy="324000"/>
          </a:xfrm>
          <a:prstGeom prst="rect">
            <a:avLst/>
          </a:prstGeom>
        </p:spPr>
      </p:pic>
      <p:pic>
        <p:nvPicPr>
          <p:cNvPr id="28" name="图片 27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25786" y="972000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圈圈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52000" y="2088612"/>
            <a:ext cx="459698" cy="361192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785786" y="928670"/>
            <a:ext cx="792961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0" indent="-360000" algn="just">
              <a:buFont typeface="+mj-lt"/>
              <a:buAutoNum type="arabicPeriod" startAt="2"/>
            </a:pPr>
            <a:r>
              <a:rPr lang="en-US" sz="2400" b="1" spc="100" dirty="0" smtClean="0"/>
              <a:t>Which of the following sentences expresses a future </a:t>
            </a:r>
            <a:r>
              <a:rPr lang="en-US" sz="2400" b="1" dirty="0" smtClean="0"/>
              <a:t>action?                                                                    (2014-52</a:t>
            </a:r>
            <a:r>
              <a:rPr lang="en-US" sz="2400" b="1" spc="-3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2400" b="1" spc="-30" dirty="0" smtClean="0">
              <a:solidFill>
                <a:schemeClr val="tx1">
                  <a:lumMod val="65000"/>
                  <a:lumOff val="35000"/>
                </a:schemeClr>
              </a:solidFill>
              <a:cs typeface="Times New Roman" pitchFamily="18" charset="0"/>
            </a:endParaRP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A.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B.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C.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D.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48000" y="1643050"/>
            <a:ext cx="716740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Lucy is continually finding fault with her sister.</a:t>
            </a:r>
            <a:endParaRPr lang="zh-CN" altLang="en-US" sz="2400" dirty="0" smtClean="0"/>
          </a:p>
          <a:p>
            <a:r>
              <a:rPr lang="en-US" sz="2400" dirty="0" smtClean="0"/>
              <a:t>We are meeting the visitors after the performance.</a:t>
            </a:r>
            <a:endParaRPr lang="zh-CN" altLang="en-US" sz="2400" dirty="0" smtClean="0"/>
          </a:p>
          <a:p>
            <a:r>
              <a:rPr lang="en-US" sz="2400" dirty="0" smtClean="0"/>
              <a:t>The coach is now crossing the Garden Bridge.</a:t>
            </a:r>
            <a:endParaRPr lang="zh-CN" altLang="en-US" sz="2400" dirty="0" smtClean="0"/>
          </a:p>
          <a:p>
            <a:r>
              <a:rPr lang="en-US" sz="2400" dirty="0" smtClean="0"/>
              <a:t>I’m hoping that you’ll give us some advice.</a:t>
            </a:r>
            <a:endParaRPr lang="zh-CN" altLang="en-US" sz="2400" dirty="0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85786" y="3357562"/>
            <a:ext cx="7929618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该题考查现在进行体表将来的用法。</a:t>
            </a:r>
            <a:r>
              <a:rPr lang="en-US" sz="2000" dirty="0" smtClean="0"/>
              <a:t>A</a:t>
            </a:r>
            <a:r>
              <a:rPr lang="zh-CN" altLang="en-US" sz="2000" dirty="0" smtClean="0"/>
              <a:t>句中现在进行体与</a:t>
            </a:r>
            <a:r>
              <a:rPr lang="en-US" sz="2000" dirty="0" smtClean="0"/>
              <a:t>continually</a:t>
            </a:r>
            <a:r>
              <a:rPr lang="zh-CN" altLang="en-US" sz="2000" dirty="0" smtClean="0"/>
              <a:t>等频度副词连用，表示某种感情色彩，意为“露西总是不断地找她姐姐的毛病”，属于现阶段正在进行的动作；</a:t>
            </a:r>
            <a:r>
              <a:rPr lang="en-US" sz="2000" dirty="0" smtClean="0"/>
              <a:t>B</a:t>
            </a:r>
            <a:r>
              <a:rPr lang="zh-CN" altLang="en-US" sz="2000" dirty="0" smtClean="0"/>
              <a:t>句中现在进行体与表将来的时间状语连用，表达按照现在的计划安排近期内即将发生的事，意为“演出之后我们将会见来访者”，因此</a:t>
            </a:r>
            <a:r>
              <a:rPr lang="en-US" sz="2000" dirty="0" smtClean="0"/>
              <a:t>B</a:t>
            </a:r>
            <a:r>
              <a:rPr lang="zh-CN" altLang="en-US" sz="2000" dirty="0" smtClean="0"/>
              <a:t>为正确答案；</a:t>
            </a:r>
            <a:r>
              <a:rPr lang="en-US" sz="2000" dirty="0" smtClean="0"/>
              <a:t>C</a:t>
            </a:r>
            <a:r>
              <a:rPr lang="zh-CN" altLang="en-US" sz="2000" dirty="0" smtClean="0"/>
              <a:t>句中现在进行体表达说话时正在进行的动作，意为“客车现在正在穿过花园桥”；</a:t>
            </a:r>
            <a:r>
              <a:rPr lang="en-US" sz="2000" dirty="0" smtClean="0"/>
              <a:t>D</a:t>
            </a:r>
            <a:r>
              <a:rPr lang="zh-CN" altLang="en-US" sz="2000" dirty="0" smtClean="0"/>
              <a:t>句中</a:t>
            </a:r>
            <a:r>
              <a:rPr lang="en-US" sz="2000" dirty="0" smtClean="0"/>
              <a:t>hope</a:t>
            </a:r>
            <a:r>
              <a:rPr lang="zh-CN" altLang="en-US" sz="2000" dirty="0" smtClean="0"/>
              <a:t>的现在进行体仅仅表达婉转口气。</a:t>
            </a:r>
            <a:endParaRPr lang="zh-CN" altLang="en-US" sz="2000" dirty="0"/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85786" y="5672096"/>
            <a:ext cx="79296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b="1" dirty="0" smtClean="0"/>
              <a:t>下列哪个句子表达某一将来动作？</a:t>
            </a:r>
            <a:endParaRPr lang="zh-CN" altLang="en-US" sz="2000" b="1" dirty="0"/>
          </a:p>
        </p:txBody>
      </p:sp>
      <p:sp>
        <p:nvSpPr>
          <p:cNvPr id="22" name="单圆角矩形 21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25" name="图片 24" descr="解析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5786" y="3426190"/>
            <a:ext cx="324000" cy="324000"/>
          </a:xfrm>
          <a:prstGeom prst="rect">
            <a:avLst/>
          </a:prstGeom>
        </p:spPr>
      </p:pic>
      <p:pic>
        <p:nvPicPr>
          <p:cNvPr id="26" name="图片 25" descr="译文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5786" y="5712206"/>
            <a:ext cx="324000" cy="324000"/>
          </a:xfrm>
          <a:prstGeom prst="rect">
            <a:avLst/>
          </a:prstGeom>
        </p:spPr>
      </p:pic>
      <p:pic>
        <p:nvPicPr>
          <p:cNvPr id="28" name="图片 27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5786" y="972000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圈圈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52000" y="2084610"/>
            <a:ext cx="459698" cy="361192"/>
          </a:xfrm>
          <a:prstGeom prst="rect">
            <a:avLst/>
          </a:prstGeom>
        </p:spPr>
      </p:pic>
      <p:pic>
        <p:nvPicPr>
          <p:cNvPr id="13" name="图片 12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785786" y="928670"/>
            <a:ext cx="792961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0" indent="-360000" algn="just">
              <a:buFont typeface="+mj-lt"/>
              <a:buAutoNum type="arabicPeriod" startAt="3"/>
            </a:pPr>
            <a:r>
              <a:rPr lang="en-US" sz="2400" b="1" dirty="0" smtClean="0"/>
              <a:t>It’s getting late. I’d rather you </a:t>
            </a:r>
            <a:r>
              <a:rPr lang="en-US" sz="2400" b="1" u="sng" dirty="0" smtClean="0"/>
              <a:t>		</a:t>
            </a:r>
            <a:r>
              <a:rPr lang="en-US" sz="2400" b="1" dirty="0" smtClean="0"/>
              <a:t> now.     (2011-61</a:t>
            </a:r>
            <a:r>
              <a:rPr lang="en-US" sz="2400" b="1" spc="-3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2400" b="1" spc="-30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A.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B.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C.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D.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48000" y="1285860"/>
            <a:ext cx="716740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left	</a:t>
            </a:r>
          </a:p>
          <a:p>
            <a:r>
              <a:rPr lang="en-US" sz="2400" dirty="0" smtClean="0"/>
              <a:t>leave		</a:t>
            </a:r>
          </a:p>
          <a:p>
            <a:r>
              <a:rPr lang="en-US" sz="2400" dirty="0" smtClean="0"/>
              <a:t>are leaving		</a:t>
            </a:r>
          </a:p>
          <a:p>
            <a:r>
              <a:rPr lang="en-US" sz="2400" dirty="0" smtClean="0"/>
              <a:t>will leave</a:t>
            </a:r>
            <a:endParaRPr lang="zh-CN" altLang="en-US" sz="2400" dirty="0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85786" y="3000372"/>
            <a:ext cx="792961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本题考查一般过去时的想象性用法。一般过去时可用在“</a:t>
            </a:r>
            <a:r>
              <a:rPr lang="en-US" sz="2000" dirty="0" smtClean="0"/>
              <a:t>I’d rather…</a:t>
            </a:r>
            <a:r>
              <a:rPr lang="zh-CN" altLang="en-US" sz="2000" dirty="0" smtClean="0"/>
              <a:t>”等结构后的</a:t>
            </a:r>
            <a:r>
              <a:rPr lang="en-US" sz="2000" dirty="0" smtClean="0"/>
              <a:t>that-</a:t>
            </a:r>
            <a:r>
              <a:rPr lang="zh-CN" altLang="en-US" sz="2000" dirty="0" smtClean="0"/>
              <a:t>分句中，表示与现在事实相反的主观设想，因此</a:t>
            </a:r>
            <a:r>
              <a:rPr lang="en-US" sz="2000" dirty="0" smtClean="0"/>
              <a:t>A</a:t>
            </a:r>
            <a:r>
              <a:rPr lang="zh-CN" altLang="en-US" sz="2000" dirty="0" smtClean="0"/>
              <a:t>为正确答案。该题与</a:t>
            </a:r>
            <a:r>
              <a:rPr lang="en-US" altLang="zh-CN" sz="2000" dirty="0" smtClean="0"/>
              <a:t>《</a:t>
            </a:r>
            <a:r>
              <a:rPr lang="zh-CN" altLang="en-US" sz="2000" dirty="0" smtClean="0"/>
              <a:t>教程</a:t>
            </a:r>
            <a:r>
              <a:rPr lang="en-US" altLang="zh-CN" sz="2000" dirty="0" smtClean="0"/>
              <a:t>》</a:t>
            </a:r>
            <a:r>
              <a:rPr lang="en-US" sz="2000" dirty="0" smtClean="0"/>
              <a:t>P137 Ex.13B</a:t>
            </a:r>
            <a:r>
              <a:rPr lang="zh-CN" altLang="en-US" sz="2000" dirty="0" smtClean="0"/>
              <a:t>第</a:t>
            </a:r>
            <a:r>
              <a:rPr lang="en-US" sz="2000" dirty="0" smtClean="0"/>
              <a:t>5</a:t>
            </a:r>
            <a:r>
              <a:rPr lang="zh-CN" altLang="en-US" sz="2000" dirty="0" smtClean="0"/>
              <a:t>题、第</a:t>
            </a:r>
            <a:r>
              <a:rPr lang="en-US" sz="2000" dirty="0" smtClean="0"/>
              <a:t>11</a:t>
            </a:r>
            <a:r>
              <a:rPr lang="zh-CN" altLang="en-US" sz="2000" dirty="0" smtClean="0"/>
              <a:t>题、第</a:t>
            </a:r>
            <a:r>
              <a:rPr lang="en-US" sz="2000" dirty="0" smtClean="0"/>
              <a:t>24</a:t>
            </a:r>
            <a:r>
              <a:rPr lang="zh-CN" altLang="en-US" sz="2000" dirty="0" smtClean="0"/>
              <a:t>题类似。</a:t>
            </a:r>
            <a:endParaRPr lang="zh-CN" altLang="en-US" sz="2000" dirty="0"/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85786" y="4214818"/>
            <a:ext cx="79296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b="1" dirty="0" smtClean="0"/>
              <a:t>时间不早了，我宁可你现在就走。</a:t>
            </a:r>
            <a:endParaRPr lang="zh-CN" altLang="en-US" sz="2000" b="1" dirty="0"/>
          </a:p>
        </p:txBody>
      </p:sp>
      <p:sp>
        <p:nvSpPr>
          <p:cNvPr id="22" name="单圆角矩形 21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25" name="图片 24" descr="解析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5786" y="3069000"/>
            <a:ext cx="324000" cy="324000"/>
          </a:xfrm>
          <a:prstGeom prst="rect">
            <a:avLst/>
          </a:prstGeom>
        </p:spPr>
      </p:pic>
      <p:pic>
        <p:nvPicPr>
          <p:cNvPr id="26" name="图片 25" descr="译文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5786" y="4254928"/>
            <a:ext cx="324000" cy="324000"/>
          </a:xfrm>
          <a:prstGeom prst="rect">
            <a:avLst/>
          </a:prstGeom>
        </p:spPr>
      </p:pic>
      <p:pic>
        <p:nvPicPr>
          <p:cNvPr id="28" name="图片 27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5786" y="972000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圈圈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52000" y="1394868"/>
            <a:ext cx="459698" cy="361192"/>
          </a:xfrm>
          <a:prstGeom prst="rect">
            <a:avLst/>
          </a:prstGeom>
        </p:spPr>
      </p:pic>
      <p:pic>
        <p:nvPicPr>
          <p:cNvPr id="13" name="图片 12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785786" y="928670"/>
            <a:ext cx="792961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0" indent="-360000" algn="just">
              <a:buFont typeface="+mj-lt"/>
              <a:buAutoNum type="arabicPeriod" startAt="4"/>
            </a:pPr>
            <a:r>
              <a:rPr lang="en-US" sz="2400" b="1" spc="-50" dirty="0" smtClean="0"/>
              <a:t>In his plays Shakespeare ______ his characters live through </a:t>
            </a:r>
            <a:r>
              <a:rPr lang="en-US" sz="2400" b="1" dirty="0" smtClean="0"/>
              <a:t>their language.                                                       (2008-63</a:t>
            </a:r>
            <a:r>
              <a:rPr lang="en-US" sz="2400" b="1" spc="-3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2400" b="1" spc="-30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A.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B.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C.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D.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48000" y="1643050"/>
            <a:ext cx="716740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would make    </a:t>
            </a:r>
          </a:p>
          <a:p>
            <a:r>
              <a:rPr lang="en-US" sz="2400" dirty="0" smtClean="0"/>
              <a:t>had made    </a:t>
            </a:r>
          </a:p>
          <a:p>
            <a:r>
              <a:rPr lang="en-US" sz="2400" dirty="0" smtClean="0"/>
              <a:t>made    </a:t>
            </a:r>
          </a:p>
          <a:p>
            <a:r>
              <a:rPr lang="en-US" sz="2400" dirty="0" smtClean="0"/>
              <a:t>makes</a:t>
            </a:r>
            <a:endParaRPr lang="zh-CN" altLang="en-US" sz="2400" dirty="0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85786" y="3357562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本题考查一般现在时表过去时间的用法。一般现在时可作为一种修辞手法，用于评价现在仍有影响力的历史人物或作家的思想和作品，因此</a:t>
            </a:r>
            <a:r>
              <a:rPr lang="en-US" sz="2000" dirty="0" smtClean="0"/>
              <a:t>D</a:t>
            </a:r>
            <a:r>
              <a:rPr lang="zh-CN" altLang="en-US" sz="2000" dirty="0" smtClean="0"/>
              <a:t>为正确答案，再如“</a:t>
            </a:r>
            <a:r>
              <a:rPr lang="en-US" sz="2000" dirty="0" smtClean="0"/>
              <a:t>In his 9th Symphony Beethoven shows his supreme mastery of symphonic form.</a:t>
            </a:r>
            <a:r>
              <a:rPr lang="zh-CN" altLang="en-US" sz="2000" dirty="0" smtClean="0"/>
              <a:t>”。</a:t>
            </a:r>
            <a:endParaRPr lang="zh-CN" altLang="en-US" sz="2000" dirty="0"/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85786" y="4929198"/>
            <a:ext cx="79296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b="1" dirty="0" smtClean="0"/>
              <a:t>在他的剧本中，莎士比亚通过人物各自的语言使其形象栩栩如生。</a:t>
            </a:r>
            <a:endParaRPr lang="zh-CN" altLang="en-US" sz="2000" b="1" dirty="0"/>
          </a:p>
        </p:txBody>
      </p:sp>
      <p:sp>
        <p:nvSpPr>
          <p:cNvPr id="22" name="单圆角矩形 21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25" name="图片 24" descr="解析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5786" y="3426190"/>
            <a:ext cx="324000" cy="324000"/>
          </a:xfrm>
          <a:prstGeom prst="rect">
            <a:avLst/>
          </a:prstGeom>
        </p:spPr>
      </p:pic>
      <p:pic>
        <p:nvPicPr>
          <p:cNvPr id="26" name="图片 25" descr="译文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5786" y="4969308"/>
            <a:ext cx="324000" cy="324000"/>
          </a:xfrm>
          <a:prstGeom prst="rect">
            <a:avLst/>
          </a:prstGeom>
        </p:spPr>
      </p:pic>
      <p:pic>
        <p:nvPicPr>
          <p:cNvPr id="28" name="图片 27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5786" y="972000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圈圈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52000" y="2824391"/>
            <a:ext cx="459698" cy="361192"/>
          </a:xfrm>
          <a:prstGeom prst="rect">
            <a:avLst/>
          </a:prstGeom>
        </p:spPr>
      </p:pic>
      <p:pic>
        <p:nvPicPr>
          <p:cNvPr id="13" name="图片 12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785786" y="928670"/>
            <a:ext cx="792961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0" indent="-360000" algn="just">
              <a:buFont typeface="+mj-lt"/>
              <a:buAutoNum type="arabicPeriod" startAt="5"/>
            </a:pPr>
            <a:r>
              <a:rPr lang="en-US" sz="2400" b="1" spc="-50" dirty="0" smtClean="0"/>
              <a:t>He would have finished his college education, but he ______ </a:t>
            </a:r>
            <a:r>
              <a:rPr lang="en-US" sz="2400" b="1" dirty="0" smtClean="0"/>
              <a:t>to quit and find a job to support his family.       (2007-60</a:t>
            </a:r>
            <a:r>
              <a:rPr lang="en-US" sz="2400" b="1" spc="-3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2400" b="1" spc="-30" dirty="0" smtClean="0">
              <a:solidFill>
                <a:schemeClr val="tx1">
                  <a:lumMod val="65000"/>
                  <a:lumOff val="35000"/>
                </a:schemeClr>
              </a:solidFill>
              <a:cs typeface="Times New Roman" pitchFamily="18" charset="0"/>
            </a:endParaRP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A.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B.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C.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D.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48000" y="1643050"/>
            <a:ext cx="716740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had had   </a:t>
            </a:r>
          </a:p>
          <a:p>
            <a:r>
              <a:rPr lang="en-US" sz="2400" dirty="0" smtClean="0"/>
              <a:t>has    </a:t>
            </a:r>
          </a:p>
          <a:p>
            <a:r>
              <a:rPr lang="en-US" sz="2400" dirty="0" smtClean="0"/>
              <a:t>had    </a:t>
            </a:r>
          </a:p>
          <a:p>
            <a:r>
              <a:rPr lang="en-US" sz="2400" dirty="0" smtClean="0"/>
              <a:t>would have</a:t>
            </a:r>
            <a:endParaRPr lang="zh-CN" altLang="en-US" sz="2400" dirty="0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85786" y="3357562"/>
            <a:ext cx="792961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该题考查虚拟语气及一般过去时。该句前一分句谓语动词“</a:t>
            </a:r>
            <a:r>
              <a:rPr lang="en-US" sz="2000" dirty="0" smtClean="0"/>
              <a:t>would have finished</a:t>
            </a:r>
            <a:r>
              <a:rPr lang="zh-CN" altLang="en-US" sz="2000" dirty="0" smtClean="0"/>
              <a:t>”使用了与过去事实相反的虚拟式，而后面</a:t>
            </a:r>
            <a:r>
              <a:rPr lang="en-US" sz="2000" dirty="0" smtClean="0"/>
              <a:t>but</a:t>
            </a:r>
            <a:r>
              <a:rPr lang="zh-CN" altLang="en-US" sz="2000" dirty="0" smtClean="0"/>
              <a:t>分句阐述过去发生的实际情况，应该用一般过去时，因此</a:t>
            </a:r>
            <a:r>
              <a:rPr lang="en-US" sz="2000" dirty="0" smtClean="0"/>
              <a:t>C</a:t>
            </a:r>
            <a:r>
              <a:rPr lang="zh-CN" altLang="en-US" sz="2000" dirty="0" smtClean="0"/>
              <a:t>为正确答案。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85786" y="4500570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b="1" dirty="0" smtClean="0"/>
              <a:t>他当时本会完成大学教育的，但他不得己放弃学业，找了个工作养家糊口。</a:t>
            </a:r>
            <a:endParaRPr lang="zh-CN" altLang="en-US" sz="2000" b="1" dirty="0"/>
          </a:p>
        </p:txBody>
      </p:sp>
      <p:sp>
        <p:nvSpPr>
          <p:cNvPr id="22" name="单圆角矩形 21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25" name="图片 24" descr="解析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5786" y="3426190"/>
            <a:ext cx="324000" cy="324000"/>
          </a:xfrm>
          <a:prstGeom prst="rect">
            <a:avLst/>
          </a:prstGeom>
        </p:spPr>
      </p:pic>
      <p:pic>
        <p:nvPicPr>
          <p:cNvPr id="26" name="图片 25" descr="译文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5786" y="4540680"/>
            <a:ext cx="324000" cy="324000"/>
          </a:xfrm>
          <a:prstGeom prst="rect">
            <a:avLst/>
          </a:prstGeom>
        </p:spPr>
      </p:pic>
      <p:pic>
        <p:nvPicPr>
          <p:cNvPr id="28" name="图片 27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5786" y="972000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圈圈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52000" y="2470903"/>
            <a:ext cx="459698" cy="361192"/>
          </a:xfrm>
          <a:prstGeom prst="rect">
            <a:avLst/>
          </a:prstGeom>
        </p:spPr>
      </p:pic>
      <p:pic>
        <p:nvPicPr>
          <p:cNvPr id="13" name="图片 12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785786" y="928670"/>
            <a:ext cx="792961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0" indent="-360000">
              <a:buFont typeface="+mj-lt"/>
              <a:buAutoNum type="arabicPeriod" startAt="6"/>
            </a:pPr>
            <a:r>
              <a:rPr lang="en-US" sz="2400" b="1" spc="-30" dirty="0" smtClean="0"/>
              <a:t>If only I ______ play the guitar as well as you!     (2006-52</a:t>
            </a:r>
            <a:r>
              <a:rPr lang="en-US" sz="2400" b="1" spc="-3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2400" b="1" spc="-30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A.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B.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C.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D.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48000" y="1285860"/>
            <a:ext cx="716740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would   </a:t>
            </a:r>
          </a:p>
          <a:p>
            <a:r>
              <a:rPr lang="en-US" sz="2400" dirty="0" smtClean="0"/>
              <a:t>could   </a:t>
            </a:r>
          </a:p>
          <a:p>
            <a:r>
              <a:rPr lang="en-US" sz="2400" dirty="0" smtClean="0"/>
              <a:t>should   </a:t>
            </a:r>
          </a:p>
          <a:p>
            <a:r>
              <a:rPr lang="en-US" sz="2400" dirty="0" smtClean="0"/>
              <a:t>might</a:t>
            </a:r>
            <a:endParaRPr lang="zh-CN" altLang="en-US" sz="2400" dirty="0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85786" y="3000372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该题考查表“能力”的情态助动词</a:t>
            </a:r>
            <a:r>
              <a:rPr lang="en-US" sz="2000" dirty="0" smtClean="0"/>
              <a:t>can</a:t>
            </a:r>
            <a:r>
              <a:rPr lang="zh-CN" altLang="en-US" sz="2000" dirty="0" smtClean="0"/>
              <a:t>在虚拟语气中的用法。</a:t>
            </a:r>
            <a:r>
              <a:rPr lang="en-US" sz="2000" dirty="0" smtClean="0"/>
              <a:t>If only…</a:t>
            </a:r>
            <a:r>
              <a:rPr lang="zh-CN" altLang="en-US" sz="2000" dirty="0" smtClean="0"/>
              <a:t>后的从句需用一般过去式表假设意义，根据句意可知，“弹吉他和你弹得一样好”应该用表能力的情态助动词</a:t>
            </a:r>
            <a:r>
              <a:rPr lang="en-US" sz="2000" dirty="0" smtClean="0"/>
              <a:t>can</a:t>
            </a:r>
            <a:r>
              <a:rPr lang="zh-CN" altLang="en-US" sz="2000" dirty="0" smtClean="0"/>
              <a:t>，其过去式为</a:t>
            </a:r>
            <a:r>
              <a:rPr lang="en-US" sz="2000" dirty="0" smtClean="0"/>
              <a:t>could</a:t>
            </a:r>
            <a:r>
              <a:rPr lang="zh-CN" altLang="en-US" sz="2000" dirty="0" smtClean="0"/>
              <a:t>，因此</a:t>
            </a:r>
            <a:r>
              <a:rPr lang="en-US" sz="2000" dirty="0" smtClean="0"/>
              <a:t>B</a:t>
            </a:r>
            <a:r>
              <a:rPr lang="zh-CN" altLang="en-US" sz="2000" dirty="0" smtClean="0"/>
              <a:t>为正确答案。</a:t>
            </a:r>
            <a:endParaRPr lang="zh-CN" altLang="en-US" sz="2000" dirty="0"/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85786" y="4500570"/>
            <a:ext cx="79296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b="1" dirty="0" smtClean="0"/>
              <a:t>要是我的吉他能弹得和你一样好就好了</a:t>
            </a:r>
            <a:r>
              <a:rPr lang="en-US" sz="2000" b="1" dirty="0" smtClean="0"/>
              <a:t>!</a:t>
            </a:r>
            <a:endParaRPr lang="zh-CN" altLang="en-US" sz="2000" b="1" dirty="0"/>
          </a:p>
        </p:txBody>
      </p:sp>
      <p:sp>
        <p:nvSpPr>
          <p:cNvPr id="22" name="单圆角矩形 21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25" name="图片 24" descr="解析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5786" y="3069000"/>
            <a:ext cx="324000" cy="324000"/>
          </a:xfrm>
          <a:prstGeom prst="rect">
            <a:avLst/>
          </a:prstGeom>
        </p:spPr>
      </p:pic>
      <p:pic>
        <p:nvPicPr>
          <p:cNvPr id="26" name="图片 25" descr="译文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5786" y="4540680"/>
            <a:ext cx="324000" cy="324000"/>
          </a:xfrm>
          <a:prstGeom prst="rect">
            <a:avLst/>
          </a:prstGeom>
        </p:spPr>
      </p:pic>
      <p:pic>
        <p:nvPicPr>
          <p:cNvPr id="28" name="图片 27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5786" y="972000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圈圈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52000" y="1756523"/>
            <a:ext cx="459698" cy="361192"/>
          </a:xfrm>
          <a:prstGeom prst="rect">
            <a:avLst/>
          </a:prstGeom>
        </p:spPr>
      </p:pic>
      <p:pic>
        <p:nvPicPr>
          <p:cNvPr id="13" name="图片 12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785786" y="928670"/>
            <a:ext cx="792961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0" indent="-360000" algn="just">
              <a:buFont typeface="+mj-lt"/>
              <a:buAutoNum type="arabicPeriod" startAt="7"/>
            </a:pPr>
            <a:r>
              <a:rPr lang="en-US" sz="2400" b="1" spc="50" dirty="0" smtClean="0"/>
              <a:t>It’s high time we </a:t>
            </a:r>
            <a:r>
              <a:rPr lang="en-US" sz="2400" b="1" spc="-50" dirty="0" smtClean="0"/>
              <a:t>______</a:t>
            </a:r>
            <a:r>
              <a:rPr lang="en-US" sz="2400" b="1" spc="50" dirty="0" smtClean="0"/>
              <a:t> cutting down the rainforests.  </a:t>
            </a:r>
          </a:p>
          <a:p>
            <a:pPr marL="360000" indent="-360000" algn="just"/>
            <a:r>
              <a:rPr lang="en-US" sz="2400" b="1" spc="50" dirty="0" smtClean="0"/>
              <a:t>                                                                               </a:t>
            </a:r>
            <a:r>
              <a:rPr lang="en-US" sz="2400" b="1" dirty="0" smtClean="0"/>
              <a:t>(2006-54</a:t>
            </a:r>
            <a:r>
              <a:rPr lang="en-US" sz="2400" b="1" spc="-3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2400" b="1" spc="-30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A.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B.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C.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D.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48000" y="1643050"/>
            <a:ext cx="716740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stopped   </a:t>
            </a:r>
          </a:p>
          <a:p>
            <a:r>
              <a:rPr lang="en-US" sz="2400" dirty="0" smtClean="0"/>
              <a:t>had to stop   </a:t>
            </a:r>
          </a:p>
          <a:p>
            <a:r>
              <a:rPr lang="en-US" sz="2400" dirty="0" smtClean="0"/>
              <a:t>shall stop   </a:t>
            </a:r>
          </a:p>
          <a:p>
            <a:r>
              <a:rPr lang="en-US" sz="2400" dirty="0" smtClean="0"/>
              <a:t>stop</a:t>
            </a:r>
            <a:endParaRPr lang="zh-CN" altLang="en-US" sz="2400" dirty="0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85786" y="3357562"/>
            <a:ext cx="792961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本题考查一般过去时的想象性用法。一般过去时可用在“</a:t>
            </a:r>
            <a:r>
              <a:rPr lang="en-US" sz="2000" dirty="0" smtClean="0"/>
              <a:t>It’s (high) time (that)…</a:t>
            </a:r>
            <a:r>
              <a:rPr lang="zh-CN" altLang="en-US" sz="2000" dirty="0" smtClean="0"/>
              <a:t>”等结构后的</a:t>
            </a:r>
            <a:r>
              <a:rPr lang="en-US" sz="2000" dirty="0" smtClean="0"/>
              <a:t>that-</a:t>
            </a:r>
            <a:r>
              <a:rPr lang="zh-CN" altLang="en-US" sz="2000" dirty="0" smtClean="0"/>
              <a:t>分句中，表示与现在事实相反的主观设想，因此</a:t>
            </a:r>
            <a:r>
              <a:rPr lang="en-US" sz="2000" dirty="0" smtClean="0"/>
              <a:t>A</a:t>
            </a:r>
            <a:r>
              <a:rPr lang="zh-CN" altLang="en-US" sz="2000" dirty="0" smtClean="0"/>
              <a:t>为正确答案。该题与</a:t>
            </a:r>
            <a:r>
              <a:rPr lang="en-US" altLang="zh-CN" sz="2000" dirty="0" smtClean="0"/>
              <a:t>《</a:t>
            </a:r>
            <a:r>
              <a:rPr lang="zh-CN" altLang="en-US" sz="2000" dirty="0" smtClean="0"/>
              <a:t>教程</a:t>
            </a:r>
            <a:r>
              <a:rPr lang="en-US" altLang="zh-CN" sz="2000" dirty="0" smtClean="0"/>
              <a:t>》</a:t>
            </a:r>
            <a:r>
              <a:rPr lang="en-US" sz="2000" dirty="0" smtClean="0"/>
              <a:t>P137 Ex.13B</a:t>
            </a:r>
            <a:r>
              <a:rPr lang="zh-CN" altLang="en-US" sz="2000" dirty="0" smtClean="0"/>
              <a:t>第</a:t>
            </a:r>
            <a:r>
              <a:rPr lang="en-US" sz="2000" dirty="0" smtClean="0"/>
              <a:t>4</a:t>
            </a:r>
            <a:r>
              <a:rPr lang="zh-CN" altLang="en-US" sz="2000" dirty="0" smtClean="0"/>
              <a:t>题、第</a:t>
            </a:r>
            <a:r>
              <a:rPr lang="en-US" sz="2000" dirty="0" smtClean="0"/>
              <a:t>7</a:t>
            </a:r>
            <a:r>
              <a:rPr lang="zh-CN" altLang="en-US" sz="2000" dirty="0" smtClean="0"/>
              <a:t>题、第</a:t>
            </a:r>
            <a:r>
              <a:rPr lang="en-US" sz="2000" dirty="0" smtClean="0"/>
              <a:t>8</a:t>
            </a:r>
            <a:r>
              <a:rPr lang="zh-CN" altLang="en-US" sz="2000" dirty="0" smtClean="0"/>
              <a:t>题类似。此句型为历年专四常考句型。</a:t>
            </a: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85786" y="4857760"/>
            <a:ext cx="79296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b="1" dirty="0" smtClean="0"/>
              <a:t>真该到了我们停止砍伐雨林的时候了。</a:t>
            </a:r>
            <a:endParaRPr lang="zh-CN" altLang="en-US" sz="2000" b="1" dirty="0"/>
          </a:p>
        </p:txBody>
      </p:sp>
      <p:sp>
        <p:nvSpPr>
          <p:cNvPr id="22" name="单圆角矩形 21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25" name="图片 24" descr="解析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5786" y="3426190"/>
            <a:ext cx="324000" cy="324000"/>
          </a:xfrm>
          <a:prstGeom prst="rect">
            <a:avLst/>
          </a:prstGeom>
        </p:spPr>
      </p:pic>
      <p:pic>
        <p:nvPicPr>
          <p:cNvPr id="26" name="图片 25" descr="译文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5786" y="4897870"/>
            <a:ext cx="324000" cy="324000"/>
          </a:xfrm>
          <a:prstGeom prst="rect">
            <a:avLst/>
          </a:prstGeom>
        </p:spPr>
      </p:pic>
      <p:pic>
        <p:nvPicPr>
          <p:cNvPr id="28" name="图片 27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5786" y="972000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圈圈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52000" y="1760525"/>
            <a:ext cx="459698" cy="361192"/>
          </a:xfrm>
          <a:prstGeom prst="rect">
            <a:avLst/>
          </a:prstGeom>
        </p:spPr>
      </p:pic>
      <p:pic>
        <p:nvPicPr>
          <p:cNvPr id="13" name="图片 12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785786" y="928670"/>
            <a:ext cx="7929618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0" indent="-360000" algn="just">
              <a:buFont typeface="+mj-lt"/>
              <a:buAutoNum type="arabicPeriod" startAt="8"/>
            </a:pPr>
            <a:r>
              <a:rPr lang="en-US" sz="2400" b="1" spc="-30" dirty="0" smtClean="0"/>
              <a:t>How can I ever concentrate if you _____ continually_____ </a:t>
            </a:r>
            <a:r>
              <a:rPr lang="en-US" sz="2400" b="1" dirty="0" smtClean="0"/>
              <a:t>me with silly questions?                                        (1997-41</a:t>
            </a:r>
            <a:r>
              <a:rPr lang="en-US" sz="2400" b="1" spc="-3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2400" b="1" spc="-30" dirty="0" smtClean="0">
              <a:solidFill>
                <a:schemeClr val="tx1">
                  <a:lumMod val="65000"/>
                  <a:lumOff val="35000"/>
                </a:schemeClr>
              </a:solidFill>
              <a:cs typeface="Times New Roman" pitchFamily="18" charset="0"/>
            </a:endParaRP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A.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B.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C.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D.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48000" y="1643050"/>
            <a:ext cx="716740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have ... interrupted           </a:t>
            </a:r>
          </a:p>
          <a:p>
            <a:r>
              <a:rPr lang="en-US" sz="2400" dirty="0" smtClean="0"/>
              <a:t>had ... interrupted</a:t>
            </a:r>
            <a:endParaRPr lang="zh-CN" altLang="en-US" sz="2400" dirty="0" smtClean="0"/>
          </a:p>
          <a:p>
            <a:r>
              <a:rPr lang="en-US" sz="2400" dirty="0" smtClean="0"/>
              <a:t>are ... interrupting            </a:t>
            </a:r>
          </a:p>
          <a:p>
            <a:r>
              <a:rPr lang="en-US" sz="2400" dirty="0" smtClean="0"/>
              <a:t>were ... interrupting</a:t>
            </a:r>
            <a:endParaRPr lang="zh-CN" altLang="en-US" sz="2400" dirty="0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85786" y="3357562"/>
            <a:ext cx="792961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本题考查现在进行体表感情色彩的特殊用法。现在进行体常与</a:t>
            </a:r>
            <a:r>
              <a:rPr lang="en-US" sz="2000" dirty="0" smtClean="0"/>
              <a:t>always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continually</a:t>
            </a:r>
            <a:r>
              <a:rPr lang="zh-CN" altLang="en-US" sz="2000" dirty="0" smtClean="0"/>
              <a:t>，</a:t>
            </a:r>
            <a:r>
              <a:rPr lang="en-US" sz="2000" dirty="0" smtClean="0"/>
              <a:t>constantly</a:t>
            </a:r>
            <a:r>
              <a:rPr lang="zh-CN" altLang="en-US" sz="2000" dirty="0" smtClean="0"/>
              <a:t>等频度状语连用，对现阶段经常发生的动作表示某种感情色彩，该句表达一种不耐烦的情绪。因此选</a:t>
            </a:r>
            <a:r>
              <a:rPr lang="en-US" sz="2000" dirty="0" smtClean="0"/>
              <a:t>C</a:t>
            </a:r>
            <a:r>
              <a:rPr lang="zh-CN" altLang="en-US" sz="2000" dirty="0" smtClean="0"/>
              <a:t>项。</a:t>
            </a:r>
            <a:endParaRPr lang="zh-CN" altLang="en-US" sz="2000" dirty="0"/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85786" y="4572008"/>
            <a:ext cx="79296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b="1" dirty="0" smtClean="0"/>
              <a:t>你总是不停地问我一些愚蠢的问题，我怎么能集中注意力呢？</a:t>
            </a:r>
            <a:endParaRPr lang="zh-CN" altLang="en-US" sz="2000" b="1" dirty="0"/>
          </a:p>
        </p:txBody>
      </p:sp>
      <p:sp>
        <p:nvSpPr>
          <p:cNvPr id="22" name="单圆角矩形 21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25" name="图片 24" descr="解析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5786" y="3426190"/>
            <a:ext cx="324000" cy="324000"/>
          </a:xfrm>
          <a:prstGeom prst="rect">
            <a:avLst/>
          </a:prstGeom>
        </p:spPr>
      </p:pic>
      <p:pic>
        <p:nvPicPr>
          <p:cNvPr id="26" name="图片 25" descr="译文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5786" y="4612118"/>
            <a:ext cx="324000" cy="324000"/>
          </a:xfrm>
          <a:prstGeom prst="rect">
            <a:avLst/>
          </a:prstGeom>
        </p:spPr>
      </p:pic>
      <p:pic>
        <p:nvPicPr>
          <p:cNvPr id="28" name="图片 27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5786" y="972000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圈圈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52000" y="2448000"/>
            <a:ext cx="459698" cy="361192"/>
          </a:xfrm>
          <a:prstGeom prst="rect">
            <a:avLst/>
          </a:prstGeom>
        </p:spPr>
      </p:pic>
      <p:pic>
        <p:nvPicPr>
          <p:cNvPr id="13" name="图片 12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785786" y="928670"/>
            <a:ext cx="7929618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0000" indent="-360000" algn="just">
              <a:buFont typeface="+mj-lt"/>
              <a:buAutoNum type="arabicPeriod" startAt="9"/>
            </a:pPr>
            <a:r>
              <a:rPr lang="en-US" sz="2400" b="1" spc="-90" dirty="0" smtClean="0"/>
              <a:t>Mr. White works with a chemicals import &amp; export company, </a:t>
            </a:r>
            <a:r>
              <a:rPr lang="en-US" sz="2400" b="1" spc="110" dirty="0" smtClean="0"/>
              <a:t>but he </a:t>
            </a:r>
            <a:r>
              <a:rPr lang="en-US" sz="2400" b="1" spc="-50" dirty="0" smtClean="0"/>
              <a:t>______</a:t>
            </a:r>
            <a:r>
              <a:rPr lang="en-US" sz="2400" b="1" spc="110" dirty="0" smtClean="0"/>
              <a:t> for this industrial fair, since he is on </a:t>
            </a:r>
            <a:r>
              <a:rPr lang="en-US" sz="2400" b="1" dirty="0" smtClean="0"/>
              <a:t>leave.                                                                       (1997-44</a:t>
            </a:r>
            <a:r>
              <a:rPr lang="en-US" sz="2400" b="1" spc="-1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2400" b="1" spc="-100" dirty="0" smtClean="0">
              <a:solidFill>
                <a:schemeClr val="tx1">
                  <a:lumMod val="65000"/>
                  <a:lumOff val="35000"/>
                </a:schemeClr>
              </a:solidFill>
              <a:cs typeface="Times New Roman" pitchFamily="18" charset="0"/>
            </a:endParaRP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A.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B.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C. </a:t>
            </a:r>
          </a:p>
          <a:p>
            <a:pPr marL="360000"/>
            <a:r>
              <a:rPr lang="en-US" altLang="zh-CN" sz="2400" dirty="0" smtClean="0">
                <a:latin typeface="Times New Roman" pitchFamily="18" charset="0"/>
                <a:cs typeface="Times New Roman" pitchFamily="18" charset="0"/>
              </a:rPr>
              <a:t>D.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548000" y="1285860"/>
            <a:ext cx="7167404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has worked  </a:t>
            </a:r>
          </a:p>
          <a:p>
            <a:r>
              <a:rPr lang="en-US" sz="2400" dirty="0" smtClean="0"/>
              <a:t>works </a:t>
            </a:r>
          </a:p>
          <a:p>
            <a:r>
              <a:rPr lang="en-US" sz="2400" dirty="0" smtClean="0"/>
              <a:t>has been working </a:t>
            </a:r>
          </a:p>
          <a:p>
            <a:r>
              <a:rPr lang="en-US" sz="2400" dirty="0" smtClean="0"/>
              <a:t>is working</a:t>
            </a:r>
            <a:endParaRPr lang="zh-CN" altLang="en-US" sz="2400" dirty="0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785786" y="3743270"/>
            <a:ext cx="792961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dirty="0" smtClean="0"/>
              <a:t>本题考查现在进行体的用法。该句为并列复杂句，并列句的前一分句用一般现在时表示</a:t>
            </a:r>
            <a:r>
              <a:rPr lang="en-US" sz="2000" dirty="0" smtClean="0"/>
              <a:t>Mr. White</a:t>
            </a:r>
            <a:r>
              <a:rPr lang="zh-CN" altLang="en-US" sz="2000" dirty="0" smtClean="0"/>
              <a:t>长期的工作岗位，结合</a:t>
            </a:r>
            <a:r>
              <a:rPr lang="en-US" sz="2000" dirty="0" smtClean="0"/>
              <a:t>but</a:t>
            </a:r>
            <a:r>
              <a:rPr lang="zh-CN" altLang="en-US" sz="2000" dirty="0" smtClean="0"/>
              <a:t>分句后的原因状语分句“现在他正在休假”可知，</a:t>
            </a:r>
            <a:r>
              <a:rPr lang="en-US" sz="2000" dirty="0" smtClean="0"/>
              <a:t>but</a:t>
            </a:r>
            <a:r>
              <a:rPr lang="zh-CN" altLang="en-US" sz="2000" dirty="0" smtClean="0"/>
              <a:t>分句应该用现在进行体表示现阶段正在做的事，具有暂时性的特点，与上文有对比含义。因此</a:t>
            </a:r>
            <a:r>
              <a:rPr lang="en-US" sz="2000" dirty="0" smtClean="0"/>
              <a:t>D</a:t>
            </a:r>
            <a:r>
              <a:rPr lang="zh-CN" altLang="en-US" sz="2000" dirty="0" smtClean="0"/>
              <a:t>为正确答案。</a:t>
            </a:r>
            <a:endParaRPr lang="zh-CN" altLang="en-US" sz="2000" dirty="0"/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85786" y="5429264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000" b="1" dirty="0" smtClean="0"/>
              <a:t>怀特先生在一家化学制品进出口公司工作，但他目前正在休假，暂时为此次工业展览会工作。</a:t>
            </a:r>
            <a:endParaRPr lang="zh-CN" altLang="en-US" sz="2000" b="1" dirty="0"/>
          </a:p>
        </p:txBody>
      </p:sp>
      <p:pic>
        <p:nvPicPr>
          <p:cNvPr id="25" name="图片 24" descr="解析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5786" y="3811898"/>
            <a:ext cx="324000" cy="324000"/>
          </a:xfrm>
          <a:prstGeom prst="rect">
            <a:avLst/>
          </a:prstGeom>
        </p:spPr>
      </p:pic>
      <p:pic>
        <p:nvPicPr>
          <p:cNvPr id="26" name="图片 25" descr="译文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5786" y="5469374"/>
            <a:ext cx="324000" cy="324000"/>
          </a:xfrm>
          <a:prstGeom prst="rect">
            <a:avLst/>
          </a:prstGeom>
        </p:spPr>
      </p:pic>
      <p:pic>
        <p:nvPicPr>
          <p:cNvPr id="28" name="图片 27" descr="答案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5786" y="972000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圈圈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52000" y="3214686"/>
            <a:ext cx="459698" cy="361192"/>
          </a:xfrm>
          <a:prstGeom prst="rect">
            <a:avLst/>
          </a:prstGeom>
        </p:spPr>
      </p:pic>
      <p:sp>
        <p:nvSpPr>
          <p:cNvPr id="15" name="单圆角矩形 14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下一页.png"/>
          <p:cNvPicPr>
            <a:picLocks noChangeAspect="1"/>
          </p:cNvPicPr>
          <p:nvPr/>
        </p:nvPicPr>
        <p:blipFill>
          <a:blip r:embed="rId6" cstate="print">
            <a:grayscl/>
          </a:blip>
          <a:stretch>
            <a:fillRect/>
          </a:stretch>
        </p:blipFill>
        <p:spPr>
          <a:xfrm>
            <a:off x="8748000" y="6534000"/>
            <a:ext cx="323293" cy="288000"/>
          </a:xfrm>
          <a:prstGeom prst="rect">
            <a:avLst/>
          </a:prstGeom>
        </p:spPr>
      </p:pic>
      <p:pic>
        <p:nvPicPr>
          <p:cNvPr id="17" name="图片 16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68000" y="1162973"/>
            <a:ext cx="8215369" cy="5340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76000" algn="just">
              <a:lnSpc>
                <a:spcPct val="110000"/>
              </a:lnSpc>
            </a:pPr>
            <a:r>
              <a:rPr lang="zh-CN" altLang="en-US" sz="2400" dirty="0" smtClean="0"/>
              <a:t>本讲首先对英语中的“时”和“体”进行了概念界定，之后主要介绍了一般现在时、一般过去时、现在进行体、过去进行体的用法。与汉语不同，英语有着丰富复杂的时体系统，是英语学习的一大难点。学习中建议区分基本用法和特殊用法，由于这些时体形式的基本用法在中学大都已经学过，这里可重点关注特殊用法。可以利用数轴图的方式帮助理解这些时体形式的意义和用法，利用对比的方法帮助理解时体形式之间的区别。比如一般现在时和现在进行体都属现在时，但前者往往与永久性有关，后者关乎暂时性，理解了这一点，相应的用法就较容易理解。特殊用法尽可能通过认知理据帮助理解，如态度过去时和假设过去时都与“距离象似性”有关。时态的学习最好在语篇的大环境中去体会，时态的练习宜采用多种时态组合的方式。</a:t>
            </a:r>
            <a:endParaRPr lang="zh-CN" altLang="en-US" sz="24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解析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1105156"/>
            <a:ext cx="324000" cy="324000"/>
          </a:xfrm>
          <a:prstGeom prst="rect">
            <a:avLst/>
          </a:prstGeom>
        </p:spPr>
      </p:pic>
      <p:sp>
        <p:nvSpPr>
          <p:cNvPr id="15" name="单圆角矩形 14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17" name="图片 16" descr="下一页.png"/>
          <p:cNvPicPr>
            <a:picLocks noChangeAspect="1"/>
          </p:cNvPicPr>
          <p:nvPr/>
        </p:nvPicPr>
        <p:blipFill>
          <a:blip r:embed="rId5" cstate="print">
            <a:grayscl/>
          </a:blip>
          <a:stretch>
            <a:fillRect/>
          </a:stretch>
        </p:blipFill>
        <p:spPr>
          <a:xfrm>
            <a:off x="8352000" y="6534000"/>
            <a:ext cx="323292" cy="287998"/>
          </a:xfrm>
          <a:prstGeom prst="rect">
            <a:avLst/>
          </a:prstGeom>
        </p:spPr>
      </p:pic>
      <p:pic>
        <p:nvPicPr>
          <p:cNvPr id="24" name="图片 23" descr="解析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2214554"/>
            <a:ext cx="324000" cy="324000"/>
          </a:xfrm>
          <a:prstGeom prst="rect">
            <a:avLst/>
          </a:prstGeom>
        </p:spPr>
      </p:pic>
      <p:pic>
        <p:nvPicPr>
          <p:cNvPr id="27" name="图片 26" descr="解析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3276000"/>
            <a:ext cx="324000" cy="324000"/>
          </a:xfrm>
          <a:prstGeom prst="rect">
            <a:avLst/>
          </a:prstGeom>
        </p:spPr>
      </p:pic>
      <p:pic>
        <p:nvPicPr>
          <p:cNvPr id="30" name="图片 29" descr="解析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4464000"/>
            <a:ext cx="324000" cy="324000"/>
          </a:xfrm>
          <a:prstGeom prst="rect">
            <a:avLst/>
          </a:prstGeom>
        </p:spPr>
      </p:pic>
      <p:pic>
        <p:nvPicPr>
          <p:cNvPr id="33" name="图片 32" descr="解析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5544000"/>
            <a:ext cx="324000" cy="324000"/>
          </a:xfrm>
          <a:prstGeom prst="rect">
            <a:avLst/>
          </a:prstGeom>
        </p:spPr>
      </p:pic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1178382" y="1000528"/>
            <a:ext cx="522926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1.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2.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3.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4.</a:t>
            </a:r>
          </a:p>
          <a:p>
            <a:pPr algn="r"/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5.</a:t>
            </a: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1678448" y="1000528"/>
            <a:ext cx="6965518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400" dirty="0" smtClean="0"/>
              <a:t>滴水穿石。</a:t>
            </a:r>
            <a:endParaRPr lang="en-US" altLang="zh-CN" sz="2400" dirty="0" smtClean="0"/>
          </a:p>
          <a:p>
            <a:pPr algn="just"/>
            <a:endParaRPr lang="en-US" altLang="zh-CN" sz="2400" dirty="0" smtClean="0"/>
          </a:p>
          <a:p>
            <a:pPr algn="just"/>
            <a:endParaRPr lang="en-US" altLang="zh-CN" sz="2400" dirty="0" smtClean="0"/>
          </a:p>
          <a:p>
            <a:pPr algn="just"/>
            <a:r>
              <a:rPr lang="zh-CN" altLang="en-US" sz="2400" dirty="0" smtClean="0"/>
              <a:t>事实胜于雄辩。</a:t>
            </a:r>
            <a:endParaRPr lang="en-US" altLang="zh-CN" sz="2400" dirty="0" smtClean="0"/>
          </a:p>
          <a:p>
            <a:pPr algn="just"/>
            <a:endParaRPr lang="en-US" altLang="zh-CN" sz="2400" dirty="0" smtClean="0"/>
          </a:p>
          <a:p>
            <a:pPr algn="just"/>
            <a:endParaRPr lang="en-US" altLang="zh-CN" sz="2400" dirty="0" smtClean="0"/>
          </a:p>
          <a:p>
            <a:pPr algn="just"/>
            <a:r>
              <a:rPr lang="zh-CN" altLang="en-US" sz="2400" dirty="0" smtClean="0"/>
              <a:t>长江流入东海。</a:t>
            </a:r>
            <a:endParaRPr lang="en-US" altLang="zh-CN" sz="2400" dirty="0" smtClean="0"/>
          </a:p>
          <a:p>
            <a:pPr algn="just"/>
            <a:endParaRPr lang="en-US" altLang="zh-CN" sz="2400" dirty="0" smtClean="0"/>
          </a:p>
          <a:p>
            <a:pPr algn="just"/>
            <a:endParaRPr lang="en-US" altLang="zh-CN" sz="2400" dirty="0" smtClean="0"/>
          </a:p>
          <a:p>
            <a:pPr algn="just"/>
            <a:r>
              <a:rPr lang="zh-CN" altLang="en-US" sz="2400" dirty="0" smtClean="0"/>
              <a:t>月球上没有水。</a:t>
            </a:r>
            <a:endParaRPr lang="en-US" altLang="zh-CN" sz="2400" dirty="0" smtClean="0"/>
          </a:p>
          <a:p>
            <a:pPr algn="just"/>
            <a:endParaRPr lang="en-US" altLang="zh-CN" sz="2400" dirty="0" smtClean="0"/>
          </a:p>
          <a:p>
            <a:pPr algn="just"/>
            <a:endParaRPr lang="en-US" altLang="zh-CN" sz="2400" dirty="0" smtClean="0"/>
          </a:p>
          <a:p>
            <a:pPr algn="just"/>
            <a:r>
              <a:rPr lang="zh-CN" altLang="en-US" sz="2400" dirty="0" smtClean="0"/>
              <a:t>母亲通常不在早晨喝咖啡。</a:t>
            </a:r>
            <a:endParaRPr lang="zh-CN" altLang="en-US" sz="2400" dirty="0"/>
          </a:p>
        </p:txBody>
      </p:sp>
      <p:pic>
        <p:nvPicPr>
          <p:cNvPr id="26" name="图片 25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1055309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8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2169386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图片 31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3233616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图片 34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4412475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1679238" y="1428736"/>
            <a:ext cx="3413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Patience wears out stones.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79238" y="2563823"/>
            <a:ext cx="398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Facts speak louder than words.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79238" y="3676351"/>
            <a:ext cx="5939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The </a:t>
            </a:r>
            <a:r>
              <a:rPr lang="en-US" sz="2400" dirty="0" err="1" smtClean="0">
                <a:solidFill>
                  <a:srgbClr val="FF0000"/>
                </a:solidFill>
              </a:rPr>
              <a:t>Changjiang</a:t>
            </a:r>
            <a:r>
              <a:rPr lang="en-US" sz="2400" dirty="0" smtClean="0">
                <a:solidFill>
                  <a:srgbClr val="FF0000"/>
                </a:solidFill>
              </a:rPr>
              <a:t> flows into the East China Sea.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79238" y="4786322"/>
            <a:ext cx="4235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Water doesn’t exist on the moon.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40" name="图片 39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5500702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1679238" y="5857892"/>
            <a:ext cx="6962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My mother doesn’t usually have coffee in the morning.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单圆角矩形 22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下一页.png"/>
          <p:cNvPicPr>
            <a:picLocks noChangeAspect="1"/>
          </p:cNvPicPr>
          <p:nvPr/>
        </p:nvPicPr>
        <p:blipFill>
          <a:blip r:embed="rId2" cstate="print">
            <a:grayscl/>
          </a:blip>
          <a:stretch>
            <a:fillRect/>
          </a:stretch>
        </p:blipFill>
        <p:spPr>
          <a:xfrm>
            <a:off x="8748000" y="6534000"/>
            <a:ext cx="323293" cy="288000"/>
          </a:xfrm>
          <a:prstGeom prst="rect">
            <a:avLst/>
          </a:prstGeom>
        </p:spPr>
      </p:pic>
      <p:pic>
        <p:nvPicPr>
          <p:cNvPr id="25" name="图片 24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26" name="图片 25" descr="解析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1105156"/>
            <a:ext cx="324000" cy="324000"/>
          </a:xfrm>
          <a:prstGeom prst="rect">
            <a:avLst/>
          </a:prstGeom>
        </p:spPr>
      </p:pic>
      <p:pic>
        <p:nvPicPr>
          <p:cNvPr id="30" name="图片 29" descr="解析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2604934"/>
            <a:ext cx="324000" cy="324000"/>
          </a:xfrm>
          <a:prstGeom prst="rect">
            <a:avLst/>
          </a:prstGeom>
        </p:spPr>
      </p:pic>
      <p:pic>
        <p:nvPicPr>
          <p:cNvPr id="33" name="图片 32" descr="解析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3676504"/>
            <a:ext cx="324000" cy="324000"/>
          </a:xfrm>
          <a:prstGeom prst="rect">
            <a:avLst/>
          </a:prstGeom>
        </p:spPr>
      </p:pic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1178382" y="1000528"/>
            <a:ext cx="522926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6.</a:t>
            </a: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7.</a:t>
            </a: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8.</a:t>
            </a: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1678448" y="1000528"/>
            <a:ext cx="696551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zh-CN" altLang="en-US" sz="2400" dirty="0" smtClean="0"/>
              <a:t>亚利桑那州（</a:t>
            </a:r>
            <a:r>
              <a:rPr lang="en-US" sz="2400" dirty="0" smtClean="0"/>
              <a:t>Arizona</a:t>
            </a:r>
            <a:r>
              <a:rPr lang="zh-CN" altLang="en-US" sz="2400" dirty="0" smtClean="0"/>
              <a:t>）首府凤凰城（</a:t>
            </a:r>
            <a:r>
              <a:rPr lang="en-US" sz="2400" dirty="0" smtClean="0"/>
              <a:t>Phoenix</a:t>
            </a:r>
            <a:r>
              <a:rPr lang="zh-CN" altLang="en-US" sz="2400" dirty="0" smtClean="0"/>
              <a:t>）天气很干燥；几乎不下雨。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印度位于中国以南。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使人人遭殃的风才是恶风。</a:t>
            </a:r>
          </a:p>
        </p:txBody>
      </p:sp>
      <p:pic>
        <p:nvPicPr>
          <p:cNvPr id="32" name="图片 31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1055309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图片 34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2562427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图片 37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3626657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/>
          <p:cNvSpPr txBox="1"/>
          <p:nvPr/>
        </p:nvSpPr>
        <p:spPr>
          <a:xfrm>
            <a:off x="1679238" y="1752889"/>
            <a:ext cx="7163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pc="-100" dirty="0" smtClean="0">
                <a:solidFill>
                  <a:srgbClr val="FF0000"/>
                </a:solidFill>
              </a:rPr>
              <a:t>Phoenix, the capital of Arizona, is very dry; it hardly ever rains.</a:t>
            </a:r>
            <a:endParaRPr lang="zh-CN" altLang="en-US" sz="2400" spc="-1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679238" y="2824459"/>
            <a:ext cx="4052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India lies to the south of China.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79238" y="3896029"/>
            <a:ext cx="5165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It is an ill wind that blows nobody good.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单圆角矩形 37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40" name="图片 39" descr="下一页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352000" y="6534000"/>
            <a:ext cx="323292" cy="287998"/>
          </a:xfrm>
          <a:prstGeom prst="rect">
            <a:avLst/>
          </a:prstGeom>
        </p:spPr>
      </p:pic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178382" y="1000528"/>
            <a:ext cx="522926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1.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2.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3.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4.</a:t>
            </a: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5.</a:t>
            </a: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6.</a:t>
            </a: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7.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1678448" y="1000528"/>
            <a:ext cx="6965518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 smtClean="0"/>
              <a:t>I’ll make sure that everything ________ (be) in order.</a:t>
            </a:r>
          </a:p>
          <a:p>
            <a:pPr algn="just"/>
            <a:endParaRPr lang="en-US" altLang="zh-CN" sz="2400" spc="-30" dirty="0" smtClean="0"/>
          </a:p>
          <a:p>
            <a:pPr algn="just"/>
            <a:r>
              <a:rPr lang="en-US" sz="2400" dirty="0" smtClean="0"/>
              <a:t>See that you ________ (be) ready at 8 o’clock.</a:t>
            </a:r>
          </a:p>
          <a:p>
            <a:pPr algn="just"/>
            <a:endParaRPr lang="en-US" altLang="zh-CN" sz="2400" spc="-30" dirty="0" smtClean="0"/>
          </a:p>
          <a:p>
            <a:pPr algn="just"/>
            <a:r>
              <a:rPr lang="en-US" sz="2400" dirty="0" smtClean="0"/>
              <a:t>I’m getting tired — it’s time we ________ (go) home.</a:t>
            </a:r>
          </a:p>
          <a:p>
            <a:pPr algn="just"/>
            <a:endParaRPr lang="en-US" altLang="zh-CN" sz="2400" spc="-30" dirty="0" smtClean="0"/>
          </a:p>
          <a:p>
            <a:pPr algn="just"/>
            <a:r>
              <a:rPr lang="en-US" sz="2400" dirty="0" smtClean="0"/>
              <a:t>He acts as if he ________ (know) English perfectly.</a:t>
            </a:r>
          </a:p>
          <a:p>
            <a:pPr algn="just"/>
            <a:endParaRPr lang="en-US" altLang="zh-CN" sz="2400" spc="-30" dirty="0" smtClean="0"/>
          </a:p>
          <a:p>
            <a:pPr algn="just"/>
            <a:r>
              <a:rPr lang="en-US" sz="2400" dirty="0" smtClean="0"/>
              <a:t>I wish I ________________ (know) his name.</a:t>
            </a:r>
          </a:p>
          <a:p>
            <a:pPr algn="just"/>
            <a:endParaRPr lang="en-US" altLang="zh-CN" sz="2400" spc="-30" dirty="0" smtClean="0"/>
          </a:p>
          <a:p>
            <a:pPr algn="just"/>
            <a:r>
              <a:rPr lang="en-US" sz="2400" dirty="0" smtClean="0"/>
              <a:t>I hope you _______________ (sleep) well.</a:t>
            </a:r>
          </a:p>
          <a:p>
            <a:pPr algn="just"/>
            <a:endParaRPr lang="en-US" altLang="zh-CN" sz="2400" spc="-30" dirty="0" smtClean="0"/>
          </a:p>
          <a:p>
            <a:r>
              <a:rPr lang="en-US" sz="2400" spc="-30" dirty="0" smtClean="0"/>
              <a:t>John ________ (tell) me that there was a car accident last </a:t>
            </a:r>
            <a:r>
              <a:rPr lang="en-US" sz="2400" dirty="0" smtClean="0"/>
              <a:t>night.</a:t>
            </a:r>
            <a:endParaRPr lang="zh-CN" altLang="en-US" sz="2400" spc="-30" dirty="0"/>
          </a:p>
        </p:txBody>
      </p:sp>
      <p:pic>
        <p:nvPicPr>
          <p:cNvPr id="16" name="图片 15" descr="解析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1105156"/>
            <a:ext cx="324000" cy="324000"/>
          </a:xfrm>
          <a:prstGeom prst="rect">
            <a:avLst/>
          </a:prstGeom>
        </p:spPr>
      </p:pic>
      <p:pic>
        <p:nvPicPr>
          <p:cNvPr id="17" name="图片 16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1055309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图片 17" descr="解析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1835773"/>
            <a:ext cx="324000" cy="324000"/>
          </a:xfrm>
          <a:prstGeom prst="rect">
            <a:avLst/>
          </a:prstGeom>
        </p:spPr>
      </p:pic>
      <p:pic>
        <p:nvPicPr>
          <p:cNvPr id="19" name="图片 18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1785926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图片 19" descr="解析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2550153"/>
            <a:ext cx="324000" cy="324000"/>
          </a:xfrm>
          <a:prstGeom prst="rect">
            <a:avLst/>
          </a:prstGeom>
        </p:spPr>
      </p:pic>
      <p:pic>
        <p:nvPicPr>
          <p:cNvPr id="21" name="图片 20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2500306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21" descr="解析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3319314"/>
            <a:ext cx="324000" cy="324000"/>
          </a:xfrm>
          <a:prstGeom prst="rect">
            <a:avLst/>
          </a:prstGeom>
        </p:spPr>
      </p:pic>
      <p:pic>
        <p:nvPicPr>
          <p:cNvPr id="24" name="图片 23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3269467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图片 27" descr="解析.png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4033694"/>
            <a:ext cx="324000" cy="324000"/>
          </a:xfrm>
          <a:prstGeom prst="rect">
            <a:avLst/>
          </a:prstGeom>
        </p:spPr>
      </p:pic>
      <p:pic>
        <p:nvPicPr>
          <p:cNvPr id="29" name="图片 28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3983847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/>
          <p:cNvSpPr txBox="1"/>
          <p:nvPr/>
        </p:nvSpPr>
        <p:spPr>
          <a:xfrm>
            <a:off x="5857884" y="1000108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68707" y="1714488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are</a:t>
            </a:r>
            <a:endParaRPr lang="zh-CN" altLang="en-US" sz="2400" dirty="0" smtClean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03921" y="2445802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went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57620" y="3177116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knew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786050" y="3912132"/>
            <a:ext cx="24497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knew / had known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23" name="图片 22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4714884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3187937" y="4643446"/>
            <a:ext cx="2241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sleep / will sleep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26" name="图片 25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5429264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2714612" y="5396227"/>
            <a:ext cx="696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tells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30" name="图片 29" descr="解析.pn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4714884"/>
            <a:ext cx="324000" cy="324000"/>
          </a:xfrm>
          <a:prstGeom prst="rect">
            <a:avLst/>
          </a:prstGeom>
        </p:spPr>
      </p:pic>
      <p:pic>
        <p:nvPicPr>
          <p:cNvPr id="31" name="图片 30" descr="解析.png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5429264"/>
            <a:ext cx="324000" cy="3240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34" grpId="0"/>
      <p:bldP spid="42" grpId="0"/>
      <p:bldP spid="45" grpId="0"/>
      <p:bldP spid="48" grpId="0"/>
      <p:bldP spid="51" grpId="0"/>
      <p:bldP spid="25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单圆角矩形 29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31" name="图片 30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178382" y="997042"/>
            <a:ext cx="522926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8.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9.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10.</a:t>
            </a: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11.</a:t>
            </a: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12.</a:t>
            </a: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13.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1678448" y="1000528"/>
            <a:ext cx="6965518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I ________ (want) to ask if I could borrow your ladder.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en-US" sz="2400" dirty="0" smtClean="0"/>
              <a:t>I ________ (suggest) you phone me tomorrow.</a:t>
            </a:r>
          </a:p>
          <a:p>
            <a:endParaRPr lang="en-US" altLang="zh-CN" sz="2400" dirty="0" smtClean="0"/>
          </a:p>
          <a:p>
            <a:r>
              <a:rPr lang="en-US" sz="2400" dirty="0" smtClean="0"/>
              <a:t>Two and three ________ (make) five.</a:t>
            </a:r>
            <a:endParaRPr lang="zh-CN" altLang="en-US" sz="2400" dirty="0" smtClean="0"/>
          </a:p>
          <a:p>
            <a:endParaRPr lang="en-US" altLang="zh-CN" sz="2400" dirty="0" smtClean="0"/>
          </a:p>
          <a:p>
            <a:r>
              <a:rPr lang="en-US" sz="2400" spc="-40" dirty="0" smtClean="0"/>
              <a:t>If only I ________ (have) more money, I could buy some </a:t>
            </a:r>
            <a:r>
              <a:rPr lang="en-US" sz="2400" dirty="0" smtClean="0"/>
              <a:t>new clothes.</a:t>
            </a:r>
          </a:p>
          <a:p>
            <a:endParaRPr lang="en-US" altLang="zh-CN" sz="2400" dirty="0" smtClean="0"/>
          </a:p>
          <a:p>
            <a:r>
              <a:rPr lang="en-US" sz="2400" dirty="0" smtClean="0"/>
              <a:t>Don’t come tomorrow. I’d rather you ________ (come) next weekend.</a:t>
            </a:r>
            <a:endParaRPr lang="zh-CN" altLang="en-US" sz="2400" dirty="0" smtClean="0"/>
          </a:p>
          <a:p>
            <a:endParaRPr lang="en-US" altLang="zh-CN" sz="2400" dirty="0" smtClean="0"/>
          </a:p>
          <a:p>
            <a:r>
              <a:rPr lang="en-US" sz="2400" dirty="0" smtClean="0"/>
              <a:t>A: Daddy, can I watch TV?</a:t>
            </a:r>
            <a:endParaRPr lang="zh-CN" altLang="en-US" sz="2400" dirty="0" smtClean="0"/>
          </a:p>
          <a:p>
            <a:r>
              <a:rPr lang="en-US" sz="2400" dirty="0" smtClean="0"/>
              <a:t>B: Suppose you ________ (do) your homework first?</a:t>
            </a:r>
            <a:endParaRPr lang="zh-CN" altLang="en-US" sz="2400" dirty="0" smtClean="0"/>
          </a:p>
        </p:txBody>
      </p:sp>
      <p:pic>
        <p:nvPicPr>
          <p:cNvPr id="16" name="图片 15" descr="解析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1105156"/>
            <a:ext cx="324000" cy="324000"/>
          </a:xfrm>
          <a:prstGeom prst="rect">
            <a:avLst/>
          </a:prstGeom>
        </p:spPr>
      </p:pic>
      <p:pic>
        <p:nvPicPr>
          <p:cNvPr id="18" name="图片 17" descr="解析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1835773"/>
            <a:ext cx="324000" cy="324000"/>
          </a:xfrm>
          <a:prstGeom prst="rect">
            <a:avLst/>
          </a:prstGeom>
        </p:spPr>
      </p:pic>
      <p:pic>
        <p:nvPicPr>
          <p:cNvPr id="20" name="图片 19" descr="解析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2621591"/>
            <a:ext cx="324000" cy="324000"/>
          </a:xfrm>
          <a:prstGeom prst="rect">
            <a:avLst/>
          </a:prstGeom>
        </p:spPr>
      </p:pic>
      <p:pic>
        <p:nvPicPr>
          <p:cNvPr id="34" name="图片 33" descr="解析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3335971"/>
            <a:ext cx="324000" cy="324000"/>
          </a:xfrm>
          <a:prstGeom prst="rect">
            <a:avLst/>
          </a:prstGeom>
        </p:spPr>
      </p:pic>
      <p:pic>
        <p:nvPicPr>
          <p:cNvPr id="36" name="图片 35" descr="解析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4390884"/>
            <a:ext cx="324000" cy="324000"/>
          </a:xfrm>
          <a:prstGeom prst="rect">
            <a:avLst/>
          </a:prstGeom>
        </p:spPr>
      </p:pic>
      <p:pic>
        <p:nvPicPr>
          <p:cNvPr id="54" name="图片 53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1055309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图片 54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1785926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图片 55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2571744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图片 56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3286124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图片 57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4303402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TextBox 58"/>
          <p:cNvSpPr txBox="1"/>
          <p:nvPr/>
        </p:nvSpPr>
        <p:spPr>
          <a:xfrm>
            <a:off x="2000232" y="979946"/>
            <a:ext cx="1072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wanted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997990" y="170287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suggest</a:t>
            </a:r>
            <a:endParaRPr lang="zh-CN" altLang="en-US" sz="2400" dirty="0" smtClean="0">
              <a:solidFill>
                <a:srgbClr val="FF000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769090" y="2472745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make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017456" y="3220162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had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543556" y="4291732"/>
            <a:ext cx="832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came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29058" y="5774838"/>
            <a:ext cx="104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did/ do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24" name="图片 23" descr="答案1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000" y="5463448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图片 24" descr="解析.pn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5463448"/>
            <a:ext cx="324000" cy="3240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3" grpId="0"/>
      <p:bldP spid="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178382" y="1000528"/>
            <a:ext cx="52292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14.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15.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1678448" y="1000528"/>
            <a:ext cx="6965518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If it ________ (rain), the match would be cancelled.</a:t>
            </a:r>
          </a:p>
          <a:p>
            <a:endParaRPr lang="en-US" altLang="zh-CN" sz="2400" dirty="0" smtClean="0"/>
          </a:p>
          <a:p>
            <a:endParaRPr lang="en-US" altLang="zh-CN" sz="2400" dirty="0" smtClean="0"/>
          </a:p>
          <a:p>
            <a:pPr algn="just"/>
            <a:r>
              <a:rPr lang="en-US" sz="2400" dirty="0" smtClean="0"/>
              <a:t>At rise, the stage ________ (be) dark. It ________ (be) </a:t>
            </a:r>
            <a:r>
              <a:rPr lang="en-US" sz="2400" spc="-50" dirty="0" smtClean="0"/>
              <a:t>two-thirty in the morning and a hot, midsummer’s day has </a:t>
            </a:r>
            <a:r>
              <a:rPr lang="en-US" sz="2400" spc="-10" dirty="0" smtClean="0"/>
              <a:t>just begun. It ________ (be) silent ... MEL EDISON, in </a:t>
            </a:r>
            <a:r>
              <a:rPr lang="en-US" sz="2400" spc="-60" dirty="0" smtClean="0"/>
              <a:t>pajamas, robe and slippers ________ (sit) alone on the tiny </a:t>
            </a:r>
            <a:r>
              <a:rPr lang="en-US" sz="2400" spc="30" dirty="0" smtClean="0"/>
              <a:t>sofa, smoking a cigarette. He </a:t>
            </a:r>
            <a:r>
              <a:rPr lang="en-US" sz="2400" dirty="0" smtClean="0"/>
              <a:t>________</a:t>
            </a:r>
            <a:r>
              <a:rPr lang="en-US" sz="2400" spc="30" dirty="0" smtClean="0"/>
              <a:t> (rub) his face </a:t>
            </a:r>
            <a:r>
              <a:rPr lang="en-US" sz="2400" dirty="0" smtClean="0"/>
              <a:t>anxiously, then ________ (cough) ...</a:t>
            </a:r>
            <a:endParaRPr lang="zh-CN" altLang="en-US" sz="2400" dirty="0" smtClean="0"/>
          </a:p>
        </p:txBody>
      </p:sp>
      <p:pic>
        <p:nvPicPr>
          <p:cNvPr id="16" name="图片 15" descr="解析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1105156"/>
            <a:ext cx="324000" cy="324000"/>
          </a:xfrm>
          <a:prstGeom prst="rect">
            <a:avLst/>
          </a:prstGeom>
        </p:spPr>
      </p:pic>
      <p:pic>
        <p:nvPicPr>
          <p:cNvPr id="18" name="图片 17" descr="解析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2204882"/>
            <a:ext cx="324000" cy="324000"/>
          </a:xfrm>
          <a:prstGeom prst="rect">
            <a:avLst/>
          </a:prstGeom>
        </p:spPr>
      </p:pic>
      <p:pic>
        <p:nvPicPr>
          <p:cNvPr id="43" name="图片 42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64000" y="1055309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图片 52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64000" y="2155035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2403459" y="1000108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rained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782480" y="2105546"/>
            <a:ext cx="3742671" cy="2276718"/>
            <a:chOff x="3782480" y="2105546"/>
            <a:chExt cx="3742671" cy="2276718"/>
          </a:xfrm>
        </p:grpSpPr>
        <p:sp>
          <p:nvSpPr>
            <p:cNvPr id="58" name="TextBox 57"/>
            <p:cNvSpPr txBox="1"/>
            <p:nvPr/>
          </p:nvSpPr>
          <p:spPr>
            <a:xfrm>
              <a:off x="4311649" y="2105546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is</a:t>
              </a:r>
              <a:endParaRPr lang="zh-CN" altLang="en-US" sz="24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35301" y="2110079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is</a:t>
              </a:r>
              <a:endParaRPr lang="zh-CN" altLang="en-US" sz="24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16493" y="2802992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is</a:t>
              </a:r>
              <a:endParaRPr lang="zh-CN" altLang="en-US" sz="24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04643" y="3181649"/>
              <a:ext cx="595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sits</a:t>
              </a:r>
              <a:endParaRPr lang="zh-CN" altLang="en-US" sz="24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786446" y="3571876"/>
              <a:ext cx="715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rubs</a:t>
              </a:r>
              <a:endParaRPr lang="zh-CN" altLang="en-US" sz="2400" dirty="0" smtClean="0">
                <a:solidFill>
                  <a:srgbClr val="FF000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782480" y="3920599"/>
              <a:ext cx="10567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coughs</a:t>
              </a:r>
              <a:endParaRPr lang="zh-CN" altLang="en-US" sz="2400" dirty="0" smtClean="0">
                <a:solidFill>
                  <a:srgbClr val="FF0000"/>
                </a:solidFill>
              </a:endParaRPr>
            </a:p>
          </p:txBody>
        </p:sp>
      </p:grpSp>
      <p:sp>
        <p:nvSpPr>
          <p:cNvPr id="26" name="单圆角矩形 25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28" name="图片 27" descr="下一页.png"/>
          <p:cNvPicPr>
            <a:picLocks noChangeAspect="1"/>
          </p:cNvPicPr>
          <p:nvPr/>
        </p:nvPicPr>
        <p:blipFill>
          <a:blip r:embed="rId7" cstate="print">
            <a:grayscl/>
          </a:blip>
          <a:stretch>
            <a:fillRect/>
          </a:stretch>
        </p:blipFill>
        <p:spPr>
          <a:xfrm>
            <a:off x="8748000" y="6534000"/>
            <a:ext cx="323293" cy="2880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解析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1105156"/>
            <a:ext cx="324000" cy="324000"/>
          </a:xfrm>
          <a:prstGeom prst="rect">
            <a:avLst/>
          </a:prstGeom>
        </p:spPr>
      </p:pic>
      <p:pic>
        <p:nvPicPr>
          <p:cNvPr id="15" name="图片 14" descr="解析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1819116"/>
            <a:ext cx="324000" cy="324000"/>
          </a:xfrm>
          <a:prstGeom prst="rect">
            <a:avLst/>
          </a:prstGeom>
        </p:spPr>
      </p:pic>
      <p:pic>
        <p:nvPicPr>
          <p:cNvPr id="16" name="图片 15" descr="解析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2890686"/>
            <a:ext cx="324000" cy="324000"/>
          </a:xfrm>
          <a:prstGeom prst="rect">
            <a:avLst/>
          </a:prstGeom>
        </p:spPr>
      </p:pic>
      <p:pic>
        <p:nvPicPr>
          <p:cNvPr id="17" name="图片 16" descr="解析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3655591"/>
            <a:ext cx="324000" cy="324000"/>
          </a:xfrm>
          <a:prstGeom prst="rect">
            <a:avLst/>
          </a:prstGeom>
        </p:spPr>
      </p:pic>
      <p:pic>
        <p:nvPicPr>
          <p:cNvPr id="18" name="图片 17" descr="解析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4748074"/>
            <a:ext cx="324000" cy="324000"/>
          </a:xfrm>
          <a:prstGeom prst="rect">
            <a:avLst/>
          </a:prstGeom>
        </p:spPr>
      </p:pic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1178382" y="1000528"/>
            <a:ext cx="522926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1.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2.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3.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4.</a:t>
            </a:r>
          </a:p>
          <a:p>
            <a:pPr algn="r"/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5.</a:t>
            </a: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678448" y="1000528"/>
            <a:ext cx="6965518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Why ________ that girl ________ (stand) on the table?</a:t>
            </a:r>
          </a:p>
          <a:p>
            <a:endParaRPr lang="en-US" altLang="zh-CN" sz="2400" dirty="0" smtClean="0"/>
          </a:p>
          <a:p>
            <a:r>
              <a:rPr lang="en-US" sz="2400" dirty="0" err="1" smtClean="0"/>
              <a:t>Chetford</a:t>
            </a:r>
            <a:r>
              <a:rPr lang="en-US" sz="2400" dirty="0" smtClean="0"/>
              <a:t> Castle ________ (stand) on a hill just outside the town.</a:t>
            </a:r>
          </a:p>
          <a:p>
            <a:endParaRPr lang="en-US" altLang="zh-CN" sz="2400" dirty="0" smtClean="0"/>
          </a:p>
          <a:p>
            <a:r>
              <a:rPr lang="en-US" sz="2400" dirty="0" smtClean="0"/>
              <a:t>The weather ________ (get) better and better.</a:t>
            </a:r>
          </a:p>
          <a:p>
            <a:endParaRPr lang="en-US" altLang="zh-CN" sz="2400" dirty="0" smtClean="0"/>
          </a:p>
          <a:p>
            <a:r>
              <a:rPr lang="en-US" sz="2400" spc="-80" dirty="0" smtClean="0"/>
              <a:t>We ___________________ (probably spend) next weekend </a:t>
            </a:r>
            <a:r>
              <a:rPr lang="en-US" sz="2400" dirty="0" smtClean="0"/>
              <a:t>at home.</a:t>
            </a:r>
          </a:p>
          <a:p>
            <a:endParaRPr lang="en-US" altLang="zh-CN" sz="2400" dirty="0" smtClean="0"/>
          </a:p>
          <a:p>
            <a:r>
              <a:rPr lang="en-US" sz="2400" spc="-20" dirty="0" smtClean="0"/>
              <a:t>George ________ (get) up at five o’clock every day this </a:t>
            </a:r>
            <a:r>
              <a:rPr lang="en-US" sz="2400" dirty="0" smtClean="0"/>
              <a:t>week to prepare for his examination.</a:t>
            </a:r>
          </a:p>
        </p:txBody>
      </p:sp>
      <p:pic>
        <p:nvPicPr>
          <p:cNvPr id="21" name="图片 20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1055309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21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1785926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图片 22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2850156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图片 23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3605744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3903657" y="1735955"/>
            <a:ext cx="1031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stands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57554" y="2823628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is getting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38343" y="3534306"/>
            <a:ext cx="2917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are probably spending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29" name="图片 28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4722871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Box 29"/>
          <p:cNvSpPr txBox="1"/>
          <p:nvPr/>
        </p:nvSpPr>
        <p:spPr>
          <a:xfrm>
            <a:off x="2685509" y="4635810"/>
            <a:ext cx="1396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is getting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1" name="单圆角矩形 30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33" name="图片 32" descr="下一页.png"/>
          <p:cNvPicPr>
            <a:picLocks noChangeAspect="1"/>
          </p:cNvPicPr>
          <p:nvPr/>
        </p:nvPicPr>
        <p:blipFill>
          <a:blip r:embed="rId10" cstate="print">
            <a:grayscl/>
          </a:blip>
          <a:stretch>
            <a:fillRect/>
          </a:stretch>
        </p:blipFill>
        <p:spPr>
          <a:xfrm>
            <a:off x="8352000" y="6534000"/>
            <a:ext cx="323292" cy="287998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2824828" y="967071"/>
            <a:ext cx="3188104" cy="494702"/>
            <a:chOff x="2824828" y="967071"/>
            <a:chExt cx="3188104" cy="494702"/>
          </a:xfrm>
        </p:grpSpPr>
        <p:sp>
          <p:nvSpPr>
            <p:cNvPr id="25" name="TextBox 24"/>
            <p:cNvSpPr txBox="1"/>
            <p:nvPr/>
          </p:nvSpPr>
          <p:spPr>
            <a:xfrm>
              <a:off x="2824828" y="1000108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is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86314" y="967071"/>
              <a:ext cx="12266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standing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3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单圆角矩形 47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解析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1105156"/>
            <a:ext cx="324000" cy="324000"/>
          </a:xfrm>
          <a:prstGeom prst="rect">
            <a:avLst/>
          </a:prstGeom>
        </p:spPr>
      </p:pic>
      <p:pic>
        <p:nvPicPr>
          <p:cNvPr id="15" name="图片 14" descr="解析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2176306"/>
            <a:ext cx="324000" cy="324000"/>
          </a:xfrm>
          <a:prstGeom prst="rect">
            <a:avLst/>
          </a:prstGeom>
        </p:spPr>
      </p:pic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1178382" y="1000528"/>
            <a:ext cx="52292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6.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7.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678448" y="1000528"/>
            <a:ext cx="6965518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 smtClean="0"/>
              <a:t>He __________________ (always write) with a special pen — just because he likes to be different.</a:t>
            </a:r>
          </a:p>
          <a:p>
            <a:endParaRPr lang="en-US" altLang="zh-CN" sz="2400" dirty="0" smtClean="0"/>
          </a:p>
          <a:p>
            <a:r>
              <a:rPr lang="en-US" sz="2400" b="1" dirty="0" smtClean="0"/>
              <a:t>Tom:</a:t>
            </a:r>
            <a:r>
              <a:rPr lang="en-US" sz="2400" dirty="0" smtClean="0"/>
              <a:t> I ________ (smell) something burning!</a:t>
            </a:r>
            <a:endParaRPr lang="zh-CN" altLang="en-US" sz="2400" dirty="0" smtClean="0"/>
          </a:p>
          <a:p>
            <a:pPr algn="just"/>
            <a:r>
              <a:rPr lang="en-US" sz="2400" b="1" dirty="0" smtClean="0"/>
              <a:t>Jack:</a:t>
            </a:r>
            <a:r>
              <a:rPr lang="en-US" sz="2400" dirty="0" smtClean="0"/>
              <a:t> </a:t>
            </a:r>
            <a:r>
              <a:rPr lang="en-US" sz="2400" spc="-50" dirty="0" smtClean="0"/>
              <a:t>So ____ (do) I. I _____ (think) it ________ (come) </a:t>
            </a:r>
            <a:r>
              <a:rPr lang="en-US" sz="2400" spc="20" dirty="0" smtClean="0"/>
              <a:t>from the kitchen. Ann _________________ (probably </a:t>
            </a:r>
            <a:r>
              <a:rPr lang="en-US" sz="2400" spc="-40" dirty="0" smtClean="0"/>
              <a:t>iron). She usually ________ (iron) and ________ (watch) </a:t>
            </a:r>
            <a:r>
              <a:rPr lang="en-US" sz="2400" spc="-90" dirty="0" smtClean="0"/>
              <a:t>TV at the same time and if she _______ (get) very interested </a:t>
            </a:r>
            <a:r>
              <a:rPr lang="en-US" sz="2400" spc="-40" dirty="0" smtClean="0"/>
              <a:t>in a </a:t>
            </a:r>
            <a:r>
              <a:rPr lang="en-US" sz="2400" spc="-40" dirty="0" err="1" smtClean="0"/>
              <a:t>programme</a:t>
            </a:r>
            <a:r>
              <a:rPr lang="en-US" sz="2400" spc="-40" dirty="0" smtClean="0"/>
              <a:t> she ________ (forget) that she ________ </a:t>
            </a:r>
            <a:r>
              <a:rPr lang="en-US" sz="2400" spc="-70" dirty="0" smtClean="0"/>
              <a:t>(press) a hot iron on to somebody’s shirt. Mother ________ </a:t>
            </a:r>
            <a:r>
              <a:rPr lang="en-US" sz="2400" dirty="0" smtClean="0"/>
              <a:t>(think) of selling the TV set.</a:t>
            </a:r>
            <a:endParaRPr lang="zh-CN" altLang="en-US" sz="2400" dirty="0" smtClean="0"/>
          </a:p>
          <a:p>
            <a:endParaRPr lang="zh-CN" altLang="en-US" sz="2400" dirty="0" smtClean="0"/>
          </a:p>
        </p:txBody>
      </p:sp>
      <p:pic>
        <p:nvPicPr>
          <p:cNvPr id="21" name="图片 20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64000" y="1055309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21" descr="答案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64000" y="2152097"/>
            <a:ext cx="324000" cy="37384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2391606" y="984163"/>
            <a:ext cx="2363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is always writing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07561" y="2108932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smell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80202" y="249176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do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50115" y="2480144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think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75042" y="2467269"/>
            <a:ext cx="1388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is coming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89238" y="2811696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is probably ironing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74625" y="320307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irons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20842" y="3203070"/>
            <a:ext cx="1175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watches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06226" y="3554784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gets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223356" y="3937612"/>
            <a:ext cx="1033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forgets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86644" y="3929066"/>
            <a:ext cx="1351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pc="-100" dirty="0" smtClean="0">
                <a:solidFill>
                  <a:srgbClr val="FF0000"/>
                </a:solidFill>
              </a:rPr>
              <a:t>is pressing</a:t>
            </a:r>
            <a:endParaRPr lang="zh-CN" altLang="en-US" sz="2400" spc="-100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319554" y="4304495"/>
            <a:ext cx="1350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pc="-100" dirty="0" smtClean="0">
                <a:solidFill>
                  <a:srgbClr val="FF0000"/>
                </a:solidFill>
              </a:rPr>
              <a:t>is thinking</a:t>
            </a:r>
            <a:endParaRPr lang="zh-CN" altLang="en-US" sz="2400" spc="-100" dirty="0">
              <a:solidFill>
                <a:srgbClr val="FF0000"/>
              </a:solidFill>
            </a:endParaRPr>
          </a:p>
        </p:txBody>
      </p:sp>
      <p:sp>
        <p:nvSpPr>
          <p:cNvPr id="41" name="单圆角矩形 40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43" name="图片 42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单圆角矩形 47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图片 49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51" name="图片 50" descr="下一页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748000" y="6534000"/>
            <a:ext cx="323293" cy="288000"/>
          </a:xfrm>
          <a:prstGeom prst="rect">
            <a:avLst/>
          </a:prstGeom>
        </p:spPr>
      </p:pic>
      <p:pic>
        <p:nvPicPr>
          <p:cNvPr id="14" name="图片 13" descr="解析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1105156"/>
            <a:ext cx="324000" cy="324000"/>
          </a:xfrm>
          <a:prstGeom prst="rect">
            <a:avLst/>
          </a:prstGeom>
        </p:spPr>
      </p:pic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1178382" y="1000528"/>
            <a:ext cx="5229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8.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1678448" y="1000528"/>
            <a:ext cx="6965518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 spc="70" dirty="0" smtClean="0"/>
              <a:t>Commentator</a:t>
            </a:r>
            <a:r>
              <a:rPr lang="en-US" sz="2400" spc="70" dirty="0" smtClean="0"/>
              <a:t>: ... William is now on the attack. He </a:t>
            </a:r>
            <a:r>
              <a:rPr lang="en-US" sz="2400" spc="-10" dirty="0" smtClean="0"/>
              <a:t>________ (run) up the field with the Glasgow man right </a:t>
            </a:r>
            <a:r>
              <a:rPr lang="en-US" sz="2400" spc="-50" dirty="0" smtClean="0"/>
              <a:t>on his heels! He ________ (pass) to Sykes who ________ </a:t>
            </a:r>
            <a:r>
              <a:rPr lang="en-US" sz="2400" dirty="0" smtClean="0"/>
              <a:t>(kick) to Boyd. Boyd ________ (head) the ball past the </a:t>
            </a:r>
            <a:r>
              <a:rPr lang="en-US" sz="2400" kern="0" spc="-40" dirty="0" smtClean="0"/>
              <a:t>Glasgow goalkeeper but just ________ (miss) the goal by </a:t>
            </a:r>
            <a:r>
              <a:rPr lang="en-US" sz="2400" spc="-50" dirty="0" smtClean="0"/>
              <a:t>a fraction! The ball ________ (hit) the post and ________ </a:t>
            </a:r>
            <a:r>
              <a:rPr lang="en-US" sz="2400" spc="50" dirty="0" smtClean="0"/>
              <a:t>(bounce) back into the field! Oh! What hard luck for </a:t>
            </a:r>
            <a:r>
              <a:rPr lang="en-US" sz="2400" spc="-50" dirty="0" smtClean="0"/>
              <a:t>Manchester! But what ___________ (happen) down at the </a:t>
            </a:r>
            <a:r>
              <a:rPr lang="en-US" sz="2400" dirty="0" smtClean="0"/>
              <a:t>other end of the field? Thompson ________ (lie) on the </a:t>
            </a:r>
            <a:r>
              <a:rPr lang="en-US" sz="2400" spc="-20" dirty="0" smtClean="0"/>
              <a:t>ground! He ________ (hold) his right knee, obviously in</a:t>
            </a:r>
            <a:r>
              <a:rPr lang="en-US" sz="2400" dirty="0" smtClean="0"/>
              <a:t> </a:t>
            </a:r>
            <a:r>
              <a:rPr lang="en-US" sz="2400" spc="-20" dirty="0" smtClean="0"/>
              <a:t>pain! The trainer ________ (run) over to him right now! The referee ________ (run) down from the other end of </a:t>
            </a:r>
            <a:r>
              <a:rPr lang="en-US" sz="2400" dirty="0" smtClean="0"/>
              <a:t>the field. He ________ (blow) his whistle. It looks as if he’s going to stop play ...</a:t>
            </a:r>
            <a:endParaRPr lang="zh-CN" altLang="en-US" sz="2400" dirty="0"/>
          </a:p>
        </p:txBody>
      </p:sp>
      <p:pic>
        <p:nvPicPr>
          <p:cNvPr id="21" name="图片 20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1055309"/>
            <a:ext cx="324000" cy="373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组合 21"/>
          <p:cNvGrpSpPr/>
          <p:nvPr/>
        </p:nvGrpSpPr>
        <p:grpSpPr>
          <a:xfrm>
            <a:off x="1714480" y="1357298"/>
            <a:ext cx="6861958" cy="4499763"/>
            <a:chOff x="1714480" y="1357298"/>
            <a:chExt cx="6861958" cy="4499763"/>
          </a:xfrm>
        </p:grpSpPr>
        <p:sp>
          <p:nvSpPr>
            <p:cNvPr id="25" name="TextBox 24"/>
            <p:cNvSpPr txBox="1"/>
            <p:nvPr/>
          </p:nvSpPr>
          <p:spPr>
            <a:xfrm>
              <a:off x="1714480" y="1357298"/>
              <a:ext cx="14237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is running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14573" y="1714488"/>
              <a:ext cx="9717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passes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549732" y="1731422"/>
              <a:ext cx="8338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kicks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98581" y="2109248"/>
              <a:ext cx="8851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heads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264175" y="2483372"/>
              <a:ext cx="10054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misses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325893" y="2840562"/>
              <a:ext cx="628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hits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383483" y="2857496"/>
              <a:ext cx="11929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bounces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57686" y="3563409"/>
              <a:ext cx="1747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is happening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965485" y="3929066"/>
              <a:ext cx="1098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is lying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160174" y="4286256"/>
              <a:ext cx="14061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is holding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786182" y="4664082"/>
              <a:ext cx="14237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is running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143240" y="5021272"/>
              <a:ext cx="14237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is running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86116" y="5395396"/>
              <a:ext cx="14109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spc="-50" dirty="0" smtClean="0">
                  <a:solidFill>
                    <a:srgbClr val="FF0000"/>
                  </a:solidFill>
                </a:rPr>
                <a:t>is blowing</a:t>
              </a:r>
              <a:endParaRPr lang="zh-CN" altLang="en-US" sz="2400" spc="-5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单圆角矩形 13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 descr="下一页.png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8000" y="6534000"/>
            <a:ext cx="323293" cy="287999"/>
          </a:xfrm>
          <a:prstGeom prst="rect">
            <a:avLst/>
          </a:prstGeom>
        </p:spPr>
      </p:pic>
      <p:pic>
        <p:nvPicPr>
          <p:cNvPr id="16" name="图片 15" descr="下一页.png"/>
          <p:cNvPicPr>
            <a:picLocks noChangeAspect="1"/>
          </p:cNvPicPr>
          <p:nvPr/>
        </p:nvPicPr>
        <p:blipFill>
          <a:blip r:embed="rId3" cstate="print">
            <a:grayscl/>
          </a:blip>
          <a:stretch>
            <a:fillRect/>
          </a:stretch>
        </p:blipFill>
        <p:spPr>
          <a:xfrm>
            <a:off x="8352000" y="6534000"/>
            <a:ext cx="323292" cy="287998"/>
          </a:xfrm>
          <a:prstGeom prst="rect">
            <a:avLst/>
          </a:prstGeom>
        </p:spPr>
      </p:pic>
      <p:pic>
        <p:nvPicPr>
          <p:cNvPr id="100" name="图片 99" descr="解析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1105156"/>
            <a:ext cx="324000" cy="324000"/>
          </a:xfrm>
          <a:prstGeom prst="rect">
            <a:avLst/>
          </a:prstGeom>
        </p:spPr>
      </p:pic>
      <p:pic>
        <p:nvPicPr>
          <p:cNvPr id="101" name="图片 100" descr="解析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2197897"/>
            <a:ext cx="324000" cy="324000"/>
          </a:xfrm>
          <a:prstGeom prst="rect">
            <a:avLst/>
          </a:prstGeom>
        </p:spPr>
      </p:pic>
      <p:pic>
        <p:nvPicPr>
          <p:cNvPr id="102" name="图片 101" descr="解析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8596" y="3269467"/>
            <a:ext cx="324000" cy="324000"/>
          </a:xfrm>
          <a:prstGeom prst="rect">
            <a:avLst/>
          </a:prstGeom>
        </p:spPr>
      </p:pic>
      <p:sp>
        <p:nvSpPr>
          <p:cNvPr id="105" name="Rectangle 17"/>
          <p:cNvSpPr>
            <a:spLocks noChangeArrowheads="1"/>
          </p:cNvSpPr>
          <p:nvPr/>
        </p:nvSpPr>
        <p:spPr bwMode="auto">
          <a:xfrm>
            <a:off x="1178382" y="1000528"/>
            <a:ext cx="522926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1.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2.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3.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Rectangle 17"/>
          <p:cNvSpPr>
            <a:spLocks noChangeArrowheads="1"/>
          </p:cNvSpPr>
          <p:nvPr/>
        </p:nvSpPr>
        <p:spPr bwMode="auto">
          <a:xfrm>
            <a:off x="1678448" y="1000528"/>
            <a:ext cx="6965518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spc="-90" dirty="0" smtClean="0"/>
              <a:t>When she ________ (arrive) I ______________ (telephone) </a:t>
            </a:r>
            <a:r>
              <a:rPr lang="en-US" sz="2400" dirty="0" smtClean="0"/>
              <a:t>Harry. (= She arrived during my telephone call.)</a:t>
            </a:r>
          </a:p>
          <a:p>
            <a:endParaRPr lang="en-US" altLang="zh-CN" sz="2400" dirty="0" smtClean="0"/>
          </a:p>
          <a:p>
            <a:pPr algn="just"/>
            <a:r>
              <a:rPr lang="en-US" sz="2400" dirty="0" smtClean="0"/>
              <a:t>When she ________ (arrive) I __________ (telephone) Harry. (= I telephoned after her arrival.)</a:t>
            </a:r>
          </a:p>
          <a:p>
            <a:endParaRPr lang="en-US" altLang="zh-CN" sz="2400" dirty="0" smtClean="0"/>
          </a:p>
          <a:p>
            <a:pPr algn="just"/>
            <a:r>
              <a:rPr lang="en-US" sz="2400" spc="10" dirty="0" smtClean="0"/>
              <a:t>A wood fire ____________ (burn) on the hearth, and a </a:t>
            </a:r>
            <a:r>
              <a:rPr lang="en-US" sz="2400" dirty="0" smtClean="0"/>
              <a:t>cat __________ (sleep) in front of it. A girl _________ </a:t>
            </a:r>
            <a:r>
              <a:rPr lang="en-US" sz="2400" spc="-60" dirty="0" smtClean="0"/>
              <a:t>(play) the piano and ____________ (sing) softly to herself. </a:t>
            </a:r>
            <a:r>
              <a:rPr lang="en-US" sz="2400" spc="-10" dirty="0" smtClean="0"/>
              <a:t>Suddenly there ________ (be) a knock on the door. The </a:t>
            </a:r>
            <a:r>
              <a:rPr lang="en-US" sz="2400" dirty="0" smtClean="0"/>
              <a:t>girl ________ (stop) playing. The cat ________ (wake) up.</a:t>
            </a:r>
            <a:endParaRPr lang="zh-CN" altLang="en-US" sz="2400" dirty="0" smtClean="0"/>
          </a:p>
        </p:txBody>
      </p:sp>
      <p:pic>
        <p:nvPicPr>
          <p:cNvPr id="107" name="图片 106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1055309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图片 107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2197897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图片 108" descr="答案1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4000" y="3269467"/>
            <a:ext cx="324000" cy="373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组合 23"/>
          <p:cNvGrpSpPr/>
          <p:nvPr/>
        </p:nvGrpSpPr>
        <p:grpSpPr>
          <a:xfrm>
            <a:off x="3028993" y="1000108"/>
            <a:ext cx="4323229" cy="470211"/>
            <a:chOff x="3028993" y="1000108"/>
            <a:chExt cx="4323229" cy="470211"/>
          </a:xfrm>
        </p:grpSpPr>
        <p:sp>
          <p:nvSpPr>
            <p:cNvPr id="111" name="TextBox 110"/>
            <p:cNvSpPr txBox="1"/>
            <p:nvPr/>
          </p:nvSpPr>
          <p:spPr>
            <a:xfrm>
              <a:off x="3028993" y="1008654"/>
              <a:ext cx="10550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arrived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160596" y="1000108"/>
              <a:ext cx="21916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was telephoning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151707" y="2088612"/>
            <a:ext cx="3920623" cy="461823"/>
            <a:chOff x="3151707" y="2088612"/>
            <a:chExt cx="3920623" cy="461823"/>
          </a:xfrm>
        </p:grpSpPr>
        <p:sp>
          <p:nvSpPr>
            <p:cNvPr id="112" name="TextBox 111"/>
            <p:cNvSpPr txBox="1"/>
            <p:nvPr/>
          </p:nvSpPr>
          <p:spPr>
            <a:xfrm>
              <a:off x="3151707" y="2088612"/>
              <a:ext cx="10550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arrived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539538" y="2088770"/>
              <a:ext cx="15327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telephoned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092393" y="3189285"/>
            <a:ext cx="6627776" cy="1941227"/>
            <a:chOff x="2092393" y="3189285"/>
            <a:chExt cx="6627776" cy="1941227"/>
          </a:xfrm>
        </p:grpSpPr>
        <p:sp>
          <p:nvSpPr>
            <p:cNvPr id="113" name="TextBox 112"/>
            <p:cNvSpPr txBox="1"/>
            <p:nvPr/>
          </p:nvSpPr>
          <p:spPr>
            <a:xfrm>
              <a:off x="3408033" y="3189285"/>
              <a:ext cx="16979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was burning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092393" y="3563330"/>
              <a:ext cx="17652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was sleeping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057534" y="3546475"/>
              <a:ext cx="16626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was playing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071934" y="3920599"/>
              <a:ext cx="19287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(was) singing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979474" y="4286256"/>
              <a:ext cx="6639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was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2306620" y="4643446"/>
              <a:ext cx="11416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stopped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6580731" y="4668847"/>
              <a:ext cx="8515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woke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 descr="解析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1105156"/>
            <a:ext cx="324000" cy="324000"/>
          </a:xfrm>
          <a:prstGeom prst="rect">
            <a:avLst/>
          </a:prstGeom>
        </p:spPr>
      </p:pic>
      <p:pic>
        <p:nvPicPr>
          <p:cNvPr id="101" name="图片 100" descr="解析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2571744"/>
            <a:ext cx="324000" cy="324000"/>
          </a:xfrm>
          <a:prstGeom prst="rect">
            <a:avLst/>
          </a:prstGeom>
        </p:spPr>
      </p:pic>
      <p:pic>
        <p:nvPicPr>
          <p:cNvPr id="102" name="图片 101" descr="解析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4786322"/>
            <a:ext cx="324000" cy="324000"/>
          </a:xfrm>
          <a:prstGeom prst="rect">
            <a:avLst/>
          </a:prstGeom>
        </p:spPr>
      </p:pic>
      <p:sp>
        <p:nvSpPr>
          <p:cNvPr id="105" name="Rectangle 17"/>
          <p:cNvSpPr>
            <a:spLocks noChangeArrowheads="1"/>
          </p:cNvSpPr>
          <p:nvPr/>
        </p:nvSpPr>
        <p:spPr bwMode="auto">
          <a:xfrm>
            <a:off x="1178382" y="1000528"/>
            <a:ext cx="522926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4.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5.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altLang="zh-C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6.</a:t>
            </a:r>
            <a:endParaRPr lang="en-US" altLang="zh-CN" sz="24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Rectangle 17"/>
          <p:cNvSpPr>
            <a:spLocks noChangeArrowheads="1"/>
          </p:cNvSpPr>
          <p:nvPr/>
        </p:nvSpPr>
        <p:spPr bwMode="auto">
          <a:xfrm>
            <a:off x="1678448" y="1000528"/>
            <a:ext cx="6965518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spc="10" dirty="0" smtClean="0"/>
              <a:t>I ___________ (listen) to the radio when you _______ </a:t>
            </a:r>
            <a:r>
              <a:rPr lang="en-US" sz="2400" spc="-50" dirty="0" smtClean="0"/>
              <a:t>(ring) the bell the first time, and that’s why I </a:t>
            </a:r>
            <a:r>
              <a:rPr lang="en-US" sz="2400" dirty="0" smtClean="0"/>
              <a:t>__________ (not hear) you.</a:t>
            </a:r>
          </a:p>
          <a:p>
            <a:endParaRPr lang="en-US" altLang="zh-CN" sz="2400" dirty="0" smtClean="0"/>
          </a:p>
          <a:p>
            <a:pPr algn="just"/>
            <a:r>
              <a:rPr lang="en-US" sz="2400" dirty="0" smtClean="0"/>
              <a:t>The first plane __________ (explode) just as our plane ___________ (land), but our pilot </a:t>
            </a:r>
            <a:r>
              <a:rPr lang="en-US" sz="2400" dirty="0" err="1" smtClean="0"/>
              <a:t>skilfully</a:t>
            </a:r>
            <a:r>
              <a:rPr lang="en-US" sz="2400" dirty="0" smtClean="0"/>
              <a:t> _________ (climb) up again before touching the tarmac (</a:t>
            </a:r>
            <a:r>
              <a:rPr lang="zh-CN" altLang="en-US" sz="2400" dirty="0" smtClean="0"/>
              <a:t>跑道</a:t>
            </a:r>
            <a:r>
              <a:rPr lang="en-US" sz="2400" dirty="0" smtClean="0"/>
              <a:t>). All the people who ___________ (wait) for us _________ (witness) the incident.</a:t>
            </a:r>
            <a:endParaRPr lang="zh-CN" altLang="en-US" sz="2400" dirty="0" smtClean="0"/>
          </a:p>
          <a:p>
            <a:endParaRPr lang="en-US" altLang="zh-CN" sz="2400" dirty="0" smtClean="0"/>
          </a:p>
          <a:p>
            <a:r>
              <a:rPr lang="en-US" sz="2400" dirty="0" smtClean="0"/>
              <a:t>A: ______ you ________ (want) me?</a:t>
            </a:r>
            <a:endParaRPr lang="zh-CN" altLang="en-US" sz="2400" dirty="0" smtClean="0"/>
          </a:p>
          <a:p>
            <a:pPr algn="just"/>
            <a:r>
              <a:rPr lang="en-US" sz="2400" dirty="0" smtClean="0"/>
              <a:t>B: </a:t>
            </a:r>
            <a:r>
              <a:rPr lang="en-US" sz="2400" spc="-40" dirty="0" smtClean="0"/>
              <a:t>Yes, I _________________ (hope) you would give me </a:t>
            </a:r>
            <a:r>
              <a:rPr lang="en-US" sz="2400" dirty="0" smtClean="0"/>
              <a:t>a hand with the painting.</a:t>
            </a:r>
            <a:endParaRPr lang="zh-CN" altLang="en-US" sz="2400" dirty="0" smtClean="0"/>
          </a:p>
        </p:txBody>
      </p:sp>
      <p:pic>
        <p:nvPicPr>
          <p:cNvPr id="107" name="图片 106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1055309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图片 107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2555087"/>
            <a:ext cx="324000" cy="373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图片 108" descr="答案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000" y="4723628"/>
            <a:ext cx="324000" cy="3738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组合 25"/>
          <p:cNvGrpSpPr/>
          <p:nvPr/>
        </p:nvGrpSpPr>
        <p:grpSpPr>
          <a:xfrm>
            <a:off x="2282595" y="4656446"/>
            <a:ext cx="3157155" cy="805855"/>
            <a:chOff x="2282595" y="4656446"/>
            <a:chExt cx="3157155" cy="805855"/>
          </a:xfrm>
        </p:grpSpPr>
        <p:sp>
          <p:nvSpPr>
            <p:cNvPr id="113" name="TextBox 112"/>
            <p:cNvSpPr txBox="1"/>
            <p:nvPr/>
          </p:nvSpPr>
          <p:spPr>
            <a:xfrm>
              <a:off x="2282595" y="4668847"/>
              <a:ext cx="646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Did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3883021" y="4656446"/>
              <a:ext cx="7825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want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2853786" y="5000636"/>
              <a:ext cx="25859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hoped / was hoping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928794" y="1000108"/>
            <a:ext cx="6689534" cy="827401"/>
            <a:chOff x="1928794" y="1000108"/>
            <a:chExt cx="6689534" cy="827401"/>
          </a:xfrm>
        </p:grpSpPr>
        <p:sp>
          <p:nvSpPr>
            <p:cNvPr id="111" name="TextBox 110"/>
            <p:cNvSpPr txBox="1"/>
            <p:nvPr/>
          </p:nvSpPr>
          <p:spPr>
            <a:xfrm>
              <a:off x="1928794" y="1000108"/>
              <a:ext cx="17988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was listening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626924" y="1000108"/>
              <a:ext cx="7312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rang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65311" y="1365844"/>
              <a:ext cx="16530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did not hear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794701" y="2454427"/>
            <a:ext cx="6777827" cy="1587581"/>
            <a:chOff x="1794701" y="2454427"/>
            <a:chExt cx="6777827" cy="1587581"/>
          </a:xfrm>
        </p:grpSpPr>
        <p:sp>
          <p:nvSpPr>
            <p:cNvPr id="112" name="TextBox 111"/>
            <p:cNvSpPr txBox="1"/>
            <p:nvPr/>
          </p:nvSpPr>
          <p:spPr>
            <a:xfrm>
              <a:off x="3760488" y="2454427"/>
              <a:ext cx="13115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exploded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794701" y="2823391"/>
              <a:ext cx="16626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was landing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264400" y="2828393"/>
              <a:ext cx="11737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climbed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719437" y="3542773"/>
              <a:ext cx="17812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were waiting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174388" y="3580343"/>
              <a:ext cx="13981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rgbClr val="FF0000"/>
                  </a:solidFill>
                </a:rPr>
                <a:t>witnessed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1" name="单圆角矩形 30"/>
          <p:cNvSpPr/>
          <p:nvPr/>
        </p:nvSpPr>
        <p:spPr>
          <a:xfrm flipH="1">
            <a:off x="8208000" y="6469200"/>
            <a:ext cx="936000" cy="388800"/>
          </a:xfrm>
          <a:prstGeom prst="round1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 descr="下一页.png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352000" y="6534000"/>
            <a:ext cx="323291" cy="287998"/>
          </a:xfrm>
          <a:prstGeom prst="rect">
            <a:avLst/>
          </a:prstGeom>
        </p:spPr>
      </p:pic>
      <p:pic>
        <p:nvPicPr>
          <p:cNvPr id="33" name="图片 32" descr="下一页.png"/>
          <p:cNvPicPr>
            <a:picLocks noChangeAspect="1"/>
          </p:cNvPicPr>
          <p:nvPr/>
        </p:nvPicPr>
        <p:blipFill>
          <a:blip r:embed="rId8" cstate="print">
            <a:grayscl/>
          </a:blip>
          <a:stretch>
            <a:fillRect/>
          </a:stretch>
        </p:blipFill>
        <p:spPr>
          <a:xfrm>
            <a:off x="8748000" y="6534000"/>
            <a:ext cx="323293" cy="2880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9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折角形 19"/>
          <p:cNvSpPr/>
          <p:nvPr/>
        </p:nvSpPr>
        <p:spPr>
          <a:xfrm>
            <a:off x="0" y="-1"/>
            <a:ext cx="9144000" cy="6228000"/>
          </a:xfrm>
          <a:prstGeom prst="foldedCorner">
            <a:avLst>
              <a:gd name="adj" fmla="val 11697"/>
            </a:avLst>
          </a:prstGeom>
          <a:solidFill>
            <a:srgbClr val="FDFCE3"/>
          </a:solidFill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  <p:sp>
        <p:nvSpPr>
          <p:cNvPr id="37" name="五边形 36"/>
          <p:cNvSpPr/>
          <p:nvPr/>
        </p:nvSpPr>
        <p:spPr>
          <a:xfrm>
            <a:off x="0" y="0"/>
            <a:ext cx="9144000" cy="1428736"/>
          </a:xfrm>
          <a:prstGeom prst="homePlate">
            <a:avLst>
              <a:gd name="adj" fmla="val 0"/>
            </a:avLst>
          </a:prstGeom>
          <a:solidFill>
            <a:srgbClr val="99375E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D:\sflep\策划项目\外教社Logo\W-A1-淡绿横向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8594" y="6337950"/>
            <a:ext cx="1938368" cy="37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1532742" y="2273234"/>
            <a:ext cx="2236510" cy="116955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dirty="0" smtClean="0">
                <a:solidFill>
                  <a:srgbClr val="4A616A"/>
                </a:solidFill>
                <a:latin typeface="+mn-ea"/>
              </a:rPr>
              <a:t>策    划：李冰诗</a:t>
            </a:r>
            <a:endParaRPr lang="en-US" altLang="zh-CN" sz="2000" dirty="0" smtClean="0">
              <a:solidFill>
                <a:srgbClr val="4A616A"/>
              </a:solidFill>
              <a:latin typeface="+mn-ea"/>
            </a:endParaRPr>
          </a:p>
          <a:p>
            <a:pPr>
              <a:lnSpc>
                <a:spcPts val="2800"/>
              </a:lnSpc>
            </a:pPr>
            <a:r>
              <a:rPr lang="zh-CN" altLang="en-US" sz="2000" dirty="0" smtClean="0">
                <a:solidFill>
                  <a:srgbClr val="4A616A"/>
                </a:solidFill>
                <a:latin typeface="+mn-ea"/>
              </a:rPr>
              <a:t>责任编辑：倪淦英</a:t>
            </a:r>
            <a:endParaRPr lang="en-US" altLang="zh-CN" sz="2000" dirty="0" smtClean="0">
              <a:solidFill>
                <a:srgbClr val="4A616A"/>
              </a:solidFill>
              <a:latin typeface="+mn-ea"/>
            </a:endParaRPr>
          </a:p>
          <a:p>
            <a:pPr>
              <a:lnSpc>
                <a:spcPts val="2800"/>
              </a:lnSpc>
            </a:pPr>
            <a:r>
              <a:rPr lang="zh-CN" altLang="en-US" sz="2000" dirty="0" smtClean="0">
                <a:solidFill>
                  <a:srgbClr val="4A616A"/>
                </a:solidFill>
                <a:latin typeface="+mn-ea"/>
              </a:rPr>
              <a:t>主    编：刘  升</a:t>
            </a:r>
            <a:endParaRPr lang="en-US" altLang="zh-CN" sz="2000" dirty="0" smtClean="0">
              <a:solidFill>
                <a:srgbClr val="4A616A"/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32742" y="4882501"/>
            <a:ext cx="3390672" cy="81047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dirty="0" smtClean="0">
                <a:solidFill>
                  <a:srgbClr val="4A616A"/>
                </a:solidFill>
                <a:latin typeface="+mn-ea"/>
              </a:rPr>
              <a:t>策划制作：曹晓英   邱丽津</a:t>
            </a:r>
            <a:endParaRPr lang="en-US" altLang="zh-CN" sz="2000" dirty="0" smtClean="0">
              <a:solidFill>
                <a:srgbClr val="4A616A"/>
              </a:solidFill>
              <a:latin typeface="+mn-ea"/>
            </a:endParaRPr>
          </a:p>
          <a:p>
            <a:pPr>
              <a:lnSpc>
                <a:spcPts val="2800"/>
              </a:lnSpc>
            </a:pPr>
            <a:r>
              <a:rPr lang="zh-CN" altLang="en-US" sz="2000" dirty="0" smtClean="0">
                <a:solidFill>
                  <a:srgbClr val="4A616A"/>
                </a:solidFill>
                <a:latin typeface="+mn-ea"/>
              </a:rPr>
              <a:t>美术设计：林小彬</a:t>
            </a:r>
            <a:endParaRPr lang="en-US" altLang="zh-CN" sz="2000" dirty="0" smtClean="0">
              <a:solidFill>
                <a:srgbClr val="4A616A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32742" y="4391031"/>
            <a:ext cx="6032421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晟景科技（厦门）股份有限公司</a:t>
            </a:r>
            <a:r>
              <a:rPr lang="zh-CN" altLang="en-US" sz="24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      </a:t>
            </a:r>
            <a:r>
              <a:rPr lang="zh-CN" altLang="en-US" sz="2400" dirty="0" smtClean="0">
                <a:solidFill>
                  <a:schemeClr val="accent2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制作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32742" y="1785926"/>
            <a:ext cx="6032421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上海外语教育出版社                </a:t>
            </a:r>
            <a:r>
              <a:rPr lang="zh-CN" altLang="en-US" sz="2400" dirty="0" smtClean="0">
                <a:solidFill>
                  <a:schemeClr val="accent2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出版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93100" y="6395733"/>
            <a:ext cx="4608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 smtClean="0">
                <a:solidFill>
                  <a:schemeClr val="bg1">
                    <a:lumMod val="85000"/>
                  </a:schemeClr>
                </a:solidFill>
              </a:rPr>
              <a:t>©</a:t>
            </a:r>
            <a:r>
              <a:rPr lang="zh-CN" altLang="en-US" sz="1600" dirty="0" smtClean="0">
                <a:solidFill>
                  <a:schemeClr val="bg1">
                    <a:lumMod val="85000"/>
                  </a:schemeClr>
                </a:solidFill>
              </a:rPr>
              <a:t>上海外语教育出版社，</a:t>
            </a:r>
            <a:r>
              <a:rPr lang="en-US" sz="1600" dirty="0" smtClean="0">
                <a:solidFill>
                  <a:schemeClr val="bg1">
                    <a:lumMod val="85000"/>
                  </a:schemeClr>
                </a:solidFill>
              </a:rPr>
              <a:t>2022  </a:t>
            </a:r>
            <a:r>
              <a:rPr lang="zh-CN" altLang="en-US" sz="1600" dirty="0" smtClean="0">
                <a:solidFill>
                  <a:schemeClr val="bg1">
                    <a:lumMod val="85000"/>
                  </a:schemeClr>
                </a:solidFill>
              </a:rPr>
              <a:t>版权所有  翻版必究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5720" y="136746"/>
            <a:ext cx="4737918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新世纪高等院校英语专业本科生系列教材（修订版）</a:t>
            </a:r>
            <a:endParaRPr lang="en-US" altLang="zh-CN" sz="1600" dirty="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5720" y="642918"/>
            <a:ext cx="5000660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30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新编英语语法教程（第</a:t>
            </a:r>
            <a:r>
              <a:rPr lang="en-US" altLang="zh-CN" sz="30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zh-CN" altLang="en-US" sz="30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版）</a:t>
            </a:r>
            <a:endParaRPr lang="en-US" sz="3000" b="1" dirty="0" smtClean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7572396" y="357166"/>
            <a:ext cx="1571604" cy="502702"/>
            <a:chOff x="7572396" y="162000"/>
            <a:chExt cx="1571604" cy="5027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5" name="组合 24"/>
            <p:cNvGrpSpPr/>
            <p:nvPr/>
          </p:nvGrpSpPr>
          <p:grpSpPr>
            <a:xfrm flipH="1">
              <a:off x="7572396" y="214290"/>
              <a:ext cx="1571604" cy="432000"/>
              <a:chOff x="6203986" y="2928934"/>
              <a:chExt cx="1882764" cy="432000"/>
            </a:xfrm>
          </p:grpSpPr>
          <p:sp>
            <p:nvSpPr>
              <p:cNvPr id="23" name="矩形 22"/>
              <p:cNvSpPr/>
              <p:nvPr/>
            </p:nvSpPr>
            <p:spPr>
              <a:xfrm flipH="1">
                <a:off x="6203986" y="2928934"/>
                <a:ext cx="1564708" cy="43200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燕尾形 23"/>
              <p:cNvSpPr/>
              <p:nvPr/>
            </p:nvSpPr>
            <p:spPr>
              <a:xfrm flipH="1">
                <a:off x="7410470" y="2928934"/>
                <a:ext cx="676280" cy="432000"/>
              </a:xfrm>
              <a:prstGeom prst="chevron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7858148" y="162000"/>
              <a:ext cx="1217000" cy="5027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zh-CN" altLang="en-US" sz="2000" b="1" dirty="0" smtClean="0">
                  <a:solidFill>
                    <a:schemeClr val="accent2">
                      <a:lumMod val="50000"/>
                    </a:schemeClr>
                  </a:solidFill>
                  <a:latin typeface="黑体" pitchFamily="49" charset="-122"/>
                  <a:ea typeface="黑体" pitchFamily="49" charset="-122"/>
                </a:rPr>
                <a:t>电子课件</a:t>
              </a:r>
              <a:endParaRPr lang="zh-CN" altLang="en-US" sz="2000" b="1" dirty="0">
                <a:solidFill>
                  <a:schemeClr val="accent2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cxnSp>
        <p:nvCxnSpPr>
          <p:cNvPr id="252" name="直接连接符 251"/>
          <p:cNvCxnSpPr/>
          <p:nvPr/>
        </p:nvCxnSpPr>
        <p:spPr>
          <a:xfrm>
            <a:off x="1428728" y="2262179"/>
            <a:ext cx="6264000" cy="1588"/>
          </a:xfrm>
          <a:prstGeom prst="line">
            <a:avLst/>
          </a:prstGeom>
          <a:ln w="12700">
            <a:solidFill>
              <a:srgbClr val="99375E"/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/>
          <p:cNvCxnSpPr/>
          <p:nvPr/>
        </p:nvCxnSpPr>
        <p:spPr>
          <a:xfrm>
            <a:off x="1428728" y="4872029"/>
            <a:ext cx="6264000" cy="1588"/>
          </a:xfrm>
          <a:prstGeom prst="line">
            <a:avLst/>
          </a:prstGeom>
          <a:ln w="12700">
            <a:solidFill>
              <a:srgbClr val="99375E"/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27448"/>
            <a:ext cx="8000270" cy="196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句①中现在“我”知道了你的工程师身份，而“不知道”是过去的事，要用一般过去时。句②中</a:t>
            </a:r>
            <a:r>
              <a:rPr lang="en-US" sz="2400" dirty="0" smtClean="0"/>
              <a:t>I wish...</a:t>
            </a:r>
            <a:r>
              <a:rPr lang="zh-CN" altLang="en-US" sz="2400" dirty="0" smtClean="0"/>
              <a:t>结构后面的</a:t>
            </a:r>
            <a:r>
              <a:rPr lang="en-US" sz="2400" dirty="0" smtClean="0"/>
              <a:t>that-</a:t>
            </a:r>
            <a:r>
              <a:rPr lang="zh-CN" altLang="en-US" sz="2400" dirty="0" smtClean="0"/>
              <a:t>分句中不能用一般现在时，要用一般过去时表现在。</a:t>
            </a:r>
            <a:endParaRPr lang="zh-CN" altLang="en-US" sz="2400" dirty="0"/>
          </a:p>
        </p:txBody>
      </p:sp>
      <p:sp>
        <p:nvSpPr>
          <p:cNvPr id="6" name="乘号 5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96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表变化的终止性动词如</a:t>
            </a:r>
            <a:r>
              <a:rPr lang="en-US" sz="2400" dirty="0" smtClean="0"/>
              <a:t>become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begin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end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stop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get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grow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die</a:t>
            </a:r>
            <a:r>
              <a:rPr lang="zh-CN" altLang="en-US" sz="2400" dirty="0" smtClean="0"/>
              <a:t>等用于现在进行体时表示人的认识、感情或事物从一种状态逐渐变化到另一种状态，强调“逐渐变化”的过程。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481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对话中“</a:t>
            </a:r>
            <a:r>
              <a:rPr lang="en-US" sz="2400" dirty="0" smtClean="0"/>
              <a:t>he</a:t>
            </a:r>
            <a:r>
              <a:rPr lang="zh-CN" altLang="en-US" sz="2400" dirty="0" smtClean="0"/>
              <a:t>”要乘火车来，“</a:t>
            </a:r>
            <a:r>
              <a:rPr lang="en-US" sz="2400" dirty="0" smtClean="0"/>
              <a:t>arrive</a:t>
            </a:r>
            <a:r>
              <a:rPr lang="zh-CN" altLang="en-US" sz="2400" dirty="0" smtClean="0"/>
              <a:t>”有不可变易性，因此用一般现在时表将来；“</a:t>
            </a:r>
            <a:r>
              <a:rPr lang="en-US" sz="2400" dirty="0" smtClean="0"/>
              <a:t>we</a:t>
            </a:r>
            <a:r>
              <a:rPr lang="zh-CN" altLang="en-US" sz="2400" dirty="0" smtClean="0"/>
              <a:t>”去接站为主观的打算则要用现在进行体或</a:t>
            </a:r>
            <a:r>
              <a:rPr lang="en-US" sz="2400" dirty="0" smtClean="0"/>
              <a:t>be going to</a:t>
            </a:r>
            <a:r>
              <a:rPr lang="zh-CN" altLang="en-US" sz="2400" dirty="0" smtClean="0"/>
              <a:t>表将来。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有些动词在一定上下文中用一般过去时也能表未完成性，如“</a:t>
            </a:r>
            <a:r>
              <a:rPr lang="en-US" sz="2400" dirty="0" smtClean="0"/>
              <a:t>The rain </a:t>
            </a:r>
            <a:r>
              <a:rPr lang="en-US" sz="2400" b="1" dirty="0" smtClean="0"/>
              <a:t>poured down</a:t>
            </a:r>
            <a:r>
              <a:rPr lang="en-US" sz="2400" dirty="0" smtClean="0"/>
              <a:t> all the time they were out.</a:t>
            </a:r>
            <a:r>
              <a:rPr lang="zh-CN" altLang="en-US" sz="2400" dirty="0" smtClean="0"/>
              <a:t>”。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96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同一句中一般过去时和过去进行体并存时，一般过去时的动作发生在过去进行体动作持续过程中；同一句中有两个过去时，有时间上的先后顺序，其先后顺序可根据从句引导词确定。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>
              <a:lnSpc>
                <a:spcPct val="130000"/>
              </a:lnSpc>
            </a:pPr>
            <a:r>
              <a:rPr lang="zh-CN" altLang="en-US" sz="2400" dirty="0" smtClean="0"/>
              <a:t>格言、谚语等不受时限的客观存在用一般现在时。该谚语也可译作“</a:t>
            </a:r>
            <a:r>
              <a:rPr lang="en-US" sz="2400" dirty="0" smtClean="0"/>
              <a:t>Constant dripping wears away the stone.</a:t>
            </a:r>
            <a:r>
              <a:rPr lang="zh-CN" altLang="en-US" sz="2400" dirty="0" smtClean="0"/>
              <a:t>”。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格言、谚语等不受时限的客观存在用一般现在时。类似的谚语如“</a:t>
            </a:r>
            <a:r>
              <a:rPr lang="en-US" sz="2400" dirty="0" smtClean="0"/>
              <a:t>Actions speak louder than words.</a:t>
            </a:r>
            <a:r>
              <a:rPr lang="zh-CN" altLang="en-US" sz="2400" dirty="0" smtClean="0"/>
              <a:t>”。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江河的走向为不受时间限制的客观存在，用一般现在时。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天体的物质存在为不受时限的客观存在，用一般现在时。该句也可译作“</a:t>
            </a:r>
            <a:r>
              <a:rPr lang="en-US" sz="2400" dirty="0" smtClean="0"/>
              <a:t>There is no water on the moon.</a:t>
            </a:r>
            <a:r>
              <a:rPr lang="zh-CN" altLang="en-US" sz="2400" dirty="0" smtClean="0"/>
              <a:t>”。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 algn="just">
              <a:lnSpc>
                <a:spcPct val="130000"/>
              </a:lnSpc>
            </a:pPr>
            <a:r>
              <a:rPr lang="zh-CN" altLang="en-US" sz="2400" dirty="0" smtClean="0"/>
              <a:t>表示现在习惯动作，用一般现在时。“喝咖啡”可译作</a:t>
            </a:r>
            <a:r>
              <a:rPr lang="en-US" sz="2400" dirty="0" smtClean="0"/>
              <a:t>have coffee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481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表示现在习惯动作，用一般现在时。“几乎不”可译作“</a:t>
            </a:r>
            <a:r>
              <a:rPr lang="en-US" sz="2400" dirty="0" smtClean="0"/>
              <a:t>hardly ever</a:t>
            </a:r>
            <a:r>
              <a:rPr lang="zh-CN" altLang="en-US" sz="2400" dirty="0" smtClean="0"/>
              <a:t>”。注意：</a:t>
            </a:r>
            <a:r>
              <a:rPr lang="en-US" sz="2400" dirty="0" smtClean="0"/>
              <a:t>the capital of Arizona</a:t>
            </a:r>
            <a:r>
              <a:rPr lang="zh-CN" altLang="en-US" sz="2400" dirty="0" smtClean="0"/>
              <a:t>要处理成</a:t>
            </a:r>
            <a:r>
              <a:rPr lang="en-US" sz="2400" dirty="0" smtClean="0"/>
              <a:t>Phoenix</a:t>
            </a:r>
            <a:r>
              <a:rPr lang="zh-CN" altLang="en-US" sz="2400" dirty="0" smtClean="0"/>
              <a:t>的同位语。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地理位置为不受时限的客观存在，用一般现在时。注意：印度和中国是两个国家，介词要用</a:t>
            </a:r>
            <a:r>
              <a:rPr lang="en-US" sz="2400" dirty="0" smtClean="0"/>
              <a:t>to</a:t>
            </a:r>
            <a:r>
              <a:rPr lang="zh-CN" altLang="en-US" sz="2400" dirty="0" smtClean="0"/>
              <a:t>，而非</a:t>
            </a:r>
            <a:r>
              <a:rPr lang="en-US" sz="2400" dirty="0" smtClean="0"/>
              <a:t>in</a:t>
            </a:r>
            <a:r>
              <a:rPr lang="zh-CN" altLang="en-US" sz="2400" dirty="0" smtClean="0"/>
              <a:t>。</a:t>
            </a:r>
            <a:endParaRPr lang="zh-CN" altLang="en-US" sz="2400" spc="7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格言、谚语等不受时限的客观存在，用一般现在时。注意：表达“</a:t>
            </a:r>
            <a:r>
              <a:rPr lang="en-US" sz="2400" dirty="0" smtClean="0">
                <a:latin typeface="+mn-ea"/>
              </a:rPr>
              <a:t>…</a:t>
            </a:r>
            <a:r>
              <a:rPr lang="zh-CN" altLang="en-US" sz="2400" dirty="0" smtClean="0"/>
              <a:t>才是</a:t>
            </a:r>
            <a:r>
              <a:rPr lang="en-US" sz="2400" dirty="0" smtClean="0">
                <a:latin typeface="+mn-ea"/>
              </a:rPr>
              <a:t>…</a:t>
            </a:r>
            <a:r>
              <a:rPr lang="zh-CN" altLang="en-US" sz="2400" dirty="0" smtClean="0"/>
              <a:t>”的强调意味，需用分裂句</a:t>
            </a:r>
            <a:r>
              <a:rPr lang="en-US" sz="2400" dirty="0" smtClean="0"/>
              <a:t>it</a:t>
            </a:r>
            <a:r>
              <a:rPr lang="zh-CN" altLang="en-US" sz="2400" dirty="0" smtClean="0"/>
              <a:t>句型强调中心成分“恶风（</a:t>
            </a:r>
            <a:r>
              <a:rPr lang="en-US" sz="2400" dirty="0" smtClean="0"/>
              <a:t>an ill wind</a:t>
            </a:r>
            <a:r>
              <a:rPr lang="zh-CN" altLang="en-US" sz="2400" dirty="0" smtClean="0"/>
              <a:t>）”。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12000" algn="just">
              <a:lnSpc>
                <a:spcPct val="130000"/>
              </a:lnSpc>
            </a:pPr>
            <a:r>
              <a:rPr lang="zh-CN" altLang="en-US" sz="2400" dirty="0" smtClean="0"/>
              <a:t>在句型</a:t>
            </a:r>
            <a:r>
              <a:rPr lang="en-US" sz="2400" dirty="0" smtClean="0"/>
              <a:t>make sure + that-</a:t>
            </a:r>
            <a:r>
              <a:rPr lang="zh-CN" altLang="en-US" sz="2400" dirty="0" smtClean="0"/>
              <a:t>分句中，常用一般现在时表示将来时间。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在</a:t>
            </a:r>
            <a:r>
              <a:rPr lang="en-US" sz="2400" dirty="0" smtClean="0"/>
              <a:t>see that-</a:t>
            </a:r>
            <a:r>
              <a:rPr lang="zh-CN" altLang="en-US" sz="2400" dirty="0" smtClean="0"/>
              <a:t>分句中，常用一般现在时表示将来时间。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>
              <a:lnSpc>
                <a:spcPct val="130000"/>
              </a:lnSpc>
            </a:pPr>
            <a:r>
              <a:rPr lang="zh-CN" altLang="en-US" sz="2400" dirty="0" smtClean="0"/>
              <a:t>在</a:t>
            </a:r>
            <a:r>
              <a:rPr lang="en-US" sz="2400" dirty="0" smtClean="0"/>
              <a:t>it’s time...</a:t>
            </a:r>
            <a:r>
              <a:rPr lang="zh-CN" altLang="en-US" sz="2400" dirty="0" smtClean="0"/>
              <a:t>句型后面的</a:t>
            </a:r>
            <a:r>
              <a:rPr lang="en-US" sz="2400" dirty="0" smtClean="0"/>
              <a:t>that-</a:t>
            </a:r>
            <a:r>
              <a:rPr lang="zh-CN" altLang="en-US" sz="2400" dirty="0" smtClean="0"/>
              <a:t>分句中，用一般过去时表示主观设想，因此用</a:t>
            </a:r>
            <a:r>
              <a:rPr lang="en-US" sz="2400" dirty="0" smtClean="0"/>
              <a:t>went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在</a:t>
            </a:r>
            <a:r>
              <a:rPr lang="en-US" sz="2400" dirty="0" smtClean="0"/>
              <a:t>as if</a:t>
            </a:r>
            <a:r>
              <a:rPr lang="zh-CN" altLang="en-US" sz="2400" dirty="0" smtClean="0"/>
              <a:t>引导的分句中，用一般过去时表示与现在事实相反的主观设想，因此用</a:t>
            </a:r>
            <a:r>
              <a:rPr lang="en-US" sz="2400" dirty="0" smtClean="0"/>
              <a:t>knew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5" name="乘号 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2441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在</a:t>
            </a:r>
            <a:r>
              <a:rPr lang="en-US" sz="2400" dirty="0" smtClean="0"/>
              <a:t>I wish</a:t>
            </a:r>
            <a:r>
              <a:rPr lang="zh-CN" altLang="en-US" sz="2400" dirty="0" smtClean="0"/>
              <a:t>句型后面的</a:t>
            </a:r>
            <a:r>
              <a:rPr lang="en-US" sz="2400" dirty="0" smtClean="0"/>
              <a:t>that-</a:t>
            </a:r>
            <a:r>
              <a:rPr lang="zh-CN" altLang="en-US" sz="2400" dirty="0" smtClean="0"/>
              <a:t>分句中，用一般过去时表示与现在事实相反的主观设想，因此可用</a:t>
            </a:r>
            <a:r>
              <a:rPr lang="en-US" sz="2400" dirty="0" smtClean="0"/>
              <a:t>knew</a:t>
            </a:r>
            <a:r>
              <a:rPr lang="zh-CN" altLang="en-US" sz="2400" dirty="0" smtClean="0"/>
              <a:t>，译为“我希望我（现在）知道他的名字”。该句也可以用过去完成体表示与过去事实相反的主观设想，因此也可用</a:t>
            </a:r>
            <a:r>
              <a:rPr lang="en-US" sz="2400" dirty="0" smtClean="0"/>
              <a:t>had known</a:t>
            </a:r>
            <a:r>
              <a:rPr lang="zh-CN" altLang="en-US" sz="2400" dirty="0" smtClean="0"/>
              <a:t>，译为“我希望当时就知道他的名字”。</a:t>
            </a:r>
            <a:endParaRPr lang="zh-CN" altLang="en-US" sz="2400" dirty="0"/>
          </a:p>
        </p:txBody>
      </p:sp>
      <p:sp>
        <p:nvSpPr>
          <p:cNvPr id="5" name="乘号 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481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在句型</a:t>
            </a:r>
            <a:r>
              <a:rPr lang="en-US" sz="2400" dirty="0" smtClean="0"/>
              <a:t>I hope</a:t>
            </a:r>
            <a:r>
              <a:rPr lang="zh-CN" altLang="en-US" sz="2400" dirty="0" smtClean="0"/>
              <a:t>后面的</a:t>
            </a:r>
            <a:r>
              <a:rPr lang="en-US" sz="2400" dirty="0" smtClean="0"/>
              <a:t>that-</a:t>
            </a:r>
            <a:r>
              <a:rPr lang="zh-CN" altLang="en-US" sz="2400" dirty="0" smtClean="0"/>
              <a:t>分句中，可用一般现在时表示将来时间，因此可用</a:t>
            </a:r>
            <a:r>
              <a:rPr lang="en-US" sz="2400" dirty="0" smtClean="0"/>
              <a:t>sleep</a:t>
            </a:r>
            <a:r>
              <a:rPr lang="zh-CN" altLang="en-US" sz="2400" dirty="0" smtClean="0"/>
              <a:t>；也可用将来时间表示法</a:t>
            </a:r>
            <a:r>
              <a:rPr lang="en-US" sz="2400" dirty="0" smtClean="0"/>
              <a:t>will sleep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5" name="乘号 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481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en-US" sz="2400" dirty="0" smtClean="0"/>
              <a:t>tell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say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hear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gather</a:t>
            </a:r>
            <a:r>
              <a:rPr lang="zh-CN" altLang="en-US" sz="2400" dirty="0" smtClean="0"/>
              <a:t>等动词能用一般现在时表示过去时间，句中的</a:t>
            </a:r>
            <a:r>
              <a:rPr lang="en-US" sz="2400" dirty="0" smtClean="0"/>
              <a:t>John tells</a:t>
            </a:r>
            <a:r>
              <a:rPr lang="zh-CN" altLang="en-US" sz="2400" dirty="0" smtClean="0"/>
              <a:t>在含义上相当于</a:t>
            </a:r>
            <a:r>
              <a:rPr lang="en-US" sz="2400" dirty="0" smtClean="0"/>
              <a:t>John has told</a:t>
            </a:r>
            <a:r>
              <a:rPr lang="zh-CN" altLang="en-US" sz="2400" dirty="0" smtClean="0"/>
              <a:t>或</a:t>
            </a:r>
            <a:r>
              <a:rPr lang="en-US" sz="2400" dirty="0" smtClean="0"/>
              <a:t>John told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5" name="乘号 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481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在</a:t>
            </a:r>
            <a:r>
              <a:rPr lang="en-US" sz="2400" dirty="0" smtClean="0"/>
              <a:t>I wanted</a:t>
            </a:r>
            <a:r>
              <a:rPr lang="zh-CN" altLang="en-US" sz="2400" dirty="0" smtClean="0"/>
              <a:t>句型中用一般过去时表示现在的一种试探性态度或一种婉转口气。注意：句中的</a:t>
            </a:r>
            <a:r>
              <a:rPr lang="en-US" sz="2400" dirty="0" smtClean="0"/>
              <a:t>wanted</a:t>
            </a:r>
            <a:r>
              <a:rPr lang="zh-CN" altLang="en-US" sz="2400" dirty="0" smtClean="0"/>
              <a:t>并非表过去时间。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96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动词为表示短暂动作的动态动词，如</a:t>
            </a:r>
            <a:r>
              <a:rPr lang="en-US" sz="2400" dirty="0" smtClean="0"/>
              <a:t>suggest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declare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wish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promise</a:t>
            </a:r>
            <a:r>
              <a:rPr lang="zh-CN" altLang="en-US" sz="2400" dirty="0" smtClean="0"/>
              <a:t>等，常用一般现在时表示现在瞬间的动作，该用法多用于专门用语或一些日常用语中，此时主语一般都用第一人称。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>
              <a:lnSpc>
                <a:spcPct val="130000"/>
              </a:lnSpc>
            </a:pPr>
            <a:r>
              <a:rPr lang="zh-CN" altLang="en-US" sz="2400" dirty="0" smtClean="0"/>
              <a:t>数学算式为不受时限的客观存在，用一般现在时。</a:t>
            </a:r>
            <a:endParaRPr lang="zh-CN" altLang="en-US" sz="2400" dirty="0"/>
          </a:p>
        </p:txBody>
      </p:sp>
      <p:sp>
        <p:nvSpPr>
          <p:cNvPr id="5" name="乘号 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在</a:t>
            </a:r>
            <a:r>
              <a:rPr lang="en-US" sz="2400" dirty="0" smtClean="0"/>
              <a:t>If only</a:t>
            </a:r>
            <a:r>
              <a:rPr lang="zh-CN" altLang="en-US" sz="2400" dirty="0" smtClean="0"/>
              <a:t>句型中，用一般过去时表示对现在或将来情况的主观设想，因此用</a:t>
            </a:r>
            <a:r>
              <a:rPr lang="en-US" sz="2400" dirty="0" smtClean="0"/>
              <a:t>had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5" name="乘号 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>
              <a:lnSpc>
                <a:spcPct val="130000"/>
              </a:lnSpc>
            </a:pPr>
            <a:r>
              <a:rPr lang="zh-CN" altLang="en-US" sz="2400" dirty="0" smtClean="0"/>
              <a:t>在</a:t>
            </a:r>
            <a:r>
              <a:rPr lang="en-US" sz="2400" dirty="0" smtClean="0"/>
              <a:t>I’d rather...</a:t>
            </a:r>
            <a:r>
              <a:rPr lang="zh-CN" altLang="en-US" sz="2400" dirty="0" smtClean="0"/>
              <a:t>句型后面的</a:t>
            </a:r>
            <a:r>
              <a:rPr lang="en-US" sz="2400" dirty="0" smtClean="0"/>
              <a:t>that-</a:t>
            </a:r>
            <a:r>
              <a:rPr lang="zh-CN" altLang="en-US" sz="2400" dirty="0" smtClean="0"/>
              <a:t>分句中，用一般过去时表示对将来情况的主观设想，因此用</a:t>
            </a:r>
            <a:r>
              <a:rPr lang="en-US" sz="2400" dirty="0" smtClean="0"/>
              <a:t>came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en-US" sz="2400" dirty="0" smtClean="0"/>
              <a:t>suppose</a:t>
            </a:r>
            <a:r>
              <a:rPr lang="zh-CN" altLang="en-US" sz="2400" dirty="0" smtClean="0"/>
              <a:t>后的名词性分句常用一般过去时表主观设想，因此可用</a:t>
            </a:r>
            <a:r>
              <a:rPr lang="en-US" sz="2400" dirty="0" smtClean="0"/>
              <a:t>did</a:t>
            </a:r>
            <a:r>
              <a:rPr lang="zh-CN" altLang="en-US" sz="2400" dirty="0" smtClean="0"/>
              <a:t>，也可用一般现在时</a:t>
            </a:r>
            <a:r>
              <a:rPr lang="en-US" sz="2400" dirty="0" smtClean="0"/>
              <a:t>do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根据主句的动词形式和句意可知，该句为虚拟式，表示对将来情况的主观想象，</a:t>
            </a:r>
            <a:r>
              <a:rPr lang="en-US" sz="2400" dirty="0" smtClean="0"/>
              <a:t>if</a:t>
            </a:r>
            <a:r>
              <a:rPr lang="zh-CN" altLang="en-US" sz="2400" dirty="0" smtClean="0"/>
              <a:t>条件句动词要用一般过去时。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en-US" sz="2400" dirty="0" smtClean="0"/>
              <a:t>at rise</a:t>
            </a:r>
            <a:r>
              <a:rPr lang="zh-CN" altLang="en-US" sz="2400" dirty="0" smtClean="0"/>
              <a:t>即</a:t>
            </a:r>
            <a:r>
              <a:rPr lang="en-US" sz="2400" dirty="0" smtClean="0"/>
              <a:t>at the curtain’s rise</a:t>
            </a:r>
            <a:r>
              <a:rPr lang="zh-CN" altLang="en-US" sz="2400" dirty="0" smtClean="0"/>
              <a:t>，意为“起幕时”。一般现在时可用于舞台说明，以增强描述的生动性，这种用法也称为“历史现在时”。</a:t>
            </a:r>
            <a:endParaRPr lang="zh-CN" altLang="en-US" sz="2400" dirty="0"/>
          </a:p>
        </p:txBody>
      </p:sp>
      <p:sp>
        <p:nvSpPr>
          <p:cNvPr id="5" name="乘号 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481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用现在进行体表示说话时正在进行的动作，含暂时的含义。该句意为“为什么那个女孩站在桌子上？”。注意：该语境下若用一般现在时则不合乎常理。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地理位置为不受时限的客观存在，动词要用一般现在时。</a:t>
            </a:r>
            <a:endParaRPr lang="zh-CN" altLang="en-US" sz="2400" dirty="0"/>
          </a:p>
        </p:txBody>
      </p:sp>
      <p:sp>
        <p:nvSpPr>
          <p:cNvPr id="5" name="乘号 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en-US" sz="2400" dirty="0" smtClean="0"/>
              <a:t>get</a:t>
            </a:r>
            <a:r>
              <a:rPr lang="zh-CN" altLang="en-US" sz="2400" dirty="0" smtClean="0"/>
              <a:t>为表改变的动词，可用于进行体，表示事物从一种状态逐渐变化到另一种状态。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en-US" sz="2400" dirty="0" smtClean="0"/>
              <a:t>next weekend</a:t>
            </a:r>
            <a:r>
              <a:rPr lang="zh-CN" altLang="en-US" sz="2400" dirty="0" smtClean="0"/>
              <a:t>为表将来的时间状语，动词</a:t>
            </a:r>
            <a:r>
              <a:rPr lang="en-US" sz="2400" dirty="0" smtClean="0"/>
              <a:t>spend</a:t>
            </a:r>
            <a:r>
              <a:rPr lang="zh-CN" altLang="en-US" sz="2400" dirty="0" smtClean="0"/>
              <a:t>可用现在进行体表示按照现在的计划安排近期内即将发生的事。</a:t>
            </a:r>
            <a:endParaRPr lang="zh-CN" altLang="en-US" sz="2400" dirty="0"/>
          </a:p>
        </p:txBody>
      </p:sp>
      <p:sp>
        <p:nvSpPr>
          <p:cNvPr id="5" name="乘号 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由时间状语“</a:t>
            </a:r>
            <a:r>
              <a:rPr lang="en-US" sz="2400" dirty="0" smtClean="0"/>
              <a:t>this week</a:t>
            </a:r>
            <a:r>
              <a:rPr lang="zh-CN" altLang="en-US" sz="2400" dirty="0" smtClean="0"/>
              <a:t>”可以看出，该句表示现阶段一直在进行的动作，有暂时的含义，用现在进行体。</a:t>
            </a:r>
            <a:endParaRPr lang="zh-CN" altLang="en-US" sz="2400" dirty="0"/>
          </a:p>
        </p:txBody>
      </p:sp>
      <p:sp>
        <p:nvSpPr>
          <p:cNvPr id="5" name="乘号 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由语境“</a:t>
            </a:r>
            <a:r>
              <a:rPr lang="en-US" sz="2400" dirty="0" smtClean="0"/>
              <a:t>he likes to be different</a:t>
            </a:r>
            <a:r>
              <a:rPr lang="zh-CN" altLang="en-US" sz="2400" dirty="0" smtClean="0"/>
              <a:t>”可知，该句用现在进行体与</a:t>
            </a:r>
            <a:r>
              <a:rPr lang="en-US" sz="2400" dirty="0" smtClean="0"/>
              <a:t>always</a:t>
            </a:r>
            <a:r>
              <a:rPr lang="zh-CN" altLang="en-US" sz="2400" dirty="0" smtClean="0"/>
              <a:t>连用，表示某种感情色彩。</a:t>
            </a:r>
            <a:endParaRPr lang="zh-CN" altLang="en-US" sz="2400" dirty="0"/>
          </a:p>
        </p:txBody>
      </p:sp>
      <p:sp>
        <p:nvSpPr>
          <p:cNvPr id="6" name="乘号 5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292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表示现在的状态用一般现在时</a:t>
            </a:r>
            <a:r>
              <a:rPr lang="en-US" sz="2400" dirty="0" smtClean="0"/>
              <a:t>smell, do, think</a:t>
            </a:r>
            <a:r>
              <a:rPr lang="zh-CN" altLang="en-US" sz="2400" dirty="0" smtClean="0"/>
              <a:t>；表示</a:t>
            </a:r>
            <a:r>
              <a:rPr lang="zh-CN" altLang="en-US" sz="2400" spc="-80" dirty="0" smtClean="0"/>
              <a:t>说话时正在进行的动作用现在进行体</a:t>
            </a:r>
            <a:r>
              <a:rPr lang="en-US" sz="2400" spc="-80" dirty="0" smtClean="0"/>
              <a:t>is coming, is probably ironing</a:t>
            </a:r>
            <a:r>
              <a:rPr lang="zh-CN" altLang="en-US" sz="2400" spc="-80" dirty="0" smtClean="0"/>
              <a:t>；</a:t>
            </a:r>
            <a:r>
              <a:rPr lang="zh-CN" altLang="en-US" sz="2400" dirty="0" smtClean="0"/>
              <a:t>常与频度副词</a:t>
            </a:r>
            <a:r>
              <a:rPr lang="en-US" sz="2400" dirty="0" smtClean="0"/>
              <a:t>usually</a:t>
            </a:r>
            <a:r>
              <a:rPr lang="zh-CN" altLang="en-US" sz="2400" dirty="0" smtClean="0"/>
              <a:t>等连用，表示现在经常发生的动作用一般现在时</a:t>
            </a:r>
            <a:r>
              <a:rPr lang="en-US" sz="2400" dirty="0" smtClean="0"/>
              <a:t>irons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watches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gets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forgets</a:t>
            </a:r>
            <a:r>
              <a:rPr lang="zh-CN" altLang="en-US" sz="2400" dirty="0" smtClean="0"/>
              <a:t>；表示说话时正在进行的动作用现在进行体</a:t>
            </a:r>
            <a:r>
              <a:rPr lang="en-US" sz="2400" dirty="0" smtClean="0"/>
              <a:t>is pressing</a:t>
            </a:r>
            <a:r>
              <a:rPr lang="zh-CN" altLang="en-US" sz="2400" dirty="0" smtClean="0"/>
              <a:t>；表示现阶段一直在进行的动作用现在进行体</a:t>
            </a:r>
            <a:r>
              <a:rPr lang="en-US" sz="2400" dirty="0" smtClean="0"/>
              <a:t>is thinking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340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表示解说员现场解说时正在进行的动作用现在进行体</a:t>
            </a:r>
            <a:r>
              <a:rPr lang="en-US" sz="2400" dirty="0" smtClean="0"/>
              <a:t>is running</a:t>
            </a:r>
            <a:r>
              <a:rPr lang="zh-CN" altLang="en-US" sz="2400" dirty="0" smtClean="0"/>
              <a:t>；在对快速体育运动的实况报道中，对于</a:t>
            </a:r>
            <a:r>
              <a:rPr lang="en-US" sz="2400" dirty="0" smtClean="0"/>
              <a:t>pass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kick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head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miss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hit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bounce</a:t>
            </a:r>
            <a:r>
              <a:rPr lang="zh-CN" altLang="en-US" sz="2400" dirty="0" smtClean="0"/>
              <a:t>等表短暂性动作的动词，通常用一般现在时表示现在发生的一次短暂动作，这种动作转瞬即逝，不用现在进行体；表示解说员现场解说时正在进行的动作用现在进行体</a:t>
            </a:r>
            <a:r>
              <a:rPr lang="en-US" sz="2400" dirty="0" smtClean="0"/>
              <a:t>is happening, is lying, is holding, is running, is running, is blowing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481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en-US" sz="2400" dirty="0" smtClean="0"/>
              <a:t>She arrived during my telephone call</a:t>
            </a:r>
            <a:r>
              <a:rPr lang="zh-CN" altLang="en-US" sz="2400" dirty="0" smtClean="0"/>
              <a:t>表明</a:t>
            </a:r>
            <a:r>
              <a:rPr lang="en-US" sz="2400" dirty="0" smtClean="0"/>
              <a:t>arrive</a:t>
            </a:r>
            <a:r>
              <a:rPr lang="zh-CN" altLang="en-US" sz="2400" dirty="0" smtClean="0"/>
              <a:t>发生在</a:t>
            </a:r>
            <a:r>
              <a:rPr lang="en-US" sz="2400" dirty="0" smtClean="0"/>
              <a:t>telephone</a:t>
            </a:r>
            <a:r>
              <a:rPr lang="zh-CN" altLang="en-US" sz="2400" dirty="0" smtClean="0"/>
              <a:t>的过程中，</a:t>
            </a:r>
            <a:r>
              <a:rPr lang="en-US" sz="2400" dirty="0" smtClean="0"/>
              <a:t>arrive</a:t>
            </a:r>
            <a:r>
              <a:rPr lang="zh-CN" altLang="en-US" sz="2400" dirty="0" smtClean="0"/>
              <a:t>为短暂性动词，用一般过去时，</a:t>
            </a:r>
            <a:r>
              <a:rPr lang="en-US" sz="2400" dirty="0" smtClean="0"/>
              <a:t>telephone</a:t>
            </a:r>
            <a:r>
              <a:rPr lang="zh-CN" altLang="en-US" sz="2400" dirty="0" smtClean="0"/>
              <a:t>为持续性动词，用过去进行体。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96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>
              <a:lnSpc>
                <a:spcPct val="130000"/>
              </a:lnSpc>
            </a:pPr>
            <a:r>
              <a:rPr lang="en-US" sz="2400" dirty="0" smtClean="0"/>
              <a:t>I telephoned after her arrival</a:t>
            </a:r>
            <a:r>
              <a:rPr lang="zh-CN" altLang="en-US" sz="2400" dirty="0" smtClean="0"/>
              <a:t>表明“她”到达后“我”再打过电话这件事，仅说明事实，用一般过去时。注意：两个先后只差一点时间的动作往往也用</a:t>
            </a:r>
            <a:r>
              <a:rPr lang="en-US" sz="2400" dirty="0" smtClean="0"/>
              <a:t>when</a:t>
            </a:r>
            <a:r>
              <a:rPr lang="zh-CN" altLang="en-US" sz="2400" dirty="0" smtClean="0"/>
              <a:t>表示，不一定用</a:t>
            </a:r>
            <a:r>
              <a:rPr lang="en-US" sz="2400" dirty="0" smtClean="0"/>
              <a:t>after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2441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在记叙文中首先用过去进行体表示某种正在进行的动作为背景，并由此引出一般过去时表示的新的事态或情节，</a:t>
            </a:r>
            <a:r>
              <a:rPr lang="en-US" sz="2400" dirty="0" smtClean="0"/>
              <a:t>was burning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was sleeping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was playing, (was) singing</a:t>
            </a:r>
            <a:r>
              <a:rPr lang="zh-CN" altLang="en-US" sz="2400" dirty="0" smtClean="0"/>
              <a:t>就是作为叙述背景，而</a:t>
            </a:r>
            <a:r>
              <a:rPr lang="en-US" sz="2400" dirty="0" smtClean="0"/>
              <a:t>was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stopped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woke</a:t>
            </a:r>
            <a:r>
              <a:rPr lang="zh-CN" altLang="en-US" sz="2400" dirty="0" smtClean="0"/>
              <a:t>就是引出的新事态、新情节。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2441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zh-CN" altLang="en-US" sz="2400" dirty="0" smtClean="0"/>
              <a:t>当一般过去时与过去进行体同时出现在句中时，通常是较短的动作用一般过去时，较长的动作用过去进行体，该句为“你打电话（较短）”发生在“我听收音机（较长）”的过程中；表示过去某时一次完成的动作用一般过去时</a:t>
            </a:r>
            <a:r>
              <a:rPr lang="en-US" sz="2400" dirty="0" smtClean="0"/>
              <a:t>did not hear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15" name="乘号 14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2441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76000" algn="just">
              <a:lnSpc>
                <a:spcPct val="130000"/>
              </a:lnSpc>
            </a:pPr>
            <a:r>
              <a:rPr lang="en-US" sz="2400" dirty="0" smtClean="0"/>
              <a:t>explode</a:t>
            </a:r>
            <a:r>
              <a:rPr lang="zh-CN" altLang="en-US" sz="2400" dirty="0" smtClean="0"/>
              <a:t>发生在</a:t>
            </a:r>
            <a:r>
              <a:rPr lang="en-US" sz="2400" dirty="0" smtClean="0"/>
              <a:t>land</a:t>
            </a:r>
            <a:r>
              <a:rPr lang="zh-CN" altLang="en-US" sz="2400" dirty="0" smtClean="0"/>
              <a:t>（着陆）的过程中，</a:t>
            </a:r>
            <a:r>
              <a:rPr lang="en-US" sz="2400" dirty="0" smtClean="0"/>
              <a:t>explode</a:t>
            </a:r>
            <a:r>
              <a:rPr lang="zh-CN" altLang="en-US" sz="2400" dirty="0" smtClean="0"/>
              <a:t>为短暂性动词，用一般过去时，</a:t>
            </a:r>
            <a:r>
              <a:rPr lang="en-US" sz="2400" dirty="0" smtClean="0"/>
              <a:t>land</a:t>
            </a:r>
            <a:r>
              <a:rPr lang="zh-CN" altLang="en-US" sz="2400" dirty="0" smtClean="0"/>
              <a:t>为持续性动词，用过去进行体；强调过去发生的短暂动作用一般过去时</a:t>
            </a:r>
            <a:r>
              <a:rPr lang="en-US" sz="2400" dirty="0" smtClean="0"/>
              <a:t>climbed</a:t>
            </a:r>
            <a:r>
              <a:rPr lang="zh-CN" altLang="en-US" sz="2400" dirty="0" smtClean="0"/>
              <a:t>；侧重过去发生动作的持续时间用过去进行体</a:t>
            </a:r>
            <a:r>
              <a:rPr lang="en-US" sz="2400" dirty="0" smtClean="0"/>
              <a:t>were waiting</a:t>
            </a:r>
            <a:r>
              <a:rPr lang="zh-CN" altLang="en-US" sz="2400" dirty="0" smtClean="0"/>
              <a:t>；表示过去某时一次完成的动作用一般过去时</a:t>
            </a:r>
            <a:r>
              <a:rPr lang="en-US" sz="2400" dirty="0" smtClean="0"/>
              <a:t>witnessed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71865" y="1519261"/>
            <a:ext cx="8000270" cy="100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48000" algn="just">
              <a:lnSpc>
                <a:spcPct val="130000"/>
              </a:lnSpc>
            </a:pPr>
            <a:r>
              <a:rPr lang="en-US" sz="2400" dirty="0" smtClean="0"/>
              <a:t>hope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want</a:t>
            </a:r>
            <a:r>
              <a:rPr lang="zh-CN" altLang="en-US" sz="2400" dirty="0" smtClean="0"/>
              <a:t>等动词可用一般过去时或过去进行体表示婉转口气，</a:t>
            </a:r>
            <a:r>
              <a:rPr lang="en-US" sz="2400" dirty="0" smtClean="0"/>
              <a:t>want</a:t>
            </a:r>
            <a:r>
              <a:rPr lang="zh-CN" altLang="en-US" sz="2400" dirty="0" smtClean="0"/>
              <a:t>多用一般过去时。</a:t>
            </a:r>
            <a:endParaRPr lang="zh-CN" altLang="en-US" sz="2400" dirty="0"/>
          </a:p>
        </p:txBody>
      </p:sp>
      <p:sp>
        <p:nvSpPr>
          <p:cNvPr id="4" name="乘号 3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8568000" y="36000"/>
            <a:ext cx="504000" cy="504000"/>
          </a:xfrm>
          <a:prstGeom prst="mathMultiply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spAutoFit/>
          </a:bodyPr>
          <a:lstStyle/>
          <a:p>
            <a:pPr algn="ctr"/>
            <a:endParaRPr lang="zh-CN" altLang="en-US" sz="5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none">
        <a:spAutoFit/>
      </a:bodyPr>
      <a:lstStyle>
        <a:defPPr>
          <a:defRPr sz="5400" b="1" dirty="0" smtClean="0">
            <a:solidFill>
              <a:schemeClr val="bg1"/>
            </a:solidFill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16253</TotalTime>
  <Words>9219</Words>
  <Application>Microsoft Office PowerPoint</Application>
  <PresentationFormat>全屏显示(4:3)</PresentationFormat>
  <Paragraphs>739</Paragraphs>
  <Slides>89</Slides>
  <Notes>1</Notes>
  <HiddenSlides>43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99" baseType="lpstr">
      <vt:lpstr>Arial</vt:lpstr>
      <vt:lpstr>宋体</vt:lpstr>
      <vt:lpstr>方正超粗黑简体</vt:lpstr>
      <vt:lpstr>方正粗黑宋简体</vt:lpstr>
      <vt:lpstr>Times New Roman</vt:lpstr>
      <vt:lpstr>黑体</vt:lpstr>
      <vt:lpstr>Cambria</vt:lpstr>
      <vt:lpstr>Calibri</vt:lpstr>
      <vt:lpstr>方正黑体简体</vt:lpstr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  <vt:lpstr>幻灯片 75</vt:lpstr>
      <vt:lpstr>幻灯片 76</vt:lpstr>
      <vt:lpstr>幻灯片 77</vt:lpstr>
      <vt:lpstr>幻灯片 78</vt:lpstr>
      <vt:lpstr>幻灯片 79</vt:lpstr>
      <vt:lpstr>幻灯片 80</vt:lpstr>
      <vt:lpstr>幻灯片 81</vt:lpstr>
      <vt:lpstr>幻灯片 82</vt:lpstr>
      <vt:lpstr>幻灯片 83</vt:lpstr>
      <vt:lpstr>幻灯片 84</vt:lpstr>
      <vt:lpstr>幻灯片 85</vt:lpstr>
      <vt:lpstr>幻灯片 86</vt:lpstr>
      <vt:lpstr>幻灯片 87</vt:lpstr>
      <vt:lpstr>幻灯片 88</vt:lpstr>
      <vt:lpstr>幻灯片 89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senj</dc:creator>
  <cp:lastModifiedBy>微软用户</cp:lastModifiedBy>
  <cp:revision>2454</cp:revision>
  <dcterms:created xsi:type="dcterms:W3CDTF">2019-01-07T09:01:55Z</dcterms:created>
  <dcterms:modified xsi:type="dcterms:W3CDTF">2023-04-10T07:13:54Z</dcterms:modified>
</cp:coreProperties>
</file>